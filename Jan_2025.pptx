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70" r:id="rId2"/>
    <p:sldId id="306" r:id="rId3"/>
    <p:sldId id="284" r:id="rId4"/>
    <p:sldId id="285" r:id="rId5"/>
    <p:sldId id="286" r:id="rId6"/>
    <p:sldId id="335" r:id="rId7"/>
    <p:sldId id="337" r:id="rId8"/>
    <p:sldId id="336" r:id="rId9"/>
    <p:sldId id="334" r:id="rId10"/>
    <p:sldId id="329" r:id="rId11"/>
    <p:sldId id="330" r:id="rId12"/>
    <p:sldId id="332" r:id="rId13"/>
    <p:sldId id="331" r:id="rId14"/>
    <p:sldId id="333" r:id="rId15"/>
    <p:sldId id="328" r:id="rId16"/>
    <p:sldId id="326" r:id="rId17"/>
    <p:sldId id="327" r:id="rId18"/>
    <p:sldId id="323" r:id="rId19"/>
    <p:sldId id="325" r:id="rId20"/>
    <p:sldId id="321" r:id="rId21"/>
    <p:sldId id="319" r:id="rId22"/>
    <p:sldId id="320" r:id="rId23"/>
    <p:sldId id="324" r:id="rId24"/>
    <p:sldId id="313" r:id="rId25"/>
    <p:sldId id="311" r:id="rId26"/>
    <p:sldId id="312" r:id="rId27"/>
    <p:sldId id="314" r:id="rId28"/>
    <p:sldId id="315" r:id="rId29"/>
    <p:sldId id="316" r:id="rId30"/>
    <p:sldId id="307" r:id="rId31"/>
    <p:sldId id="308" r:id="rId32"/>
    <p:sldId id="309" r:id="rId33"/>
    <p:sldId id="304" r:id="rId34"/>
    <p:sldId id="305" r:id="rId35"/>
    <p:sldId id="299" r:id="rId36"/>
    <p:sldId id="317" r:id="rId37"/>
    <p:sldId id="318" r:id="rId38"/>
    <p:sldId id="300" r:id="rId39"/>
    <p:sldId id="301" r:id="rId40"/>
    <p:sldId id="295" r:id="rId41"/>
    <p:sldId id="292" r:id="rId42"/>
    <p:sldId id="273" r:id="rId43"/>
    <p:sldId id="268" r:id="rId44"/>
    <p:sldId id="281" r:id="rId45"/>
    <p:sldId id="282" r:id="rId46"/>
    <p:sldId id="280" r:id="rId47"/>
    <p:sldId id="271" r:id="rId48"/>
    <p:sldId id="272" r:id="rId49"/>
    <p:sldId id="275" r:id="rId50"/>
    <p:sldId id="274" r:id="rId51"/>
    <p:sldId id="267" r:id="rId52"/>
    <p:sldId id="256" r:id="rId53"/>
    <p:sldId id="264" r:id="rId54"/>
    <p:sldId id="265" r:id="rId55"/>
    <p:sldId id="266" r:id="rId56"/>
    <p:sldId id="283" r:id="rId57"/>
    <p:sldId id="257" r:id="rId58"/>
    <p:sldId id="258" r:id="rId59"/>
    <p:sldId id="261" r:id="rId60"/>
    <p:sldId id="262" r:id="rId61"/>
    <p:sldId id="263" r:id="rId62"/>
    <p:sldId id="259" r:id="rId63"/>
    <p:sldId id="260"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FFCCFF"/>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85556" autoAdjust="0"/>
  </p:normalViewPr>
  <p:slideViewPr>
    <p:cSldViewPr snapToGrid="0">
      <p:cViewPr varScale="1">
        <p:scale>
          <a:sx n="90" d="100"/>
          <a:sy n="90" d="100"/>
        </p:scale>
        <p:origin x="820"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rts/_rels/chart1.xml.rels><?xml version="1.0" encoding="UTF-8" standalone="yes"?>
<Relationships xmlns="http://schemas.openxmlformats.org/package/2006/relationships"><Relationship Id="rId3" Type="http://schemas.openxmlformats.org/officeDocument/2006/relationships/oleObject" Target="file:///C:\ammara_MD\a_yale\Research%20Project\data\salinity.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Salinity (ppt)</a:t>
            </a:r>
          </a:p>
        </c:rich>
      </c:tx>
      <c:layout>
        <c:manualLayout>
          <c:xMode val="edge"/>
          <c:yMode val="edge"/>
          <c:x val="0.31123962669965199"/>
          <c:y val="4.214544811112093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049044133258256E-2"/>
          <c:y val="0.13142322097378278"/>
          <c:w val="0.89244039102380668"/>
          <c:h val="0.81988764044943818"/>
        </c:manualLayout>
      </c:layout>
      <c:scatterChart>
        <c:scatterStyle val="lineMarker"/>
        <c:varyColors val="0"/>
        <c:ser>
          <c:idx val="0"/>
          <c:order val="0"/>
          <c:tx>
            <c:strRef>
              <c:f>Sheet1!$D$1</c:f>
              <c:strCache>
                <c:ptCount val="1"/>
                <c:pt idx="0">
                  <c:v>NEE/ET</c:v>
                </c:pt>
              </c:strCache>
            </c:strRef>
          </c:tx>
          <c:spPr>
            <a:ln w="1905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layout>
                <c:manualLayout>
                  <c:x val="4.2965441819772528E-2"/>
                  <c:y val="-0.16198600174978128"/>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rendlineLbl>
          </c:trendline>
          <c:xVal>
            <c:numRef>
              <c:f>Sheet1!$C$2:$C$26</c:f>
              <c:numCache>
                <c:formatCode>General</c:formatCode>
                <c:ptCount val="25"/>
                <c:pt idx="0">
                  <c:v>17.970967741935489</c:v>
                </c:pt>
                <c:pt idx="1">
                  <c:v>23.536666666666665</c:v>
                </c:pt>
                <c:pt idx="2">
                  <c:v>17.695833333333336</c:v>
                </c:pt>
                <c:pt idx="3">
                  <c:v>12.812121212121214</c:v>
                </c:pt>
                <c:pt idx="4">
                  <c:v>11.984848484848483</c:v>
                </c:pt>
                <c:pt idx="5">
                  <c:v>23.423333333333336</c:v>
                </c:pt>
                <c:pt idx="6">
                  <c:v>28.115151515151521</c:v>
                </c:pt>
                <c:pt idx="7">
                  <c:v>20.67407407407407</c:v>
                </c:pt>
                <c:pt idx="8">
                  <c:v>12.641379310344826</c:v>
                </c:pt>
                <c:pt idx="9">
                  <c:v>10.984848484848486</c:v>
                </c:pt>
                <c:pt idx="10">
                  <c:v>28.036666666666676</c:v>
                </c:pt>
                <c:pt idx="11">
                  <c:v>30.093333333333337</c:v>
                </c:pt>
                <c:pt idx="12">
                  <c:v>16.057575757575759</c:v>
                </c:pt>
                <c:pt idx="13">
                  <c:v>8.740000000000002</c:v>
                </c:pt>
                <c:pt idx="14">
                  <c:v>10.096969696969699</c:v>
                </c:pt>
                <c:pt idx="15">
                  <c:v>17.196969696969695</c:v>
                </c:pt>
                <c:pt idx="16">
                  <c:v>19.823333333333334</c:v>
                </c:pt>
                <c:pt idx="17">
                  <c:v>20.315384615384612</c:v>
                </c:pt>
                <c:pt idx="18">
                  <c:v>13.181818181818185</c:v>
                </c:pt>
                <c:pt idx="19">
                  <c:v>11.282608695652174</c:v>
                </c:pt>
                <c:pt idx="20">
                  <c:v>14.981395348837212</c:v>
                </c:pt>
                <c:pt idx="21">
                  <c:v>15.604444444444438</c:v>
                </c:pt>
                <c:pt idx="22">
                  <c:v>15.760416666666671</c:v>
                </c:pt>
                <c:pt idx="23">
                  <c:v>9.9843137254901944</c:v>
                </c:pt>
                <c:pt idx="24">
                  <c:v>8.0333333333333332</c:v>
                </c:pt>
              </c:numCache>
            </c:numRef>
          </c:xVal>
          <c:yVal>
            <c:numRef>
              <c:f>Sheet1!$D$2:$D$26</c:f>
              <c:numCache>
                <c:formatCode>General</c:formatCode>
                <c:ptCount val="25"/>
                <c:pt idx="0">
                  <c:v>-0.45001635736384099</c:v>
                </c:pt>
                <c:pt idx="1">
                  <c:v>-1.19603020296142</c:v>
                </c:pt>
                <c:pt idx="2">
                  <c:v>-0.526163637904144</c:v>
                </c:pt>
                <c:pt idx="3">
                  <c:v>-0.49400296313033398</c:v>
                </c:pt>
                <c:pt idx="4">
                  <c:v>-0.33873617611472501</c:v>
                </c:pt>
                <c:pt idx="5">
                  <c:v>-0.69337807162122</c:v>
                </c:pt>
                <c:pt idx="6">
                  <c:v>-0.621842944188429</c:v>
                </c:pt>
                <c:pt idx="7">
                  <c:v>-0.333423455157351</c:v>
                </c:pt>
                <c:pt idx="8">
                  <c:v>-0.419543330816118</c:v>
                </c:pt>
                <c:pt idx="9">
                  <c:v>-0.48674229516859502</c:v>
                </c:pt>
                <c:pt idx="10">
                  <c:v>-0.79087356448997903</c:v>
                </c:pt>
                <c:pt idx="11">
                  <c:v>-0.46437706784746902</c:v>
                </c:pt>
                <c:pt idx="12">
                  <c:v>-0.55912789380481098</c:v>
                </c:pt>
                <c:pt idx="13">
                  <c:v>-0.34664373959789802</c:v>
                </c:pt>
                <c:pt idx="14">
                  <c:v>-0.391419772515197</c:v>
                </c:pt>
                <c:pt idx="15">
                  <c:v>-0.46516164295404899</c:v>
                </c:pt>
                <c:pt idx="16">
                  <c:v>-0.39672545234772599</c:v>
                </c:pt>
                <c:pt idx="17">
                  <c:v>-0.294835103511987</c:v>
                </c:pt>
                <c:pt idx="18">
                  <c:v>-0.51010211169546305</c:v>
                </c:pt>
                <c:pt idx="19">
                  <c:v>-0.492075047390096</c:v>
                </c:pt>
                <c:pt idx="20">
                  <c:v>-0.77961749363773603</c:v>
                </c:pt>
                <c:pt idx="21">
                  <c:v>-0.363560202124875</c:v>
                </c:pt>
                <c:pt idx="22">
                  <c:v>-0.69016071869859197</c:v>
                </c:pt>
                <c:pt idx="23">
                  <c:v>-0.42956814908213198</c:v>
                </c:pt>
                <c:pt idx="24">
                  <c:v>-0.68588021452148096</c:v>
                </c:pt>
              </c:numCache>
            </c:numRef>
          </c:yVal>
          <c:smooth val="0"/>
          <c:extLst>
            <c:ext xmlns:c16="http://schemas.microsoft.com/office/drawing/2014/chart" uri="{C3380CC4-5D6E-409C-BE32-E72D297353CC}">
              <c16:uniqueId val="{00000001-A4B6-4A0C-B4FE-2596824CB4C7}"/>
            </c:ext>
          </c:extLst>
        </c:ser>
        <c:dLbls>
          <c:showLegendKey val="0"/>
          <c:showVal val="0"/>
          <c:showCatName val="0"/>
          <c:showSerName val="0"/>
          <c:showPercent val="0"/>
          <c:showBubbleSize val="0"/>
        </c:dLbls>
        <c:axId val="656789679"/>
        <c:axId val="656790159"/>
      </c:scatterChart>
      <c:valAx>
        <c:axId val="65678967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6790159"/>
        <c:crosses val="autoZero"/>
        <c:crossBetween val="midCat"/>
      </c:valAx>
      <c:valAx>
        <c:axId val="65679015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6789679"/>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0CB257-1970-42EC-810A-3B92B3C70FD0}" type="datetimeFigureOut">
              <a:rPr lang="en-US" smtClean="0"/>
              <a:t>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B4AF0B-A362-48EA-BCE0-D59D3A261485}" type="slidenum">
              <a:rPr lang="en-US" smtClean="0"/>
              <a:t>‹#›</a:t>
            </a:fld>
            <a:endParaRPr lang="en-US"/>
          </a:p>
        </p:txBody>
      </p:sp>
    </p:spTree>
    <p:extLst>
      <p:ext uri="{BB962C8B-B14F-4D97-AF65-F5344CB8AC3E}">
        <p14:creationId xmlns:p14="http://schemas.microsoft.com/office/powerpoint/2010/main" val="1324268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ameriflux.lbl.gov/sites/siteinfo/US-Bi1" TargetMode="External"/><Relationship Id="rId2" Type="http://schemas.openxmlformats.org/officeDocument/2006/relationships/slide" Target="../slides/slide54.xml"/><Relationship Id="rId1" Type="http://schemas.openxmlformats.org/officeDocument/2006/relationships/notesMaster" Target="../notesMasters/notesMaster1.xml"/><Relationship Id="rId4" Type="http://schemas.openxmlformats.org/officeDocument/2006/relationships/hyperlink" Target="https://ameriflux.lbl.gov/sites/siteinfo/US-Myb"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effectLst/>
                <a:latin typeface="Times New Roman" panose="02020603050405020304" pitchFamily="18" charset="0"/>
                <a:ea typeface="Times New Roman" panose="02020603050405020304" pitchFamily="18" charset="0"/>
              </a:rPr>
              <a:t>Understand the variation in WUE within and across ecosystems. </a:t>
            </a:r>
          </a:p>
          <a:p>
            <a:pPr marL="0" indent="0">
              <a:buNone/>
            </a:pPr>
            <a:r>
              <a:rPr lang="en-US" sz="2000" b="1" dirty="0">
                <a:effectLst/>
                <a:latin typeface="Times New Roman" panose="02020603050405020304" pitchFamily="18" charset="0"/>
                <a:ea typeface="Times New Roman" panose="02020603050405020304" pitchFamily="18" charset="0"/>
              </a:rPr>
              <a:t>Objectives</a:t>
            </a:r>
          </a:p>
          <a:p>
            <a:pPr>
              <a:buFont typeface="Wingdings" panose="05000000000000000000" pitchFamily="2" charset="2"/>
              <a:buChar char="q"/>
            </a:pPr>
            <a:r>
              <a:rPr lang="en-US" sz="1200" dirty="0">
                <a:effectLst/>
                <a:latin typeface="Times New Roman" panose="02020603050405020304" pitchFamily="18" charset="0"/>
                <a:ea typeface="Times New Roman" panose="02020603050405020304" pitchFamily="18" charset="0"/>
              </a:rPr>
              <a:t>How much WUE changes within ecosystems</a:t>
            </a:r>
          </a:p>
          <a:p>
            <a:pPr>
              <a:buFont typeface="Wingdings" panose="05000000000000000000" pitchFamily="2" charset="2"/>
              <a:buChar char="q"/>
            </a:pPr>
            <a:r>
              <a:rPr lang="en-US" sz="1200" dirty="0">
                <a:latin typeface="Times New Roman" panose="02020603050405020304" pitchFamily="18" charset="0"/>
                <a:ea typeface="Times New Roman" panose="02020603050405020304" pitchFamily="18" charset="0"/>
              </a:rPr>
              <a:t>W</a:t>
            </a:r>
            <a:r>
              <a:rPr lang="en-US" sz="1200" dirty="0">
                <a:effectLst/>
                <a:latin typeface="Times New Roman" panose="02020603050405020304" pitchFamily="18" charset="0"/>
                <a:ea typeface="Times New Roman" panose="02020603050405020304" pitchFamily="18" charset="0"/>
              </a:rPr>
              <a:t>hether differences in WUE across ecosystems resemble ecosystem variability</a:t>
            </a:r>
          </a:p>
          <a:p>
            <a:pPr>
              <a:buFont typeface="Wingdings" panose="05000000000000000000" pitchFamily="2" charset="2"/>
              <a:buChar char="q"/>
            </a:pPr>
            <a:r>
              <a:rPr lang="en-US" sz="1200" dirty="0">
                <a:effectLst/>
                <a:latin typeface="Times New Roman" panose="02020603050405020304" pitchFamily="18" charset="0"/>
                <a:ea typeface="Times New Roman" panose="02020603050405020304" pitchFamily="18" charset="0"/>
              </a:rPr>
              <a:t>Determine if WUE in coastal ecosystems denotes salinity stress. </a:t>
            </a:r>
            <a:endParaRPr lang="en-US" dirty="0"/>
          </a:p>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1</a:t>
            </a:fld>
            <a:endParaRPr lang="en-US"/>
          </a:p>
        </p:txBody>
      </p:sp>
    </p:spTree>
    <p:extLst>
      <p:ext uri="{BB962C8B-B14F-4D97-AF65-F5344CB8AC3E}">
        <p14:creationId xmlns:p14="http://schemas.microsoft.com/office/powerpoint/2010/main" val="1842682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Times New Roman" panose="02020603050405020304" pitchFamily="18" charset="0"/>
                <a:ea typeface="Times New Roman" panose="02020603050405020304" pitchFamily="18" charset="0"/>
              </a:rPr>
              <a:t>Understand the variation in WUE and CUE within and across ecosystems. </a:t>
            </a:r>
          </a:p>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2</a:t>
            </a:fld>
            <a:endParaRPr lang="en-US"/>
          </a:p>
        </p:txBody>
      </p:sp>
    </p:spTree>
    <p:extLst>
      <p:ext uri="{BB962C8B-B14F-4D97-AF65-F5344CB8AC3E}">
        <p14:creationId xmlns:p14="http://schemas.microsoft.com/office/powerpoint/2010/main" val="1690787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MCP, EKY, EKN (quality control pending)</a:t>
            </a:r>
          </a:p>
          <a:p>
            <a:endParaRPr lang="en-US" dirty="0"/>
          </a:p>
          <a:p>
            <a:r>
              <a:rPr lang="en-US" dirty="0"/>
              <a:t>https://ameriflux.lbl.gov/sites/siteinfo/US-MCP</a:t>
            </a:r>
          </a:p>
          <a:p>
            <a:r>
              <a:rPr lang="en-US" dirty="0"/>
              <a:t>https://ameriflux.lbl.gov/sites/siteinfo/US-EKY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https://ameriflux.lbl.gov/sites/siteinfo/US-EKN</a:t>
            </a:r>
          </a:p>
          <a:p>
            <a:endParaRPr lang="en-US" dirty="0"/>
          </a:p>
          <a:p>
            <a:endParaRPr lang="en-US" dirty="0"/>
          </a:p>
          <a:p>
            <a:r>
              <a:rPr lang="en-US" dirty="0"/>
              <a:t>Going through iterative process. First looking at coordinates on google maps, literature to find salinity for particular years and then include sites back even bit far</a:t>
            </a:r>
          </a:p>
          <a:p>
            <a:endParaRPr lang="en-US" dirty="0"/>
          </a:p>
          <a:p>
            <a:r>
              <a:rPr lang="en-US" dirty="0"/>
              <a:t>Can include far away sites as reference </a:t>
            </a:r>
          </a:p>
        </p:txBody>
      </p:sp>
      <p:sp>
        <p:nvSpPr>
          <p:cNvPr id="4" name="Slide Number Placeholder 3"/>
          <p:cNvSpPr>
            <a:spLocks noGrp="1"/>
          </p:cNvSpPr>
          <p:nvPr>
            <p:ph type="sldNum" sz="quarter" idx="5"/>
          </p:nvPr>
        </p:nvSpPr>
        <p:spPr/>
        <p:txBody>
          <a:bodyPr/>
          <a:lstStyle/>
          <a:p>
            <a:fld id="{98B4AF0B-A362-48EA-BCE0-D59D3A261485}" type="slidenum">
              <a:rPr lang="en-US" smtClean="0"/>
              <a:t>3</a:t>
            </a:fld>
            <a:endParaRPr lang="en-US"/>
          </a:p>
        </p:txBody>
      </p:sp>
    </p:spTree>
    <p:extLst>
      <p:ext uri="{BB962C8B-B14F-4D97-AF65-F5344CB8AC3E}">
        <p14:creationId xmlns:p14="http://schemas.microsoft.com/office/powerpoint/2010/main" val="562125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4</a:t>
            </a:fld>
            <a:endParaRPr lang="en-US"/>
          </a:p>
        </p:txBody>
      </p:sp>
    </p:spTree>
    <p:extLst>
      <p:ext uri="{BB962C8B-B14F-4D97-AF65-F5344CB8AC3E}">
        <p14:creationId xmlns:p14="http://schemas.microsoft.com/office/powerpoint/2010/main" val="2647588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Did the salinity change </a:t>
            </a:r>
          </a:p>
        </p:txBody>
      </p:sp>
      <p:sp>
        <p:nvSpPr>
          <p:cNvPr id="4" name="Slide Number Placeholder 3"/>
          <p:cNvSpPr>
            <a:spLocks noGrp="1"/>
          </p:cNvSpPr>
          <p:nvPr>
            <p:ph type="sldNum" sz="quarter" idx="5"/>
          </p:nvPr>
        </p:nvSpPr>
        <p:spPr/>
        <p:txBody>
          <a:bodyPr/>
          <a:lstStyle/>
          <a:p>
            <a:fld id="{98B4AF0B-A362-48EA-BCE0-D59D3A261485}" type="slidenum">
              <a:rPr lang="en-US" smtClean="0"/>
              <a:t>6</a:t>
            </a:fld>
            <a:endParaRPr lang="en-US"/>
          </a:p>
        </p:txBody>
      </p:sp>
    </p:spTree>
    <p:extLst>
      <p:ext uri="{BB962C8B-B14F-4D97-AF65-F5344CB8AC3E}">
        <p14:creationId xmlns:p14="http://schemas.microsoft.com/office/powerpoint/2010/main" val="1872860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Salinity effect on WUE is shown by dividing the study sites into three categories. (H: high salinity, M: medium salinity, L: low salinity). Red bars show sites with high salinity, blue bars show sites with medium salinity and green sites show sites with low salinity. </a:t>
            </a:r>
          </a:p>
          <a:p>
            <a:endParaRPr lang="en-US" dirty="0"/>
          </a:p>
          <a:p>
            <a:r>
              <a:rPr lang="en-US" dirty="0"/>
              <a:t>To study the effect of salinity of WUE,12 study sites were divided into three categories based on salinity, high salinity (&gt;30 ppt), medium salinity (&gt;10 ppt and &lt; 30 ppt) and low salinity (&lt;9 ppt). Based on data from 2017-2020, low WUE is observed at sites with higher salinity. On the other hand, high WUE was observed on sites with low salinity. US-EKP site from California was the exception. That could be because, on some sites plants are adapted to high salinity. </a:t>
            </a:r>
          </a:p>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18</a:t>
            </a:fld>
            <a:endParaRPr lang="en-US"/>
          </a:p>
        </p:txBody>
      </p:sp>
    </p:spTree>
    <p:extLst>
      <p:ext uri="{BB962C8B-B14F-4D97-AF65-F5344CB8AC3E}">
        <p14:creationId xmlns:p14="http://schemas.microsoft.com/office/powerpoint/2010/main" val="671092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t>
            </a:r>
            <a:r>
              <a:rPr lang="en-US" dirty="0" err="1"/>
              <a:t>siFlorida</a:t>
            </a:r>
            <a:r>
              <a:rPr lang="en-US" dirty="0"/>
              <a:t> are shown in different shade of red, while seven sites in California are shown with different shade of blue. Sites in California fall under low and medium salinity, while sites in Florida fall under all three categories of salinity. Figure shows that difference in WUE can not just be attributed to salinity because there are some regional difference as well. </a:t>
            </a:r>
            <a:r>
              <a:rPr lang="en-US" dirty="0" err="1"/>
              <a:t>tes</a:t>
            </a:r>
            <a:r>
              <a:rPr lang="en-US" dirty="0"/>
              <a:t> from</a:t>
            </a:r>
          </a:p>
        </p:txBody>
      </p:sp>
      <p:sp>
        <p:nvSpPr>
          <p:cNvPr id="4" name="Slide Number Placeholder 3"/>
          <p:cNvSpPr>
            <a:spLocks noGrp="1"/>
          </p:cNvSpPr>
          <p:nvPr>
            <p:ph type="sldNum" sz="quarter" idx="5"/>
          </p:nvPr>
        </p:nvSpPr>
        <p:spPr/>
        <p:txBody>
          <a:bodyPr/>
          <a:lstStyle/>
          <a:p>
            <a:fld id="{98B4AF0B-A362-48EA-BCE0-D59D3A261485}" type="slidenum">
              <a:rPr lang="en-US" smtClean="0"/>
              <a:t>19</a:t>
            </a:fld>
            <a:endParaRPr lang="en-US"/>
          </a:p>
        </p:txBody>
      </p:sp>
    </p:spTree>
    <p:extLst>
      <p:ext uri="{BB962C8B-B14F-4D97-AF65-F5344CB8AC3E}">
        <p14:creationId xmlns:p14="http://schemas.microsoft.com/office/powerpoint/2010/main" val="315967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VPD in US-EKH was missing for 2023 after march so replaced by EKP</a:t>
            </a:r>
          </a:p>
          <a:p>
            <a:r>
              <a:rPr lang="en-US" dirty="0"/>
              <a:t>RH is also missing , </a:t>
            </a:r>
            <a:r>
              <a:rPr lang="en-US" dirty="0" err="1"/>
              <a:t>ustar</a:t>
            </a:r>
            <a:r>
              <a:rPr lang="en-US" dirty="0"/>
              <a:t> is missing . But values similar </a:t>
            </a:r>
          </a:p>
        </p:txBody>
      </p:sp>
      <p:sp>
        <p:nvSpPr>
          <p:cNvPr id="4" name="Slide Number Placeholder 3"/>
          <p:cNvSpPr>
            <a:spLocks noGrp="1"/>
          </p:cNvSpPr>
          <p:nvPr>
            <p:ph type="sldNum" sz="quarter" idx="5"/>
          </p:nvPr>
        </p:nvSpPr>
        <p:spPr/>
        <p:txBody>
          <a:bodyPr/>
          <a:lstStyle/>
          <a:p>
            <a:fld id="{98B4AF0B-A362-48EA-BCE0-D59D3A261485}" type="slidenum">
              <a:rPr lang="en-US" smtClean="0"/>
              <a:t>20</a:t>
            </a:fld>
            <a:endParaRPr lang="en-US"/>
          </a:p>
        </p:txBody>
      </p:sp>
    </p:spTree>
    <p:extLst>
      <p:ext uri="{BB962C8B-B14F-4D97-AF65-F5344CB8AC3E}">
        <p14:creationId xmlns:p14="http://schemas.microsoft.com/office/powerpoint/2010/main" val="33800013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Mayberry Wetland</a:t>
            </a:r>
            <a:endParaRPr lang="en-US" dirty="0"/>
          </a:p>
          <a:p>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Twitchell Wetland West Pond </a:t>
            </a:r>
            <a:endParaRPr lang="en-US" dirty="0"/>
          </a:p>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24</a:t>
            </a:fld>
            <a:endParaRPr lang="en-US"/>
          </a:p>
        </p:txBody>
      </p:sp>
    </p:spTree>
    <p:extLst>
      <p:ext uri="{BB962C8B-B14F-4D97-AF65-F5344CB8AC3E}">
        <p14:creationId xmlns:p14="http://schemas.microsoft.com/office/powerpoint/2010/main" val="661940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US-TW1 WUE increase until 2016 then drop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a:t>
            </a:r>
            <a:r>
              <a:rPr lang="en-US" dirty="0" err="1"/>
              <a:t>Myb</a:t>
            </a:r>
            <a:r>
              <a:rPr lang="en-US" dirty="0"/>
              <a:t> WUE consistently increase after 2016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CUE trend is not always inverse to WUE</a:t>
            </a:r>
          </a:p>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25</a:t>
            </a:fld>
            <a:endParaRPr lang="en-US"/>
          </a:p>
        </p:txBody>
      </p:sp>
    </p:spTree>
    <p:extLst>
      <p:ext uri="{BB962C8B-B14F-4D97-AF65-F5344CB8AC3E}">
        <p14:creationId xmlns:p14="http://schemas.microsoft.com/office/powerpoint/2010/main" val="34699471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26</a:t>
            </a:fld>
            <a:endParaRPr lang="en-US"/>
          </a:p>
        </p:txBody>
      </p:sp>
    </p:spTree>
    <p:extLst>
      <p:ext uri="{BB962C8B-B14F-4D97-AF65-F5344CB8AC3E}">
        <p14:creationId xmlns:p14="http://schemas.microsoft.com/office/powerpoint/2010/main" val="615983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t>
            </a:r>
            <a:r>
              <a:rPr lang="en-US" dirty="0" err="1"/>
              <a:t>Myb</a:t>
            </a:r>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27</a:t>
            </a:fld>
            <a:endParaRPr lang="en-US"/>
          </a:p>
        </p:txBody>
      </p:sp>
    </p:spTree>
    <p:extLst>
      <p:ext uri="{BB962C8B-B14F-4D97-AF65-F5344CB8AC3E}">
        <p14:creationId xmlns:p14="http://schemas.microsoft.com/office/powerpoint/2010/main" val="33736185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Times New Roman" panose="02020603050405020304" pitchFamily="18" charset="0"/>
              </a:rPr>
              <a:t>Measuring soil moisture and hydro-edaphic factors is complex. Because Vegetation responds to water availability in the soil, measuring changes in WUE may be an efficient means of capturing shifts in soil conditions and detecting salinity shifts in coastal ecosystems.</a:t>
            </a:r>
          </a:p>
          <a:p>
            <a:endParaRPr lang="en-US" sz="1800" dirty="0">
              <a:effectLst/>
              <a:latin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Water use efficiency (WUE) is the relationship between carbon gain and water loss and was introduced over a hundred years ago </a:t>
            </a:r>
          </a:p>
          <a:p>
            <a:r>
              <a:rPr lang="en-US" sz="1800" dirty="0">
                <a:effectLst/>
                <a:latin typeface="Times New Roman" panose="02020603050405020304" pitchFamily="18" charset="0"/>
                <a:ea typeface="Times New Roman" panose="02020603050405020304" pitchFamily="18" charset="0"/>
              </a:rPr>
              <a:t>Global carbon and water cycles are tightly linked through the plant stomatal conductance that limits water loss through transpiration at the cost of limiting carbon uptake</a:t>
            </a:r>
          </a:p>
          <a:p>
            <a:r>
              <a:rPr lang="en-US" sz="1800" dirty="0">
                <a:effectLst/>
                <a:latin typeface="Times New Roman" panose="02020603050405020304" pitchFamily="18" charset="0"/>
                <a:ea typeface="Times New Roman" panose="02020603050405020304" pitchFamily="18" charset="0"/>
              </a:rPr>
              <a:t>Plants often face trade-offs in balancing water loss and carbon gain. While increasing WUE typically means less water is lost per unit of carbon fixed, </a:t>
            </a:r>
          </a:p>
          <a:p>
            <a:r>
              <a:rPr lang="en-US" sz="1800" dirty="0">
                <a:effectLst/>
                <a:latin typeface="Times New Roman" panose="02020603050405020304" pitchFamily="18" charset="0"/>
                <a:ea typeface="Times New Roman" panose="02020603050405020304" pitchFamily="18" charset="0"/>
              </a:rPr>
              <a:t>Climate changes will affect the carbon and water cycles individually and in aggregate. </a:t>
            </a:r>
          </a:p>
          <a:p>
            <a:endParaRPr lang="en-US" sz="1800" dirty="0">
              <a:effectLst/>
              <a:latin typeface="Times New Roman" panose="02020603050405020304" pitchFamily="18" charset="0"/>
            </a:endParaRPr>
          </a:p>
          <a:p>
            <a:endParaRPr lang="en-US" sz="1800" dirty="0">
              <a:effectLst/>
              <a:latin typeface="Times New Roman" panose="02020603050405020304" pitchFamily="18" charset="0"/>
            </a:endParaRPr>
          </a:p>
          <a:p>
            <a:endParaRPr lang="en-US" sz="1800" dirty="0">
              <a:effectLst/>
              <a:latin typeface="Times New Roman" panose="02020603050405020304" pitchFamily="18" charset="0"/>
            </a:endParaRPr>
          </a:p>
          <a:p>
            <a:endParaRPr lang="en-US" sz="1800" dirty="0">
              <a:effectLst/>
              <a:latin typeface="Times New Roman" panose="02020603050405020304" pitchFamily="18" charset="0"/>
            </a:endParaRPr>
          </a:p>
          <a:p>
            <a:r>
              <a:rPr lang="en-US" sz="2800" b="0" i="0" dirty="0">
                <a:solidFill>
                  <a:srgbClr val="001D35"/>
                </a:solidFill>
                <a:effectLst/>
                <a:latin typeface="Google Sans"/>
              </a:rPr>
              <a:t>Reducing the total carbon fixed means a </a:t>
            </a:r>
            <a:r>
              <a:rPr lang="en-US" sz="2800" dirty="0"/>
              <a:t>carbon loss</a:t>
            </a:r>
            <a:r>
              <a:rPr lang="en-US" sz="2800" b="0" i="0" dirty="0">
                <a:solidFill>
                  <a:srgbClr val="001D35"/>
                </a:solidFill>
                <a:effectLst/>
                <a:latin typeface="Google Sans"/>
              </a:rPr>
              <a:t> because "carbon fixation" refers to the process where carbon dioxide is converted into organic compounds by plants, so a reduction in carbon fixation indicates less carbon is being captured from the atmosphere and stored as organic matter, resulting in a net loss of carbon.</a:t>
            </a:r>
            <a:endParaRPr lang="en-US" sz="1800" dirty="0">
              <a:effectLst/>
              <a:latin typeface="Times New Roman" panose="02020603050405020304" pitchFamily="18" charset="0"/>
            </a:endParaRPr>
          </a:p>
          <a:p>
            <a:endParaRPr lang="en-US" sz="1800" dirty="0">
              <a:effectLst/>
              <a:latin typeface="Times New Roman" panose="02020603050405020304" pitchFamily="18" charset="0"/>
            </a:endParaRPr>
          </a:p>
          <a:p>
            <a:endParaRPr lang="en-US" sz="1800" dirty="0">
              <a:effectLst/>
              <a:latin typeface="Times New Roman" panose="02020603050405020304" pitchFamily="18" charset="0"/>
            </a:endParaRPr>
          </a:p>
          <a:p>
            <a:endParaRPr lang="en-US" sz="1800" dirty="0">
              <a:effectLst/>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30</a:t>
            </a:fld>
            <a:endParaRPr lang="en-US"/>
          </a:p>
        </p:txBody>
      </p:sp>
    </p:spTree>
    <p:extLst>
      <p:ext uri="{BB962C8B-B14F-4D97-AF65-F5344CB8AC3E}">
        <p14:creationId xmlns:p14="http://schemas.microsoft.com/office/powerpoint/2010/main" val="1671774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1125"/>
              </a:spcAft>
            </a:pPr>
            <a:r>
              <a:rPr lang="en-US" b="0" i="0" dirty="0">
                <a:solidFill>
                  <a:srgbClr val="111111"/>
                </a:solidFill>
                <a:effectLst/>
                <a:latin typeface="Roboto" panose="02000000000000000000" pitchFamily="2" charset="0"/>
              </a:rPr>
              <a:t>NEP = GPP - ER, with GPP = gross primary production.</a:t>
            </a:r>
          </a:p>
          <a:p>
            <a:pPr algn="l">
              <a:spcAft>
                <a:spcPts val="1125"/>
              </a:spcAft>
            </a:pPr>
            <a:r>
              <a:rPr lang="en-US" b="0" i="0" dirty="0">
                <a:solidFill>
                  <a:srgbClr val="111111"/>
                </a:solidFill>
                <a:effectLst/>
                <a:latin typeface="Roboto" panose="02000000000000000000" pitchFamily="2" charset="0"/>
              </a:rPr>
              <a:t>and</a:t>
            </a:r>
          </a:p>
          <a:p>
            <a:pPr algn="l">
              <a:spcAft>
                <a:spcPts val="1125"/>
              </a:spcAft>
            </a:pPr>
            <a:r>
              <a:rPr lang="en-US" b="0" i="0" dirty="0">
                <a:solidFill>
                  <a:srgbClr val="111111"/>
                </a:solidFill>
                <a:effectLst/>
                <a:latin typeface="Roboto" panose="02000000000000000000" pitchFamily="2" charset="0"/>
              </a:rPr>
              <a:t>NEE = -NEP</a:t>
            </a:r>
          </a:p>
          <a:p>
            <a:endParaRPr lang="en-US" dirty="0"/>
          </a:p>
          <a:p>
            <a:r>
              <a:rPr lang="en-US" dirty="0"/>
              <a:t>Common years</a:t>
            </a:r>
          </a:p>
          <a:p>
            <a:r>
              <a:rPr lang="en-US" dirty="0"/>
              <a:t>2021,2022,2023</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35</a:t>
            </a:fld>
            <a:endParaRPr lang="en-US"/>
          </a:p>
        </p:txBody>
      </p:sp>
    </p:spTree>
    <p:extLst>
      <p:ext uri="{BB962C8B-B14F-4D97-AF65-F5344CB8AC3E}">
        <p14:creationId xmlns:p14="http://schemas.microsoft.com/office/powerpoint/2010/main" val="888815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DAE81-2D8E-E9F4-F535-2C033B02E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F00DF6-6EF2-8889-E5BB-4DC7AF0D22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75C004-4835-8B52-CD81-40EB73D3C561}"/>
              </a:ext>
            </a:extLst>
          </p:cNvPr>
          <p:cNvSpPr>
            <a:spLocks noGrp="1"/>
          </p:cNvSpPr>
          <p:nvPr>
            <p:ph type="body" idx="1"/>
          </p:nvPr>
        </p:nvSpPr>
        <p:spPr/>
        <p:txBody>
          <a:bodyPr/>
          <a:lstStyle/>
          <a:p>
            <a:pPr algn="l">
              <a:spcAft>
                <a:spcPts val="1125"/>
              </a:spcAft>
            </a:pPr>
            <a:r>
              <a:rPr lang="en-US" b="0" i="0" dirty="0">
                <a:solidFill>
                  <a:srgbClr val="111111"/>
                </a:solidFill>
                <a:effectLst/>
                <a:latin typeface="Roboto" panose="02000000000000000000" pitchFamily="2" charset="0"/>
              </a:rPr>
              <a:t>NEP = GPP - ER, with GPP = gross primary production.</a:t>
            </a:r>
          </a:p>
          <a:p>
            <a:pPr algn="l">
              <a:spcAft>
                <a:spcPts val="1125"/>
              </a:spcAft>
            </a:pPr>
            <a:r>
              <a:rPr lang="en-US" b="0" i="0" dirty="0">
                <a:solidFill>
                  <a:srgbClr val="111111"/>
                </a:solidFill>
                <a:effectLst/>
                <a:latin typeface="Roboto" panose="02000000000000000000" pitchFamily="2" charset="0"/>
              </a:rPr>
              <a:t>and</a:t>
            </a:r>
          </a:p>
          <a:p>
            <a:pPr algn="l">
              <a:spcAft>
                <a:spcPts val="1125"/>
              </a:spcAft>
            </a:pPr>
            <a:r>
              <a:rPr lang="en-US" b="0" i="0" dirty="0">
                <a:solidFill>
                  <a:srgbClr val="111111"/>
                </a:solidFill>
                <a:effectLst/>
                <a:latin typeface="Roboto" panose="02000000000000000000" pitchFamily="2" charset="0"/>
              </a:rPr>
              <a:t>NEE = -NEP</a:t>
            </a:r>
          </a:p>
          <a:p>
            <a:endParaRPr lang="en-US" dirty="0"/>
          </a:p>
          <a:p>
            <a:r>
              <a:rPr lang="en-US" dirty="0"/>
              <a:t>Common years</a:t>
            </a:r>
          </a:p>
          <a:p>
            <a:r>
              <a:rPr lang="en-US" dirty="0"/>
              <a:t>2009</a:t>
            </a:r>
          </a:p>
          <a:p>
            <a:r>
              <a:rPr lang="en-US" dirty="0"/>
              <a:t>2021</a:t>
            </a:r>
          </a:p>
          <a:p>
            <a:r>
              <a:rPr lang="en-US" dirty="0"/>
              <a:t>2017,2018</a:t>
            </a:r>
          </a:p>
          <a:p>
            <a:r>
              <a:rPr lang="en-US" dirty="0"/>
              <a:t>2022</a:t>
            </a:r>
          </a:p>
          <a:p>
            <a:endParaRPr lang="en-US" dirty="0"/>
          </a:p>
        </p:txBody>
      </p:sp>
      <p:sp>
        <p:nvSpPr>
          <p:cNvPr id="4" name="Slide Number Placeholder 3">
            <a:extLst>
              <a:ext uri="{FF2B5EF4-FFF2-40B4-BE49-F238E27FC236}">
                <a16:creationId xmlns:a16="http://schemas.microsoft.com/office/drawing/2014/main" id="{8CAF9B3F-F0A7-A24D-3873-49FE45F1B233}"/>
              </a:ext>
            </a:extLst>
          </p:cNvPr>
          <p:cNvSpPr>
            <a:spLocks noGrp="1"/>
          </p:cNvSpPr>
          <p:nvPr>
            <p:ph type="sldNum" sz="quarter" idx="5"/>
          </p:nvPr>
        </p:nvSpPr>
        <p:spPr/>
        <p:txBody>
          <a:bodyPr/>
          <a:lstStyle/>
          <a:p>
            <a:fld id="{98B4AF0B-A362-48EA-BCE0-D59D3A261485}" type="slidenum">
              <a:rPr lang="en-US" smtClean="0"/>
              <a:t>36</a:t>
            </a:fld>
            <a:endParaRPr lang="en-US"/>
          </a:p>
        </p:txBody>
      </p:sp>
    </p:spTree>
    <p:extLst>
      <p:ext uri="{BB962C8B-B14F-4D97-AF65-F5344CB8AC3E}">
        <p14:creationId xmlns:p14="http://schemas.microsoft.com/office/powerpoint/2010/main" val="10681526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DBF60-8812-CEC5-D5B8-A13AE13AB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2C4D2-92AA-27E1-2E3B-B530799B32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CA7EAC-64CE-1B15-CCF9-6BCD0067F3ED}"/>
              </a:ext>
            </a:extLst>
          </p:cNvPr>
          <p:cNvSpPr>
            <a:spLocks noGrp="1"/>
          </p:cNvSpPr>
          <p:nvPr>
            <p:ph type="body" idx="1"/>
          </p:nvPr>
        </p:nvSpPr>
        <p:spPr/>
        <p:txBody>
          <a:bodyPr/>
          <a:lstStyle/>
          <a:p>
            <a:r>
              <a:rPr lang="en-US" dirty="0"/>
              <a:t>Going through iterative process. First looking at coordinates on google maps, literature to find salinity for particular years and then include sites back even bit far</a:t>
            </a:r>
          </a:p>
          <a:p>
            <a:endParaRPr lang="en-US" dirty="0"/>
          </a:p>
          <a:p>
            <a:r>
              <a:rPr lang="en-US" dirty="0"/>
              <a:t>Can include far away sites as re</a:t>
            </a:r>
          </a:p>
          <a:p>
            <a:endParaRPr lang="en-US" dirty="0"/>
          </a:p>
          <a:p>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Mayberry Wetland</a:t>
            </a:r>
            <a:endParaRPr lang="en-US" dirty="0"/>
          </a:p>
          <a:p>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Twitchell Wetland West Pond </a:t>
            </a:r>
            <a:endParaRPr lang="en-US" dirty="0"/>
          </a:p>
        </p:txBody>
      </p:sp>
      <p:sp>
        <p:nvSpPr>
          <p:cNvPr id="4" name="Slide Number Placeholder 3">
            <a:extLst>
              <a:ext uri="{FF2B5EF4-FFF2-40B4-BE49-F238E27FC236}">
                <a16:creationId xmlns:a16="http://schemas.microsoft.com/office/drawing/2014/main" id="{8DF44E6A-4D3F-361A-FB59-97CAF9C12A94}"/>
              </a:ext>
            </a:extLst>
          </p:cNvPr>
          <p:cNvSpPr>
            <a:spLocks noGrp="1"/>
          </p:cNvSpPr>
          <p:nvPr>
            <p:ph type="sldNum" sz="quarter" idx="5"/>
          </p:nvPr>
        </p:nvSpPr>
        <p:spPr/>
        <p:txBody>
          <a:bodyPr/>
          <a:lstStyle/>
          <a:p>
            <a:fld id="{98B4AF0B-A362-48EA-BCE0-D59D3A261485}" type="slidenum">
              <a:rPr lang="en-US" smtClean="0"/>
              <a:t>41</a:t>
            </a:fld>
            <a:endParaRPr lang="en-US"/>
          </a:p>
        </p:txBody>
      </p:sp>
    </p:spTree>
    <p:extLst>
      <p:ext uri="{BB962C8B-B14F-4D97-AF65-F5344CB8AC3E}">
        <p14:creationId xmlns:p14="http://schemas.microsoft.com/office/powerpoint/2010/main" val="2821327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0ec6305b9b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0ec6305b9b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53355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Some reason to believe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Just use data. WUE across  the site</a:t>
            </a:r>
            <a:endParaRPr dirty="0"/>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0ec6305b9b_0_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0ec6305b9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proxima-nova"/>
              </a:rPr>
              <a:t>EBF (Evergreen Broadleaf Forests:</a:t>
            </a:r>
          </a:p>
          <a:p>
            <a:endParaRPr lang="en-US" b="0" i="0" dirty="0">
              <a:solidFill>
                <a:srgbClr val="333333"/>
              </a:solidFill>
              <a:effectLst/>
              <a:latin typeface="proxima-nova"/>
            </a:endParaRPr>
          </a:p>
          <a:p>
            <a:r>
              <a:rPr lang="en-US" b="0" i="0" dirty="0">
                <a:solidFill>
                  <a:srgbClr val="333333"/>
                </a:solidFill>
                <a:effectLst/>
                <a:latin typeface="proxima-nova"/>
              </a:rPr>
              <a:t>Only Co2: </a:t>
            </a:r>
          </a:p>
          <a:p>
            <a:r>
              <a:rPr lang="en-US" b="0" i="0" dirty="0">
                <a:solidFill>
                  <a:srgbClr val="333333"/>
                </a:solidFill>
                <a:effectLst/>
                <a:latin typeface="proxima-nova"/>
              </a:rPr>
              <a:t>US-ELM, US ESM, </a:t>
            </a:r>
            <a:r>
              <a:rPr lang="en-US" b="1" i="0" dirty="0">
                <a:solidFill>
                  <a:srgbClr val="333333"/>
                </a:solidFill>
                <a:effectLst/>
                <a:latin typeface="proxima-nova-condensed"/>
              </a:rPr>
              <a:t>US-MAC</a:t>
            </a:r>
          </a:p>
          <a:p>
            <a:endParaRPr lang="en-US" dirty="0"/>
          </a:p>
          <a:p>
            <a:r>
              <a:rPr lang="en-US" dirty="0"/>
              <a:t>US-KS1, US-KS2, US-KS4</a:t>
            </a:r>
          </a:p>
        </p:txBody>
      </p:sp>
      <p:sp>
        <p:nvSpPr>
          <p:cNvPr id="4" name="Slide Number Placeholder 3"/>
          <p:cNvSpPr>
            <a:spLocks noGrp="1"/>
          </p:cNvSpPr>
          <p:nvPr>
            <p:ph type="sldNum" sz="quarter" idx="5"/>
          </p:nvPr>
        </p:nvSpPr>
        <p:spPr/>
        <p:txBody>
          <a:bodyPr/>
          <a:lstStyle/>
          <a:p>
            <a:fld id="{98B4AF0B-A362-48EA-BCE0-D59D3A261485}" type="slidenum">
              <a:rPr lang="en-US" smtClean="0"/>
              <a:t>52</a:t>
            </a:fld>
            <a:endParaRPr lang="en-US"/>
          </a:p>
        </p:txBody>
      </p:sp>
    </p:spTree>
    <p:extLst>
      <p:ext uri="{BB962C8B-B14F-4D97-AF65-F5344CB8AC3E}">
        <p14:creationId xmlns:p14="http://schemas.microsoft.com/office/powerpoint/2010/main" val="27238149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Sites with C02, CH4, H20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US-A03, US-A10, US-</a:t>
            </a:r>
            <a:r>
              <a:rPr lang="en-US" sz="1200" kern="100" dirty="0" err="1">
                <a:effectLst/>
                <a:latin typeface="Times New Roman" panose="02020603050405020304" pitchFamily="18" charset="0"/>
                <a:ea typeface="Aptos" panose="020B0004020202020204" pitchFamily="34" charset="0"/>
                <a:cs typeface="Times New Roman" panose="02020603050405020304" pitchFamily="18" charset="0"/>
              </a:rPr>
              <a:t>Atq</a:t>
            </a: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2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US-NGB, US-EDN</a:t>
            </a:r>
            <a:r>
              <a:rPr lang="en-US" b="1" i="0" dirty="0">
                <a:solidFill>
                  <a:srgbClr val="333333"/>
                </a:solidFill>
                <a:effectLst/>
                <a:latin typeface="proxima-nova-condensed"/>
              </a:rPr>
              <a:t>, US-</a:t>
            </a:r>
            <a:r>
              <a:rPr lang="en-US" b="1" i="0" dirty="0" err="1">
                <a:solidFill>
                  <a:srgbClr val="333333"/>
                </a:solidFill>
                <a:effectLst/>
                <a:latin typeface="proxima-nova-condensed"/>
              </a:rPr>
              <a:t>TaS</a:t>
            </a:r>
            <a:r>
              <a:rPr lang="en-US" b="1" i="0" dirty="0">
                <a:solidFill>
                  <a:srgbClr val="333333"/>
                </a:solidFill>
                <a:effectLst/>
                <a:latin typeface="proxima-nova-condensed"/>
              </a:rPr>
              <a:t>, US-</a:t>
            </a:r>
            <a:r>
              <a:rPr lang="en-US" b="1" i="0" dirty="0" err="1">
                <a:solidFill>
                  <a:srgbClr val="333333"/>
                </a:solidFill>
                <a:effectLst/>
                <a:latin typeface="proxima-nova-condensed"/>
              </a:rPr>
              <a:t>EvM</a:t>
            </a:r>
            <a:r>
              <a:rPr lang="en-US" b="1" i="0" dirty="0">
                <a:solidFill>
                  <a:srgbClr val="333333"/>
                </a:solidFill>
                <a:effectLst/>
                <a:latin typeface="proxima-nova-condensed"/>
              </a:rPr>
              <a:t>, US-MRM, US-</a:t>
            </a:r>
            <a:r>
              <a:rPr lang="en-US" b="1" i="0" dirty="0" err="1">
                <a:solidFill>
                  <a:srgbClr val="333333"/>
                </a:solidFill>
                <a:effectLst/>
                <a:latin typeface="proxima-nova-condensed"/>
              </a:rPr>
              <a:t>Srr</a:t>
            </a:r>
            <a:r>
              <a:rPr lang="en-US" b="1" i="0" dirty="0">
                <a:solidFill>
                  <a:srgbClr val="333333"/>
                </a:solidFill>
                <a:effectLst/>
                <a:latin typeface="proxima-nova-condensed"/>
              </a:rPr>
              <a:t>, US-HPY, US-HRP, US-BSM, US-PLM, US-HB1, US-</a:t>
            </a:r>
            <a:r>
              <a:rPr lang="en-US" b="1" i="0" dirty="0" err="1">
                <a:solidFill>
                  <a:srgbClr val="333333"/>
                </a:solidFill>
                <a:effectLst/>
                <a:latin typeface="proxima-nova-condensed"/>
              </a:rPr>
              <a:t>StJ</a:t>
            </a:r>
            <a:r>
              <a:rPr lang="en-US" b="1" i="0" dirty="0">
                <a:solidFill>
                  <a:srgbClr val="333333"/>
                </a:solidFill>
                <a:effectLst/>
                <a:latin typeface="proxima-nova-condensed"/>
              </a:rPr>
              <a:t>, US-DMG, US-MCP, </a:t>
            </a:r>
            <a:r>
              <a:rPr lang="en-US" dirty="0"/>
              <a:t>US-EKY, US-EKH, US-EKP, US-EKN, </a:t>
            </a:r>
            <a:r>
              <a:rPr lang="en-US" b="1" i="0" dirty="0">
                <a:solidFill>
                  <a:srgbClr val="333333"/>
                </a:solidFill>
                <a:effectLst/>
                <a:latin typeface="proxima-nova-condensed"/>
              </a:rPr>
              <a:t>US-</a:t>
            </a:r>
            <a:r>
              <a:rPr lang="en-US" b="1" i="0" dirty="0" err="1">
                <a:solidFill>
                  <a:srgbClr val="333333"/>
                </a:solidFill>
                <a:effectLst/>
                <a:latin typeface="proxima-nova-condensed"/>
              </a:rPr>
              <a:t>Plo</a:t>
            </a:r>
            <a:r>
              <a:rPr lang="en-US" b="1" i="0" dirty="0">
                <a:solidFill>
                  <a:srgbClr val="333333"/>
                </a:solidFill>
                <a:effectLst/>
                <a:latin typeface="proxima-nova-condensed"/>
              </a:rPr>
              <a:t>, US-LA1, US-LA2, US-LA3, US-</a:t>
            </a:r>
            <a:r>
              <a:rPr lang="en-US" b="1" i="0" dirty="0" err="1">
                <a:solidFill>
                  <a:srgbClr val="333333"/>
                </a:solidFill>
                <a:effectLst/>
                <a:latin typeface="proxima-nova-condensed"/>
              </a:rPr>
              <a:t>Myb</a:t>
            </a:r>
            <a:r>
              <a:rPr lang="en-US" b="1" i="0" dirty="0">
                <a:solidFill>
                  <a:srgbClr val="333333"/>
                </a:solidFill>
                <a:effectLst/>
                <a:latin typeface="proxima-nova-condensed"/>
              </a:rPr>
              <a:t>, US-TW1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Sites with Co2 and H20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US-ASL, US-PSL, </a:t>
            </a:r>
            <a:r>
              <a:rPr lang="en-US" b="1" i="0" dirty="0">
                <a:solidFill>
                  <a:srgbClr val="333333"/>
                </a:solidFill>
                <a:effectLst/>
                <a:latin typeface="proxima-nova-condensed"/>
              </a:rPr>
              <a:t>US-ASH, US-ASM, US-PSH, US-</a:t>
            </a:r>
            <a:r>
              <a:rPr lang="en-US" b="1" i="0" dirty="0" err="1">
                <a:solidFill>
                  <a:srgbClr val="333333"/>
                </a:solidFill>
                <a:effectLst/>
                <a:latin typeface="proxima-nova-condensed"/>
              </a:rPr>
              <a:t>Skr</a:t>
            </a:r>
            <a:r>
              <a:rPr lang="en-US" b="1" i="0" dirty="0">
                <a:solidFill>
                  <a:srgbClr val="333333"/>
                </a:solidFill>
                <a:effectLst/>
                <a:latin typeface="proxima-nova-condensed"/>
              </a:rPr>
              <a:t>, US-KS3, US-KS4, US-PHM, US-VFP, US-Tx9, US-HB2, US-HB3, US-</a:t>
            </a:r>
            <a:r>
              <a:rPr lang="en-US" b="1" i="0" dirty="0" err="1">
                <a:solidFill>
                  <a:srgbClr val="333333"/>
                </a:solidFill>
                <a:effectLst/>
                <a:latin typeface="proxima-nova-condensed"/>
              </a:rPr>
              <a:t>StS</a:t>
            </a: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Co2 and CH4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US-NC4,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Only Co2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US-KS1, US-KS2, US-GCE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Ask about central valley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Far from coast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US-TX7, US-TX8, US-LA1, using island filter, </a:t>
            </a:r>
            <a:r>
              <a:rPr lang="en-US" i="0" u="none" strike="noStrike" dirty="0">
                <a:effectLst/>
                <a:latin typeface="proxima-nova"/>
                <a:hlinkClick r:id="rId3"/>
              </a:rPr>
              <a:t>US-Bi1</a:t>
            </a:r>
            <a:r>
              <a:rPr lang="en-US" i="0" u="none" strike="noStrike" dirty="0">
                <a:effectLst/>
                <a:latin typeface="proxima-nova"/>
              </a:rPr>
              <a:t>, US-Bi2, </a:t>
            </a:r>
            <a:r>
              <a:rPr lang="en-US" i="0" u="none" strike="noStrike" dirty="0">
                <a:effectLst/>
                <a:latin typeface="proxima-nova"/>
                <a:hlinkClick r:id="rId4"/>
              </a:rPr>
              <a:t>US-</a:t>
            </a:r>
            <a:r>
              <a:rPr lang="en-US" i="0" u="none" strike="noStrike" dirty="0" err="1">
                <a:effectLst/>
                <a:latin typeface="proxima-nova"/>
                <a:hlinkClick r:id="rId4"/>
              </a:rPr>
              <a:t>Myb</a:t>
            </a:r>
            <a:r>
              <a:rPr lang="en-US" i="0" u="none" strike="noStrike" dirty="0">
                <a:effectLst/>
                <a:latin typeface="proxima-nova"/>
              </a:rPr>
              <a:t>,</a:t>
            </a:r>
            <a:r>
              <a:rPr lang="en-US" b="1" i="0" dirty="0">
                <a:solidFill>
                  <a:srgbClr val="333333"/>
                </a:solidFill>
                <a:effectLst/>
                <a:latin typeface="proxima-nova-condensed"/>
              </a:rPr>
              <a:t> US-Si1, US-</a:t>
            </a:r>
            <a:r>
              <a:rPr lang="en-US" b="1" i="0" dirty="0" err="1">
                <a:solidFill>
                  <a:srgbClr val="333333"/>
                </a:solidFill>
                <a:effectLst/>
                <a:latin typeface="proxima-nova-condensed"/>
              </a:rPr>
              <a:t>Sne</a:t>
            </a:r>
            <a:r>
              <a:rPr lang="en-US" b="1" i="0" dirty="0">
                <a:solidFill>
                  <a:srgbClr val="333333"/>
                </a:solidFill>
                <a:effectLst/>
                <a:latin typeface="proxima-nova-condensed"/>
              </a:rPr>
              <a:t>, US-</a:t>
            </a:r>
            <a:r>
              <a:rPr lang="en-US" b="1" i="0" dirty="0" err="1">
                <a:solidFill>
                  <a:srgbClr val="333333"/>
                </a:solidFill>
                <a:effectLst/>
                <a:latin typeface="proxima-nova-condensed"/>
              </a:rPr>
              <a:t>Snf</a:t>
            </a:r>
            <a:r>
              <a:rPr lang="en-US" b="1" i="0" dirty="0">
                <a:solidFill>
                  <a:srgbClr val="333333"/>
                </a:solidFill>
                <a:effectLst/>
                <a:latin typeface="proxima-nova-condensed"/>
              </a:rPr>
              <a:t>, US-Tw1, TW4, TW5, US-</a:t>
            </a:r>
            <a:r>
              <a:rPr lang="en-US" b="1" i="0" dirty="0" err="1">
                <a:solidFill>
                  <a:srgbClr val="333333"/>
                </a:solidFill>
                <a:effectLst/>
                <a:latin typeface="proxima-nova-condensed"/>
              </a:rPr>
              <a:t>Twt</a:t>
            </a:r>
            <a:r>
              <a:rPr lang="en-US" b="1" i="0" dirty="0">
                <a:solidFill>
                  <a:srgbClr val="333333"/>
                </a:solidFill>
                <a:effectLst/>
                <a:latin typeface="proxima-nova-condensed"/>
              </a:rPr>
              <a:t>: Twitchell Island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too short,,</a:t>
            </a:r>
            <a:r>
              <a:rPr lang="en-US" sz="1200" b="1" dirty="0">
                <a:solidFill>
                  <a:srgbClr val="333333"/>
                </a:solidFill>
                <a:latin typeface="proxima-nova-condensed"/>
              </a:rPr>
              <a:t>, </a:t>
            </a:r>
            <a:endParaRPr lang="en-US" sz="2800"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i="0" dirty="0">
                <a:solidFill>
                  <a:srgbClr val="333333"/>
                </a:solidFill>
                <a:effectLst/>
                <a:latin typeface="proxima-nova-condensed"/>
              </a:rPr>
              <a:t>Sites that are fresh water</a:t>
            </a: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US-</a:t>
            </a:r>
            <a:r>
              <a:rPr lang="en-US" b="1" i="0" dirty="0" err="1">
                <a:solidFill>
                  <a:srgbClr val="333333"/>
                </a:solidFill>
                <a:effectLst/>
                <a:latin typeface="proxima-nova-condensed"/>
              </a:rPr>
              <a:t>xDL</a:t>
            </a:r>
            <a:r>
              <a:rPr lang="en-US" b="1" i="0" dirty="0">
                <a:solidFill>
                  <a:srgbClr val="333333"/>
                </a:solidFill>
                <a:effectLst/>
                <a:latin typeface="proxima-nova-condensed"/>
              </a:rPr>
              <a:t>: NEON Dead Lake (DELA) fresh water . Does not look like saline water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US-GL1, GL2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p:txBody>
      </p:sp>
      <p:sp>
        <p:nvSpPr>
          <p:cNvPr id="4" name="Slide Number Placeholder 3"/>
          <p:cNvSpPr>
            <a:spLocks noGrp="1"/>
          </p:cNvSpPr>
          <p:nvPr>
            <p:ph type="sldNum" sz="quarter" idx="5"/>
          </p:nvPr>
        </p:nvSpPr>
        <p:spPr/>
        <p:txBody>
          <a:bodyPr/>
          <a:lstStyle/>
          <a:p>
            <a:fld id="{98B4AF0B-A362-48EA-BCE0-D59D3A261485}" type="slidenum">
              <a:rPr lang="en-US" smtClean="0"/>
              <a:t>54</a:t>
            </a:fld>
            <a:endParaRPr lang="en-US"/>
          </a:p>
        </p:txBody>
      </p:sp>
    </p:spTree>
    <p:extLst>
      <p:ext uri="{BB962C8B-B14F-4D97-AF65-F5344CB8AC3E}">
        <p14:creationId xmlns:p14="http://schemas.microsoft.com/office/powerpoint/2010/main" val="33717964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Low, mid, high </a:t>
            </a:r>
          </a:p>
          <a:p>
            <a:r>
              <a:rPr lang="en-US" dirty="0"/>
              <a:t>WUE is changing </a:t>
            </a:r>
          </a:p>
          <a:p>
            <a:endParaRPr lang="en-US" dirty="0"/>
          </a:p>
          <a:p>
            <a:r>
              <a:rPr lang="en-US" dirty="0" err="1"/>
              <a:t>Survery</a:t>
            </a:r>
            <a:r>
              <a:rPr lang="en-US" dirty="0"/>
              <a:t>. Whether their site is useful</a:t>
            </a:r>
          </a:p>
          <a:p>
            <a:endParaRPr lang="en-US" dirty="0"/>
          </a:p>
          <a:p>
            <a:r>
              <a:rPr lang="en-US" dirty="0"/>
              <a:t>Is there salt in site</a:t>
            </a:r>
          </a:p>
          <a:p>
            <a:r>
              <a:rPr lang="en-US" dirty="0"/>
              <a:t>Source of salinity data</a:t>
            </a:r>
          </a:p>
          <a:p>
            <a:r>
              <a:rPr lang="en-US" dirty="0"/>
              <a:t>Variation in water use efficiency </a:t>
            </a:r>
          </a:p>
          <a:p>
            <a:endParaRPr lang="en-US" dirty="0"/>
          </a:p>
          <a:p>
            <a:endParaRPr lang="en-US" dirty="0"/>
          </a:p>
          <a:p>
            <a:r>
              <a:rPr lang="en-US" b="0" i="0" dirty="0">
                <a:solidFill>
                  <a:srgbClr val="151515"/>
                </a:solidFill>
                <a:effectLst/>
                <a:latin typeface="Roboto" panose="02000000000000000000" pitchFamily="2" charset="0"/>
              </a:rPr>
              <a:t>16 g/L, and the individual salinity values for each site in the secondary study were also in the brackish range (0.5 g/L &lt; salinity &lt; 30 g/L,</a:t>
            </a:r>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55</a:t>
            </a:fld>
            <a:endParaRPr lang="en-US"/>
          </a:p>
        </p:txBody>
      </p:sp>
    </p:spTree>
    <p:extLst>
      <p:ext uri="{BB962C8B-B14F-4D97-AF65-F5344CB8AC3E}">
        <p14:creationId xmlns:p14="http://schemas.microsoft.com/office/powerpoint/2010/main" val="7420460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56</a:t>
            </a:fld>
            <a:endParaRPr lang="en-US"/>
          </a:p>
        </p:txBody>
      </p:sp>
    </p:spTree>
    <p:extLst>
      <p:ext uri="{BB962C8B-B14F-4D97-AF65-F5344CB8AC3E}">
        <p14:creationId xmlns:p14="http://schemas.microsoft.com/office/powerpoint/2010/main" val="38563470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57</a:t>
            </a:fld>
            <a:endParaRPr lang="en-US"/>
          </a:p>
        </p:txBody>
      </p:sp>
    </p:spTree>
    <p:extLst>
      <p:ext uri="{BB962C8B-B14F-4D97-AF65-F5344CB8AC3E}">
        <p14:creationId xmlns:p14="http://schemas.microsoft.com/office/powerpoint/2010/main" val="18219232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US-KS4: Kennedy Space Center (Spartina marsh)</a:t>
            </a:r>
          </a:p>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59</a:t>
            </a:fld>
            <a:endParaRPr lang="en-US"/>
          </a:p>
        </p:txBody>
      </p:sp>
    </p:spTree>
    <p:extLst>
      <p:ext uri="{BB962C8B-B14F-4D97-AF65-F5344CB8AC3E}">
        <p14:creationId xmlns:p14="http://schemas.microsoft.com/office/powerpoint/2010/main" val="830615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C48D6-D195-136B-35F8-AD53607064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0CF3DD-DF95-EC6B-201A-F947F3FD45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C7F8EC-D417-D17B-C145-97E3AE6AA064}"/>
              </a:ext>
            </a:extLst>
          </p:cNvPr>
          <p:cNvSpPr>
            <a:spLocks noGrp="1"/>
          </p:cNvSpPr>
          <p:nvPr>
            <p:ph type="dt" sz="half" idx="10"/>
          </p:nvPr>
        </p:nvSpPr>
        <p:spPr/>
        <p:txBody>
          <a:bodyPr/>
          <a:lstStyle/>
          <a:p>
            <a:fld id="{ED1A23F5-D659-46B1-976C-AD0A52F4059B}" type="datetimeFigureOut">
              <a:rPr lang="en-US" smtClean="0"/>
              <a:t>2/3/2025</a:t>
            </a:fld>
            <a:endParaRPr lang="en-US"/>
          </a:p>
        </p:txBody>
      </p:sp>
      <p:sp>
        <p:nvSpPr>
          <p:cNvPr id="5" name="Footer Placeholder 4">
            <a:extLst>
              <a:ext uri="{FF2B5EF4-FFF2-40B4-BE49-F238E27FC236}">
                <a16:creationId xmlns:a16="http://schemas.microsoft.com/office/drawing/2014/main" id="{6EF88A0F-0501-546C-050F-B82EE3C7F7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5D6A31-4962-8BFE-B7C7-4082E65F8D87}"/>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4137227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162D6-FD39-3A7C-721E-090F52037F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4BC6C0-6DB3-6F52-5DBF-55922DDFC5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AAE68F-D08A-AFA7-7993-4B5CB2CFA5AF}"/>
              </a:ext>
            </a:extLst>
          </p:cNvPr>
          <p:cNvSpPr>
            <a:spLocks noGrp="1"/>
          </p:cNvSpPr>
          <p:nvPr>
            <p:ph type="dt" sz="half" idx="10"/>
          </p:nvPr>
        </p:nvSpPr>
        <p:spPr/>
        <p:txBody>
          <a:bodyPr/>
          <a:lstStyle/>
          <a:p>
            <a:fld id="{ED1A23F5-D659-46B1-976C-AD0A52F4059B}" type="datetimeFigureOut">
              <a:rPr lang="en-US" smtClean="0"/>
              <a:t>2/3/2025</a:t>
            </a:fld>
            <a:endParaRPr lang="en-US"/>
          </a:p>
        </p:txBody>
      </p:sp>
      <p:sp>
        <p:nvSpPr>
          <p:cNvPr id="5" name="Footer Placeholder 4">
            <a:extLst>
              <a:ext uri="{FF2B5EF4-FFF2-40B4-BE49-F238E27FC236}">
                <a16:creationId xmlns:a16="http://schemas.microsoft.com/office/drawing/2014/main" id="{2923894E-4437-0745-4BD7-602D9F4C3A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B4B64E-1BE7-5E7D-6E17-A27D86AF2C44}"/>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1904894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B5AE1-09A5-E271-1A8B-B07BF76B79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D506B6-93DA-8FA1-C18C-24996F90C3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FE3168-5AEF-EACB-E7EB-157CBF49DDE0}"/>
              </a:ext>
            </a:extLst>
          </p:cNvPr>
          <p:cNvSpPr>
            <a:spLocks noGrp="1"/>
          </p:cNvSpPr>
          <p:nvPr>
            <p:ph type="dt" sz="half" idx="10"/>
          </p:nvPr>
        </p:nvSpPr>
        <p:spPr/>
        <p:txBody>
          <a:bodyPr/>
          <a:lstStyle/>
          <a:p>
            <a:fld id="{ED1A23F5-D659-46B1-976C-AD0A52F4059B}" type="datetimeFigureOut">
              <a:rPr lang="en-US" smtClean="0"/>
              <a:t>2/3/2025</a:t>
            </a:fld>
            <a:endParaRPr lang="en-US"/>
          </a:p>
        </p:txBody>
      </p:sp>
      <p:sp>
        <p:nvSpPr>
          <p:cNvPr id="5" name="Footer Placeholder 4">
            <a:extLst>
              <a:ext uri="{FF2B5EF4-FFF2-40B4-BE49-F238E27FC236}">
                <a16:creationId xmlns:a16="http://schemas.microsoft.com/office/drawing/2014/main" id="{742A9CDE-8931-0C52-4A1D-DEF86B0F04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B19DB9-F286-0324-ACEA-AAB850D9162D}"/>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538611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B9849-C47E-6D11-9894-78C0C7B482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0BAD71-2F72-C8EA-1DFA-F9DCB5614D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EE1591-E701-C312-77DE-EB74D11A37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E8FBAD-244C-D51A-47A5-E703E925BE58}"/>
              </a:ext>
            </a:extLst>
          </p:cNvPr>
          <p:cNvSpPr>
            <a:spLocks noGrp="1"/>
          </p:cNvSpPr>
          <p:nvPr>
            <p:ph type="dt" sz="half" idx="10"/>
          </p:nvPr>
        </p:nvSpPr>
        <p:spPr/>
        <p:txBody>
          <a:bodyPr/>
          <a:lstStyle/>
          <a:p>
            <a:fld id="{ED1A23F5-D659-46B1-976C-AD0A52F4059B}" type="datetimeFigureOut">
              <a:rPr lang="en-US" smtClean="0"/>
              <a:t>2/3/2025</a:t>
            </a:fld>
            <a:endParaRPr lang="en-US"/>
          </a:p>
        </p:txBody>
      </p:sp>
      <p:sp>
        <p:nvSpPr>
          <p:cNvPr id="6" name="Footer Placeholder 5">
            <a:extLst>
              <a:ext uri="{FF2B5EF4-FFF2-40B4-BE49-F238E27FC236}">
                <a16:creationId xmlns:a16="http://schemas.microsoft.com/office/drawing/2014/main" id="{FF3EE92C-9B6A-097C-77E2-88A68E2438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BDB955-17AF-AFC5-1331-F311C5F48456}"/>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2494238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634F3-B5F5-54E6-39CA-BB05782A26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81E1CB-97A0-52AA-C4D0-F42DE4254E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17F46F-F5C7-29E2-CC5B-75B8470C0D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30BFA2-1CCC-D11C-1B7D-B25C23CC4F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831011-ECB1-832C-54F7-439BA3E524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3B9EE9-266D-2435-7D36-86806D5905FA}"/>
              </a:ext>
            </a:extLst>
          </p:cNvPr>
          <p:cNvSpPr>
            <a:spLocks noGrp="1"/>
          </p:cNvSpPr>
          <p:nvPr>
            <p:ph type="dt" sz="half" idx="10"/>
          </p:nvPr>
        </p:nvSpPr>
        <p:spPr/>
        <p:txBody>
          <a:bodyPr/>
          <a:lstStyle/>
          <a:p>
            <a:fld id="{ED1A23F5-D659-46B1-976C-AD0A52F4059B}" type="datetimeFigureOut">
              <a:rPr lang="en-US" smtClean="0"/>
              <a:t>2/3/2025</a:t>
            </a:fld>
            <a:endParaRPr lang="en-US"/>
          </a:p>
        </p:txBody>
      </p:sp>
      <p:sp>
        <p:nvSpPr>
          <p:cNvPr id="8" name="Footer Placeholder 7">
            <a:extLst>
              <a:ext uri="{FF2B5EF4-FFF2-40B4-BE49-F238E27FC236}">
                <a16:creationId xmlns:a16="http://schemas.microsoft.com/office/drawing/2014/main" id="{9CB63E89-29CD-AB07-7C08-874A37ACE38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CF0228-7BB2-A227-8246-E8675B64DFCB}"/>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785515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101C6-1ECA-11AE-2EC2-5856CCCC1C7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143602-B6B4-CC14-8A30-477021181852}"/>
              </a:ext>
            </a:extLst>
          </p:cNvPr>
          <p:cNvSpPr>
            <a:spLocks noGrp="1"/>
          </p:cNvSpPr>
          <p:nvPr>
            <p:ph type="dt" sz="half" idx="10"/>
          </p:nvPr>
        </p:nvSpPr>
        <p:spPr/>
        <p:txBody>
          <a:bodyPr/>
          <a:lstStyle/>
          <a:p>
            <a:fld id="{ED1A23F5-D659-46B1-976C-AD0A52F4059B}" type="datetimeFigureOut">
              <a:rPr lang="en-US" smtClean="0"/>
              <a:t>2/3/2025</a:t>
            </a:fld>
            <a:endParaRPr lang="en-US"/>
          </a:p>
        </p:txBody>
      </p:sp>
      <p:sp>
        <p:nvSpPr>
          <p:cNvPr id="4" name="Footer Placeholder 3">
            <a:extLst>
              <a:ext uri="{FF2B5EF4-FFF2-40B4-BE49-F238E27FC236}">
                <a16:creationId xmlns:a16="http://schemas.microsoft.com/office/drawing/2014/main" id="{204DA5E0-066D-7484-21F3-51B22396BF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130B27-1DFD-D144-6BB2-9918297B3AD2}"/>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673374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77920E-E0F5-EC38-31DA-14322E8ADDAA}"/>
              </a:ext>
            </a:extLst>
          </p:cNvPr>
          <p:cNvSpPr>
            <a:spLocks noGrp="1"/>
          </p:cNvSpPr>
          <p:nvPr>
            <p:ph type="dt" sz="half" idx="10"/>
          </p:nvPr>
        </p:nvSpPr>
        <p:spPr/>
        <p:txBody>
          <a:bodyPr/>
          <a:lstStyle/>
          <a:p>
            <a:fld id="{ED1A23F5-D659-46B1-976C-AD0A52F4059B}" type="datetimeFigureOut">
              <a:rPr lang="en-US" smtClean="0"/>
              <a:t>2/3/2025</a:t>
            </a:fld>
            <a:endParaRPr lang="en-US"/>
          </a:p>
        </p:txBody>
      </p:sp>
      <p:sp>
        <p:nvSpPr>
          <p:cNvPr id="3" name="Footer Placeholder 2">
            <a:extLst>
              <a:ext uri="{FF2B5EF4-FFF2-40B4-BE49-F238E27FC236}">
                <a16:creationId xmlns:a16="http://schemas.microsoft.com/office/drawing/2014/main" id="{CC62003C-79EF-1985-98D5-9F62C06927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3D6718-8E87-62A8-83C6-9FE23A448EC1}"/>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3864798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172C8-F5A2-4BA3-1BFF-3799E74F05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DA1923-544B-B9DB-0974-F7720A49B1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635ABC-001A-87A1-6C2B-F1D91BD1FA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758AB5-2425-A3FA-4C23-FDED0F5F5F7F}"/>
              </a:ext>
            </a:extLst>
          </p:cNvPr>
          <p:cNvSpPr>
            <a:spLocks noGrp="1"/>
          </p:cNvSpPr>
          <p:nvPr>
            <p:ph type="dt" sz="half" idx="10"/>
          </p:nvPr>
        </p:nvSpPr>
        <p:spPr/>
        <p:txBody>
          <a:bodyPr/>
          <a:lstStyle/>
          <a:p>
            <a:fld id="{ED1A23F5-D659-46B1-976C-AD0A52F4059B}" type="datetimeFigureOut">
              <a:rPr lang="en-US" smtClean="0"/>
              <a:t>2/3/2025</a:t>
            </a:fld>
            <a:endParaRPr lang="en-US"/>
          </a:p>
        </p:txBody>
      </p:sp>
      <p:sp>
        <p:nvSpPr>
          <p:cNvPr id="6" name="Footer Placeholder 5">
            <a:extLst>
              <a:ext uri="{FF2B5EF4-FFF2-40B4-BE49-F238E27FC236}">
                <a16:creationId xmlns:a16="http://schemas.microsoft.com/office/drawing/2014/main" id="{1B2EC59D-FD7B-F5FF-3B39-595481E8E1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C1016C-EFAB-0D23-98FA-D46399DC3F29}"/>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79746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B7984-025D-F05A-E531-17FF2D447C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CA38A51-FB1B-CDC9-9FFF-7D62667BAC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C1A4AC-381F-14FD-CBBE-256329AB14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20D1C3-B67F-B044-6E2F-FF190BAD45CF}"/>
              </a:ext>
            </a:extLst>
          </p:cNvPr>
          <p:cNvSpPr>
            <a:spLocks noGrp="1"/>
          </p:cNvSpPr>
          <p:nvPr>
            <p:ph type="dt" sz="half" idx="10"/>
          </p:nvPr>
        </p:nvSpPr>
        <p:spPr/>
        <p:txBody>
          <a:bodyPr/>
          <a:lstStyle/>
          <a:p>
            <a:fld id="{ED1A23F5-D659-46B1-976C-AD0A52F4059B}" type="datetimeFigureOut">
              <a:rPr lang="en-US" smtClean="0"/>
              <a:t>2/3/2025</a:t>
            </a:fld>
            <a:endParaRPr lang="en-US"/>
          </a:p>
        </p:txBody>
      </p:sp>
      <p:sp>
        <p:nvSpPr>
          <p:cNvPr id="6" name="Footer Placeholder 5">
            <a:extLst>
              <a:ext uri="{FF2B5EF4-FFF2-40B4-BE49-F238E27FC236}">
                <a16:creationId xmlns:a16="http://schemas.microsoft.com/office/drawing/2014/main" id="{98EF94EE-C70A-BFDE-EEA8-C4B424FF23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D992E5-4208-7E6E-F895-A90956CD4FB9}"/>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3796431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5F0C2-6B6A-926A-AC5A-692193E60F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9CE92BC-7220-7F06-2BA3-10B53E838F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C27D86-F34B-2D02-02D3-3C2B84F62DDF}"/>
              </a:ext>
            </a:extLst>
          </p:cNvPr>
          <p:cNvSpPr>
            <a:spLocks noGrp="1"/>
          </p:cNvSpPr>
          <p:nvPr>
            <p:ph type="dt" sz="half" idx="10"/>
          </p:nvPr>
        </p:nvSpPr>
        <p:spPr/>
        <p:txBody>
          <a:bodyPr/>
          <a:lstStyle/>
          <a:p>
            <a:fld id="{ED1A23F5-D659-46B1-976C-AD0A52F4059B}" type="datetimeFigureOut">
              <a:rPr lang="en-US" smtClean="0"/>
              <a:t>2/3/2025</a:t>
            </a:fld>
            <a:endParaRPr lang="en-US"/>
          </a:p>
        </p:txBody>
      </p:sp>
      <p:sp>
        <p:nvSpPr>
          <p:cNvPr id="5" name="Footer Placeholder 4">
            <a:extLst>
              <a:ext uri="{FF2B5EF4-FFF2-40B4-BE49-F238E27FC236}">
                <a16:creationId xmlns:a16="http://schemas.microsoft.com/office/drawing/2014/main" id="{ED2D4341-BA9D-01BA-BFBC-74DC793E06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B411CC-E5B6-E7A2-7AC7-038DDC51E16E}"/>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365770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F13738-2D37-F661-FB11-0C2B1F8981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1CA38E-AFD2-43D3-6D38-AD8A0F1C4B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A23608-4DF7-CA01-411D-4744AC84E22C}"/>
              </a:ext>
            </a:extLst>
          </p:cNvPr>
          <p:cNvSpPr>
            <a:spLocks noGrp="1"/>
          </p:cNvSpPr>
          <p:nvPr>
            <p:ph type="dt" sz="half" idx="10"/>
          </p:nvPr>
        </p:nvSpPr>
        <p:spPr/>
        <p:txBody>
          <a:bodyPr/>
          <a:lstStyle/>
          <a:p>
            <a:fld id="{ED1A23F5-D659-46B1-976C-AD0A52F4059B}" type="datetimeFigureOut">
              <a:rPr lang="en-US" smtClean="0"/>
              <a:t>2/3/2025</a:t>
            </a:fld>
            <a:endParaRPr lang="en-US"/>
          </a:p>
        </p:txBody>
      </p:sp>
      <p:sp>
        <p:nvSpPr>
          <p:cNvPr id="5" name="Footer Placeholder 4">
            <a:extLst>
              <a:ext uri="{FF2B5EF4-FFF2-40B4-BE49-F238E27FC236}">
                <a16:creationId xmlns:a16="http://schemas.microsoft.com/office/drawing/2014/main" id="{571EAEB1-ADDD-8372-4B08-B8717E6C62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36B6A2-DC91-530A-54D1-3B94BE7E24C1}"/>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367698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51082C-0361-CE5B-7565-726D44D90C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C7DA04-E445-80EA-560E-464531F451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BE60D8-9923-BA6E-8250-3E3495685A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1A23F5-D659-46B1-976C-AD0A52F4059B}" type="datetimeFigureOut">
              <a:rPr lang="en-US" smtClean="0"/>
              <a:t>2/3/2025</a:t>
            </a:fld>
            <a:endParaRPr lang="en-US"/>
          </a:p>
        </p:txBody>
      </p:sp>
      <p:sp>
        <p:nvSpPr>
          <p:cNvPr id="5" name="Footer Placeholder 4">
            <a:extLst>
              <a:ext uri="{FF2B5EF4-FFF2-40B4-BE49-F238E27FC236}">
                <a16:creationId xmlns:a16="http://schemas.microsoft.com/office/drawing/2014/main" id="{174B209A-8990-B767-17F8-6AE6F67C04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8744C01-167C-498D-571C-19573B0F93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5ADB46-4BE7-4C47-8600-8D982D082FAE}" type="slidenum">
              <a:rPr lang="en-US" smtClean="0"/>
              <a:t>‹#›</a:t>
            </a:fld>
            <a:endParaRPr lang="en-US"/>
          </a:p>
        </p:txBody>
      </p:sp>
    </p:spTree>
    <p:extLst>
      <p:ext uri="{BB962C8B-B14F-4D97-AF65-F5344CB8AC3E}">
        <p14:creationId xmlns:p14="http://schemas.microsoft.com/office/powerpoint/2010/main" val="2393746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4AF3D7-6DA1-695A-26A6-68A67D3EC108}"/>
              </a:ext>
            </a:extLst>
          </p:cNvPr>
          <p:cNvPicPr>
            <a:picLocks noChangeAspect="1"/>
          </p:cNvPicPr>
          <p:nvPr/>
        </p:nvPicPr>
        <p:blipFill>
          <a:blip r:embed="rId3"/>
          <a:stretch>
            <a:fillRect/>
          </a:stretch>
        </p:blipFill>
        <p:spPr>
          <a:xfrm>
            <a:off x="0" y="1"/>
            <a:ext cx="12192000" cy="6887418"/>
          </a:xfrm>
          <a:prstGeom prst="rect">
            <a:avLst/>
          </a:prstGeom>
        </p:spPr>
      </p:pic>
      <p:sp>
        <p:nvSpPr>
          <p:cNvPr id="2" name="Title 1">
            <a:extLst>
              <a:ext uri="{FF2B5EF4-FFF2-40B4-BE49-F238E27FC236}">
                <a16:creationId xmlns:a16="http://schemas.microsoft.com/office/drawing/2014/main" id="{4C4BF987-2F49-75A6-8E72-315236E89E4B}"/>
              </a:ext>
            </a:extLst>
          </p:cNvPr>
          <p:cNvSpPr>
            <a:spLocks noGrp="1"/>
          </p:cNvSpPr>
          <p:nvPr>
            <p:ph type="title"/>
          </p:nvPr>
        </p:nvSpPr>
        <p:spPr/>
        <p:txBody>
          <a:bodyPr/>
          <a:lstStyle/>
          <a:p>
            <a:r>
              <a:rPr lang="en-US" b="1" dirty="0"/>
              <a:t>Water Use and carbon use efficiency</a:t>
            </a:r>
          </a:p>
        </p:txBody>
      </p:sp>
      <p:sp>
        <p:nvSpPr>
          <p:cNvPr id="3" name="Content Placeholder 2">
            <a:extLst>
              <a:ext uri="{FF2B5EF4-FFF2-40B4-BE49-F238E27FC236}">
                <a16:creationId xmlns:a16="http://schemas.microsoft.com/office/drawing/2014/main" id="{46C8B3EF-3D73-E0B2-4AD7-C076091D5999}"/>
              </a:ext>
            </a:extLst>
          </p:cNvPr>
          <p:cNvSpPr>
            <a:spLocks noGrp="1"/>
          </p:cNvSpPr>
          <p:nvPr>
            <p:ph idx="1"/>
          </p:nvPr>
        </p:nvSpPr>
        <p:spPr>
          <a:xfrm>
            <a:off x="583432" y="1622158"/>
            <a:ext cx="10515600" cy="4351338"/>
          </a:xfrm>
        </p:spPr>
        <p:txBody>
          <a:bodyPr/>
          <a:lstStyle/>
          <a:p>
            <a:pPr marL="0" indent="0">
              <a:buNone/>
            </a:pPr>
            <a:r>
              <a:rPr lang="en-US" dirty="0"/>
              <a:t>Ammara Talib</a:t>
            </a:r>
          </a:p>
          <a:p>
            <a:pPr marL="0" indent="0">
              <a:buNone/>
            </a:pPr>
            <a:r>
              <a:rPr lang="en-US" b="0" i="0" dirty="0">
                <a:effectLst/>
                <a:latin typeface="Mallory"/>
              </a:rPr>
              <a:t>Sparkle Malone’s Lab</a:t>
            </a:r>
            <a:endParaRPr lang="en-US" dirty="0"/>
          </a:p>
          <a:p>
            <a:pPr marL="0" indent="0">
              <a:buNone/>
            </a:pPr>
            <a:r>
              <a:rPr lang="en-US" dirty="0"/>
              <a:t>Yale School of Environment </a:t>
            </a:r>
          </a:p>
        </p:txBody>
      </p:sp>
      <p:sp>
        <p:nvSpPr>
          <p:cNvPr id="6" name="TextBox 5">
            <a:extLst>
              <a:ext uri="{FF2B5EF4-FFF2-40B4-BE49-F238E27FC236}">
                <a16:creationId xmlns:a16="http://schemas.microsoft.com/office/drawing/2014/main" id="{6DBAE8B2-C2C1-C49C-F464-AF4BEAFE9230}"/>
              </a:ext>
            </a:extLst>
          </p:cNvPr>
          <p:cNvSpPr txBox="1"/>
          <p:nvPr/>
        </p:nvSpPr>
        <p:spPr>
          <a:xfrm>
            <a:off x="151791" y="6518087"/>
            <a:ext cx="6170370" cy="369332"/>
          </a:xfrm>
          <a:prstGeom prst="rect">
            <a:avLst/>
          </a:prstGeom>
          <a:noFill/>
        </p:spPr>
        <p:txBody>
          <a:bodyPr wrap="square">
            <a:spAutoFit/>
          </a:bodyPr>
          <a:lstStyle/>
          <a:p>
            <a:pPr marL="0" indent="0">
              <a:buNone/>
            </a:pPr>
            <a:r>
              <a:rPr lang="en-US" dirty="0"/>
              <a:t>12-20-2024</a:t>
            </a:r>
          </a:p>
        </p:txBody>
      </p:sp>
    </p:spTree>
    <p:extLst>
      <p:ext uri="{BB962C8B-B14F-4D97-AF65-F5344CB8AC3E}">
        <p14:creationId xmlns:p14="http://schemas.microsoft.com/office/powerpoint/2010/main" val="308961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C7093-92E7-8052-709C-7014BA886741}"/>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Objectives</a:t>
            </a:r>
          </a:p>
        </p:txBody>
      </p:sp>
      <p:sp>
        <p:nvSpPr>
          <p:cNvPr id="3" name="Content Placeholder 2">
            <a:extLst>
              <a:ext uri="{FF2B5EF4-FFF2-40B4-BE49-F238E27FC236}">
                <a16:creationId xmlns:a16="http://schemas.microsoft.com/office/drawing/2014/main" id="{593E12F2-0B7D-8072-6D12-CB257236A8EB}"/>
              </a:ext>
            </a:extLst>
          </p:cNvPr>
          <p:cNvSpPr>
            <a:spLocks noGrp="1"/>
          </p:cNvSpPr>
          <p:nvPr>
            <p:ph idx="1"/>
          </p:nvPr>
        </p:nvSpPr>
        <p:spPr>
          <a:xfrm>
            <a:off x="838200" y="1825625"/>
            <a:ext cx="10515600" cy="2680538"/>
          </a:xfrm>
        </p:spPr>
        <p:txBody>
          <a:bodyPr/>
          <a:lstStyle/>
          <a:p>
            <a:pPr>
              <a:buFont typeface="Wingdings" panose="05000000000000000000" pitchFamily="2" charset="2"/>
              <a:buChar char="q"/>
            </a:pPr>
            <a:r>
              <a:rPr lang="en-US" sz="2800" dirty="0">
                <a:effectLst/>
                <a:latin typeface="Arial" panose="020B0604020202020204" pitchFamily="34" charset="0"/>
                <a:ea typeface="Times New Roman" panose="02020603050405020304" pitchFamily="18" charset="0"/>
                <a:cs typeface="Arial" panose="020B0604020202020204" pitchFamily="34" charset="0"/>
              </a:rPr>
              <a:t>How much WUE, CUE changes within ecosystems</a:t>
            </a:r>
          </a:p>
          <a:p>
            <a:pPr>
              <a:buFont typeface="Wingdings" panose="05000000000000000000" pitchFamily="2" charset="2"/>
              <a:buChar char="q"/>
            </a:pPr>
            <a:r>
              <a:rPr lang="en-US" sz="2800" dirty="0">
                <a:latin typeface="Arial" panose="020B0604020202020204" pitchFamily="34" charset="0"/>
                <a:ea typeface="Times New Roman" panose="02020603050405020304" pitchFamily="18" charset="0"/>
                <a:cs typeface="Arial" panose="020B0604020202020204" pitchFamily="34" charset="0"/>
              </a:rPr>
              <a:t>W</a:t>
            </a:r>
            <a:r>
              <a:rPr lang="en-US" sz="2800" dirty="0">
                <a:effectLst/>
                <a:latin typeface="Arial" panose="020B0604020202020204" pitchFamily="34" charset="0"/>
                <a:ea typeface="Times New Roman" panose="02020603050405020304" pitchFamily="18" charset="0"/>
                <a:cs typeface="Arial" panose="020B0604020202020204" pitchFamily="34" charset="0"/>
              </a:rPr>
              <a:t>hether differences in WUE, CUE across ecosystems resemble ecosystem variability</a:t>
            </a:r>
          </a:p>
          <a:p>
            <a:pPr>
              <a:buFont typeface="Wingdings" panose="05000000000000000000" pitchFamily="2" charset="2"/>
              <a:buChar char="q"/>
            </a:pPr>
            <a:r>
              <a:rPr lang="en-US" sz="2800" dirty="0">
                <a:effectLst/>
                <a:latin typeface="Arial" panose="020B0604020202020204" pitchFamily="34" charset="0"/>
                <a:ea typeface="Times New Roman" panose="02020603050405020304" pitchFamily="18" charset="0"/>
                <a:cs typeface="Arial" panose="020B0604020202020204" pitchFamily="34" charset="0"/>
              </a:rPr>
              <a:t>Determine if WUE, CUE in coastal ecosystems denotes salinity</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3560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80A41-6289-0FC6-5573-972027139936}"/>
              </a:ext>
            </a:extLst>
          </p:cNvPr>
          <p:cNvSpPr>
            <a:spLocks noGrp="1"/>
          </p:cNvSpPr>
          <p:nvPr>
            <p:ph type="title"/>
          </p:nvPr>
        </p:nvSpPr>
        <p:spPr>
          <a:xfrm>
            <a:off x="664779" y="120761"/>
            <a:ext cx="7911662" cy="273378"/>
          </a:xfrm>
        </p:spPr>
        <p:txBody>
          <a:bodyPr>
            <a:normAutofit/>
          </a:bodyPr>
          <a:lstStyle/>
          <a:p>
            <a:r>
              <a:rPr lang="en-US" sz="1200" dirty="0"/>
              <a:t>Focused sites </a:t>
            </a:r>
          </a:p>
        </p:txBody>
      </p:sp>
      <p:sp>
        <p:nvSpPr>
          <p:cNvPr id="3" name="Content Placeholder 2">
            <a:extLst>
              <a:ext uri="{FF2B5EF4-FFF2-40B4-BE49-F238E27FC236}">
                <a16:creationId xmlns:a16="http://schemas.microsoft.com/office/drawing/2014/main" id="{117C20AC-ADA0-FCDD-B6CA-D2BC6C61751D}"/>
              </a:ext>
            </a:extLst>
          </p:cNvPr>
          <p:cNvSpPr>
            <a:spLocks noGrp="1"/>
          </p:cNvSpPr>
          <p:nvPr>
            <p:ph idx="1"/>
          </p:nvPr>
        </p:nvSpPr>
        <p:spPr>
          <a:xfrm>
            <a:off x="228818" y="375088"/>
            <a:ext cx="11963182" cy="6362151"/>
          </a:xfrm>
        </p:spPr>
        <p:txBody>
          <a:bodyPr>
            <a:noAutofit/>
          </a:bodyPr>
          <a:lstStyle/>
          <a:p>
            <a:pPr marL="514350" indent="-514350">
              <a:lnSpc>
                <a:spcPct val="115000"/>
              </a:lnSpc>
              <a:spcBef>
                <a:spcPts val="0"/>
              </a:spcBef>
              <a:spcAft>
                <a:spcPts val="1500"/>
              </a:spcAft>
              <a:buFont typeface="+mj-lt"/>
              <a:buAutoNum type="arabicPeriod"/>
              <a:tabLst>
                <a:tab pos="457200" algn="l"/>
              </a:tabLst>
            </a:pPr>
            <a:r>
              <a:rPr lang="en-US" sz="12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US-</a:t>
            </a:r>
            <a:r>
              <a:rPr lang="en-US" sz="1200" kern="100" dirty="0" err="1">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Skr</a:t>
            </a:r>
            <a:r>
              <a:rPr lang="en-US" sz="12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 Shark River Slough (Tower SRS-6) Everglades, 2004-present, </a:t>
            </a:r>
            <a:r>
              <a:rPr lang="en-US" sz="1200" b="0" i="0" dirty="0">
                <a:solidFill>
                  <a:schemeClr val="accent6"/>
                </a:solidFill>
                <a:effectLst/>
                <a:latin typeface="Times New Roman" panose="02020603050405020304" pitchFamily="18" charset="0"/>
                <a:cs typeface="Times New Roman" panose="02020603050405020304" pitchFamily="18" charset="0"/>
              </a:rPr>
              <a:t>Evergreen Broadleaf Forests</a:t>
            </a:r>
            <a:r>
              <a:rPr lang="en-US" sz="1200" b="0" i="0" kern="100" dirty="0">
                <a:solidFill>
                  <a:schemeClr val="accent6"/>
                </a:solidFill>
                <a:latin typeface="Times New Roman" panose="02020603050405020304" pitchFamily="18" charset="0"/>
                <a:cs typeface="Times New Roman" panose="02020603050405020304" pitchFamily="18" charset="0"/>
              </a:rPr>
              <a:t>, salinity range </a:t>
            </a:r>
            <a:r>
              <a:rPr lang="en-US" sz="12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(20-30 ppt), Florida</a:t>
            </a:r>
            <a:r>
              <a:rPr lang="en-US" sz="1200" kern="100" dirty="0">
                <a:solidFill>
                  <a:schemeClr val="accent6"/>
                </a:solidFill>
                <a:latin typeface="Times New Roman" panose="02020603050405020304" pitchFamily="18" charset="0"/>
                <a:ea typeface="Aptos" panose="020B0004020202020204" pitchFamily="34" charset="0"/>
                <a:cs typeface="Times New Roman" panose="02020603050405020304" pitchFamily="18" charset="0"/>
              </a:rPr>
              <a:t>, (</a:t>
            </a:r>
            <a:r>
              <a:rPr lang="en-US" sz="1200" b="0" i="0" dirty="0">
                <a:solidFill>
                  <a:schemeClr val="accent6"/>
                </a:solidFill>
                <a:effectLst/>
                <a:latin typeface="frank-new"/>
              </a:rPr>
              <a:t>SRS6, SRS5 salinity data), high salinity in may June </a:t>
            </a:r>
            <a:endParaRPr lang="en-US" sz="12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endParaRPr>
          </a:p>
          <a:p>
            <a:pPr marL="514350" indent="-514350">
              <a:lnSpc>
                <a:spcPct val="115000"/>
              </a:lnSpc>
              <a:spcBef>
                <a:spcPts val="0"/>
              </a:spcBef>
              <a:spcAft>
                <a:spcPts val="800"/>
              </a:spcAft>
              <a:buFont typeface="+mj-lt"/>
              <a:buAutoNum type="arabicPeriod"/>
              <a:tabLst>
                <a:tab pos="457200" algn="l"/>
              </a:tabLst>
            </a:pPr>
            <a:r>
              <a:rPr lang="en-US" sz="1200" kern="1800" dirty="0">
                <a:solidFill>
                  <a:schemeClr val="accent6"/>
                </a:solidFill>
                <a:latin typeface="Times New Roman" panose="02020603050405020304" pitchFamily="18" charset="0"/>
                <a:ea typeface="Times New Roman" panose="02020603050405020304" pitchFamily="18" charset="0"/>
                <a:cs typeface="Times New Roman" panose="02020603050405020304" pitchFamily="18" charset="0"/>
              </a:rPr>
              <a:t>US-Tas </a:t>
            </a:r>
            <a:r>
              <a:rPr lang="en-US" sz="1200" i="0" dirty="0">
                <a:solidFill>
                  <a:schemeClr val="accent6"/>
                </a:solidFill>
                <a:effectLst/>
                <a:latin typeface="Times New Roman" panose="02020603050405020304" pitchFamily="18" charset="0"/>
                <a:cs typeface="Times New Roman" panose="02020603050405020304" pitchFamily="18" charset="0"/>
              </a:rPr>
              <a:t>Taylor Slough/Panhandle.</a:t>
            </a:r>
            <a:r>
              <a:rPr lang="en-US" sz="1200" dirty="0">
                <a:solidFill>
                  <a:schemeClr val="accent6"/>
                </a:solidFill>
                <a:latin typeface="Times New Roman" panose="02020603050405020304" pitchFamily="18" charset="0"/>
                <a:cs typeface="Times New Roman" panose="02020603050405020304" pitchFamily="18" charset="0"/>
              </a:rPr>
              <a:t> 2016-2021, wetland (Florida)</a:t>
            </a:r>
          </a:p>
          <a:p>
            <a:pPr marL="514350" indent="-514350">
              <a:lnSpc>
                <a:spcPct val="115000"/>
              </a:lnSpc>
              <a:spcBef>
                <a:spcPts val="0"/>
              </a:spcBef>
              <a:spcAft>
                <a:spcPts val="800"/>
              </a:spcAft>
              <a:buFont typeface="+mj-lt"/>
              <a:buAutoNum type="arabicPeriod"/>
              <a:tabLst>
                <a:tab pos="457200" algn="l"/>
              </a:tabLst>
            </a:pPr>
            <a:r>
              <a:rPr lang="en-US" sz="12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US-</a:t>
            </a:r>
            <a:r>
              <a:rPr lang="en-US" sz="1200" kern="1800" dirty="0" err="1">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EvM</a:t>
            </a:r>
            <a:r>
              <a:rPr lang="en-US" sz="12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 Everglades Saltwater intrusion marsh, 2020-present, wetland  (salinity &gt;18 </a:t>
            </a:r>
            <a:r>
              <a:rPr lang="en-US" sz="1200" kern="1800" dirty="0" err="1">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psu</a:t>
            </a:r>
            <a:r>
              <a:rPr lang="en-US" sz="12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 Florida</a:t>
            </a:r>
          </a:p>
          <a:p>
            <a:pPr marL="514350" indent="-514350">
              <a:lnSpc>
                <a:spcPct val="115000"/>
              </a:lnSpc>
              <a:spcBef>
                <a:spcPts val="0"/>
              </a:spcBef>
              <a:spcAft>
                <a:spcPts val="800"/>
              </a:spcAft>
              <a:buFont typeface="+mj-lt"/>
              <a:buAutoNum type="arabicPeriod"/>
              <a:tabLst>
                <a:tab pos="457200" algn="l"/>
              </a:tabLst>
            </a:pPr>
            <a:r>
              <a:rPr lang="en-US" sz="12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US-KS3: Kennedy Space Center (salt marsh), 2017-2020, wetlands  (salinity&lt;6 ppt, &gt; 6 ppt) </a:t>
            </a:r>
            <a:r>
              <a:rPr lang="en-US" sz="1200" kern="1800" dirty="0" err="1">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fluxnet</a:t>
            </a:r>
            <a:r>
              <a:rPr lang="en-US" sz="12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 (2018), Florida</a:t>
            </a:r>
          </a:p>
          <a:p>
            <a:pPr marL="514350" indent="-514350">
              <a:lnSpc>
                <a:spcPct val="115000"/>
              </a:lnSpc>
              <a:spcBef>
                <a:spcPts val="0"/>
              </a:spcBef>
              <a:spcAft>
                <a:spcPts val="800"/>
              </a:spcAft>
              <a:buFont typeface="+mj-lt"/>
              <a:buAutoNum type="arabicPeriod"/>
              <a:tabLst>
                <a:tab pos="457200" algn="l"/>
              </a:tabLst>
            </a:pPr>
            <a:r>
              <a:rPr lang="en-US" sz="12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US-KS4: Kennedy Space Center (Spartina marsh), 2017-present (~ 6 ppt), wetlands, Florida</a:t>
            </a:r>
            <a:endParaRPr lang="en-US" sz="1200" kern="100" dirty="0">
              <a:solidFill>
                <a:schemeClr val="accent6"/>
              </a:solidFill>
              <a:latin typeface="Times New Roman" panose="02020603050405020304" pitchFamily="18" charset="0"/>
              <a:ea typeface="Aptos" panose="020B0004020202020204" pitchFamily="34" charset="0"/>
              <a:cs typeface="Times New Roman" panose="02020603050405020304" pitchFamily="18" charset="0"/>
            </a:endParaRPr>
          </a:p>
          <a:p>
            <a:pPr marL="514350" indent="-514350">
              <a:buFont typeface="+mj-lt"/>
              <a:buAutoNum type="arabicPeriod"/>
            </a:pPr>
            <a:r>
              <a:rPr lang="en-US" sz="1200" kern="100" dirty="0">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rPr>
              <a:t>US-EDN: Eden Landing Ecological Reserve, 2018-present, wetland , 30–35 ppt, mean 34 ppt (26-46 range), </a:t>
            </a:r>
            <a:r>
              <a:rPr lang="en-US" sz="1200" kern="100" dirty="0" err="1">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rPr>
              <a:t>fluxnet</a:t>
            </a:r>
            <a:r>
              <a:rPr lang="en-US" sz="1200" kern="100" dirty="0">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rPr>
              <a:t> (California), </a:t>
            </a:r>
            <a:r>
              <a:rPr lang="en-US" sz="1200" kern="100" dirty="0" err="1">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rPr>
              <a:t>fluxnet</a:t>
            </a:r>
            <a:endParaRPr lang="en-US" sz="1200" kern="100" dirty="0">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p>
            <a:pPr marL="514350" indent="-514350">
              <a:spcAft>
                <a:spcPts val="1500"/>
              </a:spcAft>
              <a:buFont typeface="+mj-lt"/>
              <a:buAutoNum type="arabicPeriod"/>
            </a:pPr>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US-Dmg: Dutch Slough Marsh Gilbert Tract, wetl</a:t>
            </a:r>
            <a:r>
              <a:rPr lang="en-US" sz="1200" dirty="0">
                <a:solidFill>
                  <a:schemeClr val="accent5">
                    <a:lumMod val="60000"/>
                    <a:lumOff val="40000"/>
                  </a:schemeClr>
                </a:solidFill>
                <a:latin typeface="Times New Roman" panose="02020603050405020304" pitchFamily="18" charset="0"/>
                <a:cs typeface="Times New Roman" panose="02020603050405020304" pitchFamily="18" charset="0"/>
              </a:rPr>
              <a:t>and 2021-present, California</a:t>
            </a:r>
          </a:p>
          <a:p>
            <a:pPr marL="514350" indent="-514350">
              <a:spcAft>
                <a:spcPts val="1500"/>
              </a:spcAft>
              <a:buFont typeface="+mj-lt"/>
              <a:buAutoNum type="arabicPeriod"/>
            </a:pPr>
            <a:r>
              <a:rPr lang="en-US" sz="1200" i="0" dirty="0">
                <a:solidFill>
                  <a:schemeClr val="accent5">
                    <a:lumMod val="20000"/>
                    <a:lumOff val="80000"/>
                  </a:schemeClr>
                </a:solidFill>
                <a:effectLst/>
                <a:latin typeface="Times New Roman" panose="02020603050405020304" pitchFamily="18" charset="0"/>
                <a:cs typeface="Times New Roman" panose="02020603050405020304" pitchFamily="18" charset="0"/>
              </a:rPr>
              <a:t>US-MCP: Moro </a:t>
            </a:r>
            <a:r>
              <a:rPr lang="en-US" sz="1200" i="0" dirty="0" err="1">
                <a:solidFill>
                  <a:schemeClr val="accent5">
                    <a:lumMod val="20000"/>
                    <a:lumOff val="80000"/>
                  </a:schemeClr>
                </a:solidFill>
                <a:effectLst/>
                <a:latin typeface="Times New Roman" panose="02020603050405020304" pitchFamily="18" charset="0"/>
                <a:cs typeface="Times New Roman" panose="02020603050405020304" pitchFamily="18" charset="0"/>
              </a:rPr>
              <a:t>Cojo</a:t>
            </a:r>
            <a:r>
              <a:rPr lang="en-US" sz="1200" i="0" dirty="0">
                <a:solidFill>
                  <a:schemeClr val="accent5">
                    <a:lumMod val="20000"/>
                    <a:lumOff val="80000"/>
                  </a:schemeClr>
                </a:solidFill>
                <a:effectLst/>
                <a:latin typeface="Times New Roman" panose="02020603050405020304" pitchFamily="18" charset="0"/>
                <a:cs typeface="Times New Roman" panose="02020603050405020304" pitchFamily="18" charset="0"/>
              </a:rPr>
              <a:t> Slough, PG&amp;E Treatment Wetland, 2023-present, wetlands California </a:t>
            </a:r>
          </a:p>
          <a:p>
            <a:pPr marL="514350" indent="-514350">
              <a:spcAft>
                <a:spcPts val="1500"/>
              </a:spcAft>
              <a:buFont typeface="+mj-lt"/>
              <a:buAutoNum type="arabicPeriod"/>
            </a:pPr>
            <a:r>
              <a:rPr lang="en-US" sz="1200" i="0" dirty="0">
                <a:solidFill>
                  <a:schemeClr val="accent5">
                    <a:lumMod val="20000"/>
                    <a:lumOff val="80000"/>
                  </a:schemeClr>
                </a:solidFill>
                <a:effectLst/>
                <a:latin typeface="Times New Roman" panose="02020603050405020304" pitchFamily="18" charset="0"/>
                <a:cs typeface="Times New Roman" panose="02020603050405020304" pitchFamily="18" charset="0"/>
              </a:rPr>
              <a:t>US-EKY: Elkhorn Slough Yampah Marsh, wetland 2022-present, California</a:t>
            </a:r>
          </a:p>
          <a:p>
            <a:pPr marL="514350" indent="-514350">
              <a:spcAft>
                <a:spcPts val="1500"/>
              </a:spcAft>
              <a:buFont typeface="+mj-lt"/>
              <a:buAutoNum type="arabicPeriod"/>
            </a:pPr>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US-EKP: Elkhorn Slough Porter Marsh, wetlands, 2022-present, California </a:t>
            </a:r>
          </a:p>
          <a:p>
            <a:pPr marL="514350" indent="-514350">
              <a:spcAft>
                <a:spcPts val="1500"/>
              </a:spcAft>
              <a:buFont typeface="+mj-lt"/>
              <a:buAutoNum type="arabicPeriod"/>
            </a:pPr>
            <a:r>
              <a:rPr lang="en-US" sz="1200" i="0" dirty="0">
                <a:solidFill>
                  <a:schemeClr val="accent5">
                    <a:lumMod val="20000"/>
                    <a:lumOff val="80000"/>
                  </a:schemeClr>
                </a:solidFill>
                <a:effectLst/>
                <a:latin typeface="Times New Roman" panose="02020603050405020304" pitchFamily="18" charset="0"/>
                <a:cs typeface="Times New Roman" panose="02020603050405020304" pitchFamily="18" charset="0"/>
              </a:rPr>
              <a:t>US-EKN: Elkhorn Slough North Marsh, 2023-present, 2023, California</a:t>
            </a:r>
          </a:p>
          <a:p>
            <a:pPr marL="514350" indent="-514350">
              <a:spcAft>
                <a:spcPts val="1500"/>
              </a:spcAft>
              <a:buFont typeface="+mj-lt"/>
              <a:buAutoNum type="arabicPeriod"/>
            </a:pPr>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a:t>
            </a:r>
            <a:r>
              <a:rPr lang="en-US" sz="1200" i="0" dirty="0" err="1">
                <a:solidFill>
                  <a:schemeClr val="accent5">
                    <a:lumMod val="60000"/>
                    <a:lumOff val="40000"/>
                  </a:schemeClr>
                </a:solidFill>
                <a:effectLst/>
                <a:latin typeface="Times New Roman" panose="02020603050405020304" pitchFamily="18" charset="0"/>
                <a:cs typeface="Times New Roman" panose="02020603050405020304" pitchFamily="18" charset="0"/>
              </a:rPr>
              <a:t>Myb</a:t>
            </a:r>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 Mayberry Wetland, </a:t>
            </a:r>
            <a:r>
              <a:rPr lang="en-US" sz="1200" b="0" i="0" dirty="0">
                <a:solidFill>
                  <a:schemeClr val="accent5">
                    <a:lumMod val="60000"/>
                    <a:lumOff val="40000"/>
                  </a:schemeClr>
                </a:solidFill>
                <a:effectLst/>
                <a:latin typeface="Times New Roman" panose="02020603050405020304" pitchFamily="18" charset="0"/>
                <a:cs typeface="Times New Roman" panose="02020603050405020304" pitchFamily="18" charset="0"/>
              </a:rPr>
              <a:t>CO2, CH4, H2O, 2010-present California, little far</a:t>
            </a:r>
          </a:p>
          <a:p>
            <a:pPr marL="514350" indent="-514350">
              <a:spcAft>
                <a:spcPts val="1500"/>
              </a:spcAft>
              <a:buFont typeface="+mj-lt"/>
              <a:buAutoNum type="arabicPeriod"/>
            </a:pPr>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US-Tw1: Twitchell Wetland West Pond , Reference site to compare US-</a:t>
            </a:r>
            <a:r>
              <a:rPr lang="en-US" sz="1200" i="0" dirty="0" err="1">
                <a:solidFill>
                  <a:schemeClr val="accent5">
                    <a:lumMod val="60000"/>
                    <a:lumOff val="40000"/>
                  </a:schemeClr>
                </a:solidFill>
                <a:effectLst/>
                <a:latin typeface="Times New Roman" panose="02020603050405020304" pitchFamily="18" charset="0"/>
                <a:cs typeface="Times New Roman" panose="02020603050405020304" pitchFamily="18" charset="0"/>
              </a:rPr>
              <a:t>Myb</a:t>
            </a:r>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 California, reference site  </a:t>
            </a:r>
          </a:p>
          <a:p>
            <a:pPr marL="514350" indent="-514350">
              <a:spcAft>
                <a:spcPts val="1500"/>
              </a:spcAft>
              <a:buFont typeface="+mj-lt"/>
              <a:buAutoNum type="arabicPeriod"/>
            </a:pPr>
            <a:r>
              <a:rPr lang="en-US" sz="1200" kern="1800" dirty="0">
                <a:solidFill>
                  <a:schemeClr val="accent5">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US-</a:t>
            </a:r>
            <a:r>
              <a:rPr lang="en-US" sz="1200" kern="1800" dirty="0" err="1">
                <a:solidFill>
                  <a:schemeClr val="accent5">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Srr</a:t>
            </a:r>
            <a:r>
              <a:rPr lang="en-US" sz="1200" kern="1800" dirty="0">
                <a:solidFill>
                  <a:schemeClr val="accent5">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Suisun marsh - Rush Ranch</a:t>
            </a:r>
            <a:r>
              <a:rPr lang="en-US" sz="1200" dirty="0">
                <a:solidFill>
                  <a:schemeClr val="accent5">
                    <a:lumMod val="60000"/>
                    <a:lumOff val="40000"/>
                  </a:schemeClr>
                </a:solidFill>
                <a:latin typeface="Times New Roman" panose="02020603050405020304" pitchFamily="18" charset="0"/>
                <a:cs typeface="Times New Roman" panose="02020603050405020304" pitchFamily="18" charset="0"/>
              </a:rPr>
              <a:t>, salinity </a:t>
            </a:r>
            <a:r>
              <a:rPr lang="en-US" sz="1200" b="0" i="0" dirty="0">
                <a:solidFill>
                  <a:schemeClr val="accent5">
                    <a:lumMod val="60000"/>
                    <a:lumOff val="40000"/>
                  </a:schemeClr>
                </a:solidFill>
                <a:effectLst/>
                <a:latin typeface="Times New Roman" panose="02020603050405020304" pitchFamily="18" charset="0"/>
                <a:cs typeface="Times New Roman" panose="02020603050405020304" pitchFamily="18" charset="0"/>
              </a:rPr>
              <a:t>4.6 (0.25–12.3), 2014-present, wetlands </a:t>
            </a:r>
            <a:r>
              <a:rPr lang="en-US" sz="1200" b="0" i="0" dirty="0" err="1">
                <a:solidFill>
                  <a:schemeClr val="accent5">
                    <a:lumMod val="60000"/>
                    <a:lumOff val="40000"/>
                  </a:schemeClr>
                </a:solidFill>
                <a:effectLst/>
                <a:latin typeface="Times New Roman" panose="02020603050405020304" pitchFamily="18" charset="0"/>
                <a:cs typeface="Times New Roman" panose="02020603050405020304" pitchFamily="18" charset="0"/>
              </a:rPr>
              <a:t>fluxnet</a:t>
            </a:r>
            <a:r>
              <a:rPr lang="en-US" sz="1200" dirty="0">
                <a:solidFill>
                  <a:schemeClr val="accent5">
                    <a:lumMod val="60000"/>
                    <a:lumOff val="40000"/>
                  </a:schemeClr>
                </a:solidFill>
                <a:latin typeface="Times New Roman" panose="02020603050405020304" pitchFamily="18" charset="0"/>
                <a:cs typeface="Times New Roman" panose="02020603050405020304" pitchFamily="18" charset="0"/>
              </a:rPr>
              <a:t> (2014-2017), </a:t>
            </a:r>
            <a:r>
              <a:rPr lang="en-US" sz="1200" kern="1800" dirty="0">
                <a:solidFill>
                  <a:schemeClr val="accent5">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wetlands (California) </a:t>
            </a:r>
            <a:r>
              <a:rPr lang="en-US" sz="1200" kern="1800" dirty="0" err="1">
                <a:solidFill>
                  <a:schemeClr val="accent5">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fluxnet</a:t>
            </a:r>
            <a:r>
              <a:rPr lang="en-US" sz="1200" kern="1800" dirty="0">
                <a:solidFill>
                  <a:schemeClr val="accent5">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endParaRPr>
          </a:p>
          <a:p>
            <a:endParaRPr lang="en-US" sz="1400" dirty="0"/>
          </a:p>
        </p:txBody>
      </p:sp>
    </p:spTree>
    <p:extLst>
      <p:ext uri="{BB962C8B-B14F-4D97-AF65-F5344CB8AC3E}">
        <p14:creationId xmlns:p14="http://schemas.microsoft.com/office/powerpoint/2010/main" val="4036516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23AFC4-A085-18F3-87A7-DC9AF2954E0F}"/>
              </a:ext>
            </a:extLst>
          </p:cNvPr>
          <p:cNvSpPr>
            <a:spLocks noGrp="1"/>
          </p:cNvSpPr>
          <p:nvPr>
            <p:ph idx="1"/>
          </p:nvPr>
        </p:nvSpPr>
        <p:spPr>
          <a:xfrm>
            <a:off x="599090" y="362607"/>
            <a:ext cx="10754710" cy="5940480"/>
          </a:xfrm>
        </p:spPr>
        <p:txBody>
          <a:bodyPr>
            <a:normAutofit fontScale="62500" lnSpcReduction="20000"/>
          </a:bodyPr>
          <a:lstStyle/>
          <a:p>
            <a:pPr marL="0" indent="0">
              <a:lnSpc>
                <a:spcPct val="115000"/>
              </a:lnSpc>
              <a:spcBef>
                <a:spcPts val="0"/>
              </a:spcBef>
              <a:spcAft>
                <a:spcPts val="1500"/>
              </a:spcAft>
              <a:buNone/>
              <a:tabLst>
                <a:tab pos="457200" algn="l"/>
              </a:tabLst>
            </a:pPr>
            <a:r>
              <a:rPr lang="en-US" sz="2900" kern="100" dirty="0">
                <a:solidFill>
                  <a:schemeClr val="accent4">
                    <a:lumMod val="40000"/>
                    <a:lumOff val="60000"/>
                  </a:schemeClr>
                </a:solidFill>
                <a:latin typeface="Times New Roman" panose="02020603050405020304" pitchFamily="18" charset="0"/>
                <a:ea typeface="Aptos" panose="020B0004020202020204" pitchFamily="34" charset="0"/>
                <a:cs typeface="Times New Roman" panose="02020603050405020304" pitchFamily="18" charset="0"/>
              </a:rPr>
              <a:t>15</a:t>
            </a:r>
            <a:r>
              <a:rPr lang="en-US" sz="2900" kern="100" dirty="0">
                <a:solidFill>
                  <a:schemeClr val="accent4">
                    <a:lumMod val="40000"/>
                    <a:lumOff val="60000"/>
                  </a:schemeClr>
                </a:solidFill>
                <a:effectLst/>
                <a:latin typeface="Times New Roman" panose="02020603050405020304" pitchFamily="18" charset="0"/>
                <a:ea typeface="Aptos" panose="020B0004020202020204" pitchFamily="34" charset="0"/>
                <a:cs typeface="Times New Roman" panose="02020603050405020304" pitchFamily="18" charset="0"/>
              </a:rPr>
              <a:t>. US-HRP: Herring River Phragmites, wetland, 2017-present, wetland, salinity </a:t>
            </a:r>
            <a:r>
              <a:rPr lang="en-US" sz="2900" b="0" i="0" dirty="0">
                <a:solidFill>
                  <a:schemeClr val="accent4">
                    <a:lumMod val="40000"/>
                    <a:lumOff val="60000"/>
                  </a:schemeClr>
                </a:solidFill>
                <a:effectLst/>
                <a:latin typeface="Times New Roman" panose="02020603050405020304" pitchFamily="18" charset="0"/>
                <a:cs typeface="Times New Roman" panose="02020603050405020304" pitchFamily="18" charset="0"/>
              </a:rPr>
              <a:t>4–25 </a:t>
            </a:r>
            <a:r>
              <a:rPr lang="en-US" sz="2900" b="0" i="0" dirty="0" err="1">
                <a:solidFill>
                  <a:schemeClr val="accent4">
                    <a:lumMod val="40000"/>
                    <a:lumOff val="60000"/>
                  </a:schemeClr>
                </a:solidFill>
                <a:effectLst/>
                <a:latin typeface="Times New Roman" panose="02020603050405020304" pitchFamily="18" charset="0"/>
                <a:cs typeface="Times New Roman" panose="02020603050405020304" pitchFamily="18" charset="0"/>
              </a:rPr>
              <a:t>psu</a:t>
            </a:r>
            <a:r>
              <a:rPr lang="en-US" sz="2900" b="0" i="0" dirty="0">
                <a:solidFill>
                  <a:schemeClr val="accent4">
                    <a:lumMod val="40000"/>
                    <a:lumOff val="60000"/>
                  </a:schemeClr>
                </a:solidFill>
                <a:effectLst/>
                <a:latin typeface="Times New Roman" panose="02020603050405020304" pitchFamily="18" charset="0"/>
                <a:cs typeface="Times New Roman" panose="02020603050405020304" pitchFamily="18" charset="0"/>
              </a:rPr>
              <a:t>, (</a:t>
            </a:r>
            <a:r>
              <a:rPr lang="en-US" sz="2900" kern="100" dirty="0">
                <a:solidFill>
                  <a:schemeClr val="accent4">
                    <a:lumMod val="40000"/>
                    <a:lumOff val="60000"/>
                  </a:schemeClr>
                </a:solidFill>
                <a:effectLst/>
                <a:latin typeface="Times New Roman" panose="02020603050405020304" pitchFamily="18" charset="0"/>
                <a:ea typeface="Aptos" panose="020B0004020202020204" pitchFamily="34" charset="0"/>
                <a:cs typeface="Times New Roman" panose="02020603050405020304" pitchFamily="18" charset="0"/>
              </a:rPr>
              <a:t>Cape Cod, Massachusetts)</a:t>
            </a:r>
            <a:endParaRPr lang="en-US" sz="2900" kern="1800" dirty="0">
              <a:solidFill>
                <a:schemeClr val="accent4">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2900" kern="1800" dirty="0">
                <a:solidFill>
                  <a:schemeClr val="accent4">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16. US-BSM: Barnstable Great Marsh, 2017-present, wetlands, cape code, Massachusetts </a:t>
            </a:r>
          </a:p>
          <a:p>
            <a:pPr marL="0" marR="0" lvl="0" indent="0">
              <a:lnSpc>
                <a:spcPct val="115000"/>
              </a:lnSpc>
              <a:spcBef>
                <a:spcPts val="0"/>
              </a:spcBef>
              <a:spcAft>
                <a:spcPts val="1500"/>
              </a:spcAft>
              <a:buNone/>
              <a:tabLst>
                <a:tab pos="457200" algn="l"/>
              </a:tabLst>
            </a:pPr>
            <a:r>
              <a:rPr lang="en-US" sz="2900" kern="1800" dirty="0">
                <a:solidFill>
                  <a:schemeClr val="accent1">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17. US-PHM: Plum Island High Marsh, 2013-present, salt marsh, wetland, Massachusetts </a:t>
            </a:r>
          </a:p>
          <a:p>
            <a:pPr marL="0" indent="0">
              <a:lnSpc>
                <a:spcPct val="115000"/>
              </a:lnSpc>
              <a:spcBef>
                <a:spcPts val="0"/>
              </a:spcBef>
              <a:spcAft>
                <a:spcPts val="1500"/>
              </a:spcAft>
              <a:buNone/>
              <a:tabLst>
                <a:tab pos="457200" algn="l"/>
              </a:tabLst>
            </a:pPr>
            <a:r>
              <a:rPr lang="en-US" sz="2900" kern="1800" dirty="0">
                <a:solidFill>
                  <a:schemeClr val="accent4">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18. US-PLM: Plum Island Low Marsh, 2015-present, </a:t>
            </a:r>
            <a:r>
              <a:rPr lang="en-US" sz="2900" b="0" i="0" dirty="0">
                <a:solidFill>
                  <a:schemeClr val="accent4">
                    <a:lumMod val="40000"/>
                    <a:lumOff val="60000"/>
                  </a:schemeClr>
                </a:solidFill>
                <a:effectLst/>
                <a:latin typeface="Times New Roman" panose="02020603050405020304" pitchFamily="18" charset="0"/>
                <a:cs typeface="Times New Roman" panose="02020603050405020304" pitchFamily="18" charset="0"/>
              </a:rPr>
              <a:t>29.1 (25–33), mean (range), wetlands</a:t>
            </a:r>
            <a:r>
              <a:rPr lang="en-US" sz="2900" dirty="0">
                <a:solidFill>
                  <a:schemeClr val="accent4">
                    <a:lumMod val="40000"/>
                    <a:lumOff val="60000"/>
                  </a:schemeClr>
                </a:solidFill>
                <a:latin typeface="Times New Roman" panose="02020603050405020304" pitchFamily="18" charset="0"/>
                <a:cs typeface="Times New Roman" panose="02020603050405020304" pitchFamily="18" charset="0"/>
              </a:rPr>
              <a:t>, Massachusetts </a:t>
            </a:r>
          </a:p>
          <a:p>
            <a:pPr marL="0" indent="0">
              <a:lnSpc>
                <a:spcPct val="115000"/>
              </a:lnSpc>
              <a:spcBef>
                <a:spcPts val="0"/>
              </a:spcBef>
              <a:spcAft>
                <a:spcPts val="1500"/>
              </a:spcAft>
              <a:buNone/>
              <a:tabLst>
                <a:tab pos="457200" algn="l"/>
              </a:tabLst>
            </a:pPr>
            <a:r>
              <a:rPr lang="en-US" sz="2900" i="0" dirty="0">
                <a:solidFill>
                  <a:schemeClr val="accent4">
                    <a:lumMod val="40000"/>
                    <a:lumOff val="60000"/>
                  </a:schemeClr>
                </a:solidFill>
                <a:effectLst/>
                <a:latin typeface="Times New Roman" panose="02020603050405020304" pitchFamily="18" charset="0"/>
                <a:cs typeface="Times New Roman" panose="02020603050405020304" pitchFamily="18" charset="0"/>
              </a:rPr>
              <a:t>19. US-</a:t>
            </a:r>
            <a:r>
              <a:rPr lang="en-US" sz="2900" i="0" dirty="0" err="1">
                <a:solidFill>
                  <a:schemeClr val="accent4">
                    <a:lumMod val="40000"/>
                    <a:lumOff val="60000"/>
                  </a:schemeClr>
                </a:solidFill>
                <a:effectLst/>
                <a:latin typeface="Times New Roman" panose="02020603050405020304" pitchFamily="18" charset="0"/>
                <a:cs typeface="Times New Roman" panose="02020603050405020304" pitchFamily="18" charset="0"/>
              </a:rPr>
              <a:t>PLo</a:t>
            </a:r>
            <a:r>
              <a:rPr lang="en-US" sz="2900" i="0" dirty="0">
                <a:solidFill>
                  <a:schemeClr val="accent4">
                    <a:lumMod val="40000"/>
                    <a:lumOff val="60000"/>
                  </a:schemeClr>
                </a:solidFill>
                <a:effectLst/>
                <a:latin typeface="Times New Roman" panose="02020603050405020304" pitchFamily="18" charset="0"/>
                <a:cs typeface="Times New Roman" panose="02020603050405020304" pitchFamily="18" charset="0"/>
              </a:rPr>
              <a:t>: Plum Island Oligohaline Marsh, 2022-present , wetland, Massachusetts </a:t>
            </a:r>
            <a:endParaRPr lang="en-US" sz="2900" kern="100" dirty="0">
              <a:solidFill>
                <a:schemeClr val="accent4">
                  <a:lumMod val="40000"/>
                  <a:lumOff val="60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2900" kern="1800" dirty="0">
                <a:solidFill>
                  <a:schemeClr val="accent2">
                    <a:lumMod val="75000"/>
                  </a:schemeClr>
                </a:solidFill>
                <a:latin typeface="Times New Roman" panose="02020603050405020304" pitchFamily="18" charset="0"/>
                <a:ea typeface="Times New Roman" panose="02020603050405020304" pitchFamily="18" charset="0"/>
                <a:cs typeface="Times New Roman" panose="02020603050405020304" pitchFamily="18" charset="0"/>
              </a:rPr>
              <a:t>20</a:t>
            </a:r>
            <a:r>
              <a:rPr lang="en-US" sz="2900" kern="1800" dirty="0">
                <a:solidFill>
                  <a:schemeClr val="accent2">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US-HB1: North Inlet Crab Haul Creek, 2017-present, wetland, salinity </a:t>
            </a:r>
            <a:r>
              <a:rPr lang="en-US" sz="2900" b="0" i="0" dirty="0">
                <a:solidFill>
                  <a:schemeClr val="accent2">
                    <a:lumMod val="75000"/>
                  </a:schemeClr>
                </a:solidFill>
                <a:effectLst/>
                <a:latin typeface="Times New Roman" panose="02020603050405020304" pitchFamily="18" charset="0"/>
                <a:cs typeface="Times New Roman" panose="02020603050405020304" pitchFamily="18" charset="0"/>
              </a:rPr>
              <a:t>32 PSU, </a:t>
            </a:r>
            <a:r>
              <a:rPr lang="en-US" sz="2900" b="0" i="0" dirty="0" err="1">
                <a:solidFill>
                  <a:schemeClr val="accent2">
                    <a:lumMod val="75000"/>
                  </a:schemeClr>
                </a:solidFill>
                <a:effectLst/>
                <a:latin typeface="Times New Roman" panose="02020603050405020304" pitchFamily="18" charset="0"/>
                <a:cs typeface="Times New Roman" panose="02020603050405020304" pitchFamily="18" charset="0"/>
              </a:rPr>
              <a:t>fluxnet</a:t>
            </a:r>
            <a:r>
              <a:rPr lang="en-US" sz="2900" b="0" i="0" dirty="0">
                <a:solidFill>
                  <a:schemeClr val="accent2">
                    <a:lumMod val="75000"/>
                  </a:schemeClr>
                </a:solidFill>
                <a:effectLst/>
                <a:latin typeface="Times New Roman" panose="02020603050405020304" pitchFamily="18" charset="0"/>
                <a:cs typeface="Times New Roman" panose="02020603050405020304" pitchFamily="18" charset="0"/>
              </a:rPr>
              <a:t> (2019), South Carolina</a:t>
            </a:r>
            <a:endParaRPr lang="en-US" sz="2900" dirty="0">
              <a:solidFill>
                <a:schemeClr val="accent2">
                  <a:lumMod val="75000"/>
                </a:schemeClr>
              </a:solidFill>
              <a:latin typeface="Times New Roman" panose="02020603050405020304" pitchFamily="18"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2900" i="0" dirty="0">
                <a:solidFill>
                  <a:schemeClr val="accent2">
                    <a:lumMod val="75000"/>
                  </a:schemeClr>
                </a:solidFill>
                <a:effectLst/>
                <a:latin typeface="Times New Roman" panose="02020603050405020304" pitchFamily="18" charset="0"/>
                <a:cs typeface="Times New Roman" panose="02020603050405020304" pitchFamily="18" charset="0"/>
              </a:rPr>
              <a:t>21. US-HB2: Hobcaw Barony Mature Longleaf Pine, 2018 present South Carolina, close to coast</a:t>
            </a:r>
          </a:p>
          <a:p>
            <a:pPr marL="0" marR="0" lvl="0" indent="0">
              <a:lnSpc>
                <a:spcPct val="115000"/>
              </a:lnSpc>
              <a:spcBef>
                <a:spcPts val="0"/>
              </a:spcBef>
              <a:spcAft>
                <a:spcPts val="1500"/>
              </a:spcAft>
              <a:buNone/>
              <a:tabLst>
                <a:tab pos="457200" algn="l"/>
              </a:tabLst>
            </a:pPr>
            <a:r>
              <a:rPr lang="en-US" sz="2900" i="0" dirty="0">
                <a:solidFill>
                  <a:schemeClr val="accent2">
                    <a:lumMod val="75000"/>
                  </a:schemeClr>
                </a:solidFill>
                <a:effectLst/>
                <a:latin typeface="Times New Roman" panose="02020603050405020304" pitchFamily="18" charset="0"/>
                <a:cs typeface="Times New Roman" panose="02020603050405020304" pitchFamily="18" charset="0"/>
              </a:rPr>
              <a:t>22. US-HB3: Hobcaw Barony Longleaf Pine Restoration, 2019-present south Carolina, close to coast </a:t>
            </a:r>
          </a:p>
          <a:p>
            <a:pPr marL="0" indent="0">
              <a:spcAft>
                <a:spcPts val="1500"/>
              </a:spcAft>
              <a:buNone/>
            </a:pPr>
            <a:r>
              <a:rPr lang="en-US" sz="2900" i="0" dirty="0">
                <a:solidFill>
                  <a:schemeClr val="accent2">
                    <a:lumMod val="40000"/>
                    <a:lumOff val="60000"/>
                  </a:schemeClr>
                </a:solidFill>
                <a:effectLst/>
                <a:latin typeface="Times New Roman" panose="02020603050405020304" pitchFamily="18" charset="0"/>
                <a:cs typeface="Times New Roman" panose="02020603050405020304" pitchFamily="18" charset="0"/>
              </a:rPr>
              <a:t>23. US-</a:t>
            </a:r>
            <a:r>
              <a:rPr lang="en-US" sz="2900" i="0" dirty="0" err="1">
                <a:solidFill>
                  <a:schemeClr val="accent2">
                    <a:lumMod val="40000"/>
                    <a:lumOff val="60000"/>
                  </a:schemeClr>
                </a:solidFill>
                <a:effectLst/>
                <a:latin typeface="Times New Roman" panose="02020603050405020304" pitchFamily="18" charset="0"/>
                <a:cs typeface="Times New Roman" panose="02020603050405020304" pitchFamily="18" charset="0"/>
              </a:rPr>
              <a:t>StS</a:t>
            </a:r>
            <a:r>
              <a:rPr lang="en-US" sz="2900" i="0" dirty="0">
                <a:solidFill>
                  <a:schemeClr val="accent2">
                    <a:lumMod val="40000"/>
                    <a:lumOff val="60000"/>
                  </a:schemeClr>
                </a:solidFill>
                <a:effectLst/>
                <a:latin typeface="Times New Roman" panose="02020603050405020304" pitchFamily="18" charset="0"/>
                <a:cs typeface="Times New Roman" panose="02020603050405020304" pitchFamily="18" charset="0"/>
              </a:rPr>
              <a:t>: Strawberry Swamp, 2015-2016, wetland, south Carolina </a:t>
            </a:r>
          </a:p>
          <a:p>
            <a:pPr marL="0" indent="0">
              <a:lnSpc>
                <a:spcPct val="115000"/>
              </a:lnSpc>
              <a:spcBef>
                <a:spcPts val="0"/>
              </a:spcBef>
              <a:spcAft>
                <a:spcPts val="800"/>
              </a:spcAft>
              <a:buNone/>
              <a:tabLst>
                <a:tab pos="457200" algn="l"/>
              </a:tabLst>
            </a:pPr>
            <a:r>
              <a:rPr lang="en-US" sz="3200" dirty="0">
                <a:solidFill>
                  <a:srgbClr val="FF0000"/>
                </a:solidFill>
                <a:latin typeface="Times New Roman" panose="02020603050405020304" pitchFamily="18" charset="0"/>
                <a:cs typeface="Times New Roman" panose="02020603050405020304" pitchFamily="18" charset="0"/>
              </a:rPr>
              <a:t>24</a:t>
            </a:r>
            <a:r>
              <a:rPr lang="en-US" sz="3200" i="0" dirty="0">
                <a:solidFill>
                  <a:srgbClr val="FF0000"/>
                </a:solidFill>
                <a:effectLst/>
                <a:latin typeface="Times New Roman" panose="02020603050405020304" pitchFamily="18" charset="0"/>
                <a:cs typeface="Times New Roman" panose="02020603050405020304" pitchFamily="18" charset="0"/>
              </a:rPr>
              <a:t>. US-LA1: Pointe-aux-Chenes Brackish Marsh</a:t>
            </a:r>
            <a:r>
              <a:rPr lang="en-US" sz="3200" b="1" i="0" dirty="0">
                <a:solidFill>
                  <a:srgbClr val="FF0000"/>
                </a:solidFill>
                <a:effectLst/>
                <a:latin typeface="Times New Roman" panose="02020603050405020304" pitchFamily="18" charset="0"/>
                <a:cs typeface="Times New Roman" panose="02020603050405020304" pitchFamily="18" charset="0"/>
              </a:rPr>
              <a:t>,</a:t>
            </a:r>
            <a:r>
              <a:rPr lang="es-ES" sz="3200" kern="100" dirty="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s-ES" sz="3200" kern="100" dirty="0" err="1">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wetland</a:t>
            </a:r>
            <a:r>
              <a:rPr lang="es-ES" sz="3200" kern="100" dirty="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3200" b="0" i="0" dirty="0">
                <a:solidFill>
                  <a:srgbClr val="FF0000"/>
                </a:solidFill>
                <a:effectLst/>
                <a:latin typeface="Times New Roman" panose="02020603050405020304" pitchFamily="18" charset="0"/>
                <a:cs typeface="Times New Roman" panose="02020603050405020304" pitchFamily="18" charset="0"/>
              </a:rPr>
              <a:t>Louisiana), 2011-2012</a:t>
            </a:r>
          </a:p>
          <a:p>
            <a:pPr marL="0" indent="0">
              <a:lnSpc>
                <a:spcPct val="115000"/>
              </a:lnSpc>
              <a:spcBef>
                <a:spcPts val="0"/>
              </a:spcBef>
              <a:spcAft>
                <a:spcPts val="800"/>
              </a:spcAft>
              <a:buNone/>
              <a:tabLst>
                <a:tab pos="457200" algn="l"/>
              </a:tabLst>
            </a:pPr>
            <a:r>
              <a:rPr lang="es-ES" sz="3200" i="0" dirty="0">
                <a:solidFill>
                  <a:srgbClr val="FF0000"/>
                </a:solidFill>
                <a:effectLst/>
                <a:latin typeface="Times New Roman" panose="02020603050405020304" pitchFamily="18" charset="0"/>
                <a:cs typeface="Times New Roman" panose="02020603050405020304" pitchFamily="18" charset="0"/>
              </a:rPr>
              <a:t>25. US-LA2: Salvador WMA </a:t>
            </a:r>
            <a:r>
              <a:rPr lang="es-ES" sz="3200" i="0" dirty="0" err="1">
                <a:solidFill>
                  <a:srgbClr val="FF0000"/>
                </a:solidFill>
                <a:effectLst/>
                <a:latin typeface="Times New Roman" panose="02020603050405020304" pitchFamily="18" charset="0"/>
                <a:cs typeface="Times New Roman" panose="02020603050405020304" pitchFamily="18" charset="0"/>
              </a:rPr>
              <a:t>Freshwater</a:t>
            </a:r>
            <a:r>
              <a:rPr lang="es-ES" sz="3200" i="0" dirty="0">
                <a:solidFill>
                  <a:srgbClr val="FF0000"/>
                </a:solidFill>
                <a:effectLst/>
                <a:latin typeface="Times New Roman" panose="02020603050405020304" pitchFamily="18" charset="0"/>
                <a:cs typeface="Times New Roman" panose="02020603050405020304" pitchFamily="18" charset="0"/>
              </a:rPr>
              <a:t> Marsh,  2011, 2022, </a:t>
            </a:r>
            <a:r>
              <a:rPr lang="es-ES" sz="3200" i="0" dirty="0" err="1">
                <a:solidFill>
                  <a:srgbClr val="FF0000"/>
                </a:solidFill>
                <a:effectLst/>
                <a:latin typeface="Times New Roman" panose="02020603050405020304" pitchFamily="18" charset="0"/>
                <a:cs typeface="Times New Roman" panose="02020603050405020304" pitchFamily="18" charset="0"/>
              </a:rPr>
              <a:t>wetland</a:t>
            </a:r>
            <a:r>
              <a:rPr lang="es-ES" sz="3200" i="0" dirty="0">
                <a:solidFill>
                  <a:srgbClr val="FF0000"/>
                </a:solidFill>
                <a:effectLst/>
                <a:latin typeface="Times New Roman" panose="02020603050405020304" pitchFamily="18" charset="0"/>
                <a:cs typeface="Times New Roman" panose="02020603050405020304" pitchFamily="18" charset="0"/>
              </a:rPr>
              <a:t> </a:t>
            </a:r>
            <a:r>
              <a:rPr lang="en-US" sz="3200" b="0" i="0" dirty="0">
                <a:solidFill>
                  <a:srgbClr val="FF0000"/>
                </a:solidFill>
                <a:effectLst/>
                <a:latin typeface="Times New Roman" panose="02020603050405020304" pitchFamily="18" charset="0"/>
                <a:cs typeface="Times New Roman" panose="02020603050405020304" pitchFamily="18" charset="0"/>
              </a:rPr>
              <a:t>Louisiana</a:t>
            </a:r>
            <a:endParaRPr lang="en-US" sz="3200" kern="100" dirty="0">
              <a:solidFill>
                <a:srgbClr val="FF0000"/>
              </a:solidFill>
              <a:latin typeface="Times New Roman" panose="02020603050405020304" pitchFamily="18" charset="0"/>
              <a:ea typeface="Aptos" panose="020B0004020202020204" pitchFamily="34" charset="0"/>
              <a:cs typeface="Times New Roman" panose="02020603050405020304" pitchFamily="18" charset="0"/>
            </a:endParaRPr>
          </a:p>
          <a:p>
            <a:pPr marL="0" indent="0">
              <a:lnSpc>
                <a:spcPct val="115000"/>
              </a:lnSpc>
              <a:spcBef>
                <a:spcPts val="0"/>
              </a:spcBef>
              <a:spcAft>
                <a:spcPts val="1500"/>
              </a:spcAft>
              <a:buNone/>
              <a:tabLst>
                <a:tab pos="457200" algn="l"/>
              </a:tabLst>
            </a:pPr>
            <a:r>
              <a:rPr lang="it-IT" sz="3200" kern="100" dirty="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26. US-LA3: Barataria Bay Saline Marsh, 2019-present , wetlands, salinity range (6-18 ppt) </a:t>
            </a:r>
            <a:r>
              <a:rPr lang="es-ES" sz="3200" kern="100" dirty="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a:t>
            </a:r>
            <a:r>
              <a:rPr lang="en-US" sz="3200" b="0" i="0" dirty="0">
                <a:solidFill>
                  <a:srgbClr val="FF0000"/>
                </a:solidFill>
                <a:effectLst/>
                <a:latin typeface="Times New Roman" panose="02020603050405020304" pitchFamily="18" charset="0"/>
                <a:cs typeface="Times New Roman" panose="02020603050405020304" pitchFamily="18" charset="0"/>
              </a:rPr>
              <a:t>Louisiana)</a:t>
            </a:r>
          </a:p>
          <a:p>
            <a:pPr marL="0" indent="0">
              <a:spcAft>
                <a:spcPts val="1500"/>
              </a:spcAft>
              <a:buNone/>
            </a:pPr>
            <a:endParaRPr lang="en-US" sz="2900" i="0" dirty="0">
              <a:solidFill>
                <a:schemeClr val="accent2">
                  <a:lumMod val="75000"/>
                </a:schemeClr>
              </a:solidFill>
              <a:effectLst/>
              <a:latin typeface="Times New Roman" panose="02020603050405020304" pitchFamily="18"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endParaRPr lang="en-US" sz="3300" kern="1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238561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ED2F20-9DCB-33D8-04D6-65D8F34D094F}"/>
              </a:ext>
            </a:extLst>
          </p:cNvPr>
          <p:cNvSpPr>
            <a:spLocks noGrp="1"/>
          </p:cNvSpPr>
          <p:nvPr>
            <p:ph idx="1"/>
          </p:nvPr>
        </p:nvSpPr>
        <p:spPr>
          <a:xfrm>
            <a:off x="370490" y="386080"/>
            <a:ext cx="10807136" cy="5797973"/>
          </a:xfrm>
        </p:spPr>
        <p:txBody>
          <a:bodyPr>
            <a:normAutofit fontScale="85000" lnSpcReduction="20000"/>
          </a:bodyPr>
          <a:lstStyle/>
          <a:p>
            <a:pPr marL="0" indent="0">
              <a:spcAft>
                <a:spcPts val="1500"/>
              </a:spcAft>
              <a:buNone/>
            </a:pPr>
            <a:r>
              <a:rPr lang="en-US" sz="2800" kern="1800" dirty="0">
                <a:solidFill>
                  <a:schemeClr val="accent5">
                    <a:lumMod val="40000"/>
                    <a:lumOff val="60000"/>
                  </a:schemeClr>
                </a:solidFill>
                <a:latin typeface="Times New Roman" panose="02020603050405020304" pitchFamily="18" charset="0"/>
                <a:ea typeface="Aptos" panose="020B0004020202020204" pitchFamily="34" charset="0"/>
                <a:cs typeface="Times New Roman" panose="02020603050405020304" pitchFamily="18" charset="0"/>
              </a:rPr>
              <a:t>27. US-HPY,</a:t>
            </a:r>
            <a:r>
              <a:rPr lang="en-US" sz="2800" b="1" i="0" dirty="0">
                <a:solidFill>
                  <a:schemeClr val="accent5">
                    <a:lumMod val="40000"/>
                    <a:lumOff val="60000"/>
                  </a:schemeClr>
                </a:solidFill>
                <a:effectLst/>
                <a:latin typeface="Times New Roman" panose="02020603050405020304" pitchFamily="18" charset="0"/>
                <a:cs typeface="Times New Roman" panose="02020603050405020304" pitchFamily="18" charset="0"/>
              </a:rPr>
              <a:t> </a:t>
            </a:r>
            <a:r>
              <a:rPr lang="en-US" sz="2800" i="0" dirty="0">
                <a:solidFill>
                  <a:schemeClr val="accent5">
                    <a:lumMod val="40000"/>
                    <a:lumOff val="60000"/>
                  </a:schemeClr>
                </a:solidFill>
                <a:effectLst/>
                <a:latin typeface="Times New Roman" panose="02020603050405020304" pitchFamily="18" charset="0"/>
                <a:cs typeface="Times New Roman" panose="02020603050405020304" pitchFamily="18" charset="0"/>
              </a:rPr>
              <a:t>Hawk Property, </a:t>
            </a:r>
            <a:r>
              <a:rPr lang="en-US" sz="2800" kern="1800" dirty="0">
                <a:solidFill>
                  <a:schemeClr val="accent5">
                    <a:lumMod val="40000"/>
                    <a:lumOff val="60000"/>
                  </a:schemeClr>
                </a:solidFill>
                <a:latin typeface="Times New Roman" panose="02020603050405020304" pitchFamily="18" charset="0"/>
                <a:ea typeface="Aptos" panose="020B0004020202020204" pitchFamily="34" charset="0"/>
                <a:cs typeface="Times New Roman" panose="02020603050405020304" pitchFamily="18" charset="0"/>
              </a:rPr>
              <a:t> 2012-2019, wetland, urban tidal, New Jersey, river near bay</a:t>
            </a:r>
          </a:p>
          <a:p>
            <a:pPr marL="0" indent="0">
              <a:spcAft>
                <a:spcPts val="1500"/>
              </a:spcAft>
              <a:buNone/>
            </a:pPr>
            <a:r>
              <a:rPr lang="en-US" sz="2800" kern="1800" dirty="0">
                <a:solidFill>
                  <a:schemeClr val="accent5">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28. US-MRM. Tidal marsh, salinity (1-10 ppt), 2009-2019, wetlands (New Jersey) </a:t>
            </a:r>
            <a:r>
              <a:rPr lang="en-US" sz="2800" kern="1800" dirty="0">
                <a:solidFill>
                  <a:schemeClr val="accent5">
                    <a:lumMod val="40000"/>
                    <a:lumOff val="60000"/>
                  </a:schemeClr>
                </a:solidFill>
                <a:latin typeface="Times New Roman" panose="02020603050405020304" pitchFamily="18" charset="0"/>
                <a:ea typeface="Times New Roman" panose="02020603050405020304" pitchFamily="18" charset="0"/>
                <a:cs typeface="Times New Roman" panose="02020603050405020304" pitchFamily="18" charset="0"/>
              </a:rPr>
              <a:t>river near bay</a:t>
            </a:r>
            <a:r>
              <a:rPr lang="en-US" sz="2800" kern="1800" dirty="0">
                <a:solidFill>
                  <a:schemeClr val="accent5">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salinity</a:t>
            </a:r>
            <a:endParaRPr lang="en-US" sz="2800" kern="100" dirty="0">
              <a:solidFill>
                <a:schemeClr val="accent5">
                  <a:lumMod val="40000"/>
                  <a:lumOff val="6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15000"/>
              </a:lnSpc>
              <a:spcBef>
                <a:spcPts val="0"/>
              </a:spcBef>
              <a:spcAft>
                <a:spcPts val="800"/>
              </a:spcAft>
              <a:buNone/>
              <a:tabLst>
                <a:tab pos="457200" algn="l"/>
              </a:tabLst>
            </a:pP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29. US-A03: ARM-AMF3-Oliktok. Alaska </a:t>
            </a:r>
            <a:r>
              <a:rPr lang="en-US" sz="2400" kern="100" dirty="0" err="1">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tunda</a:t>
            </a: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 BSV (Barren Sparse Vegetation:  2014-present (Alaska)</a:t>
            </a:r>
          </a:p>
          <a:p>
            <a:pPr marL="0" indent="0">
              <a:lnSpc>
                <a:spcPct val="115000"/>
              </a:lnSpc>
              <a:spcBef>
                <a:spcPts val="0"/>
              </a:spcBef>
              <a:spcAft>
                <a:spcPts val="800"/>
              </a:spcAft>
              <a:buNone/>
              <a:tabLst>
                <a:tab pos="457200" algn="l"/>
              </a:tabLst>
            </a:pPr>
            <a:r>
              <a:rPr lang="en-US" sz="2400" kern="100" dirty="0">
                <a:solidFill>
                  <a:schemeClr val="tx2">
                    <a:lumMod val="50000"/>
                    <a:lumOff val="50000"/>
                  </a:schemeClr>
                </a:solidFill>
                <a:latin typeface="Times New Roman" panose="02020603050405020304" pitchFamily="18" charset="0"/>
                <a:ea typeface="Aptos" panose="020B0004020202020204" pitchFamily="34" charset="0"/>
                <a:cs typeface="Times New Roman" panose="02020603050405020304" pitchFamily="18" charset="0"/>
              </a:rPr>
              <a:t>30</a:t>
            </a: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 US-A10: ARM-NSA-Barrow, 2012-present (Barren sparse vegetation), Tundra (Alaska)</a:t>
            </a:r>
          </a:p>
          <a:p>
            <a:pPr marL="0" marR="0" lvl="0" indent="0">
              <a:lnSpc>
                <a:spcPct val="115000"/>
              </a:lnSpc>
              <a:spcBef>
                <a:spcPts val="0"/>
              </a:spcBef>
              <a:spcAft>
                <a:spcPts val="800"/>
              </a:spcAft>
              <a:buNone/>
              <a:tabLst>
                <a:tab pos="457200" algn="l"/>
              </a:tabLst>
            </a:pPr>
            <a:r>
              <a:rPr lang="en-US" sz="2400" kern="100" dirty="0">
                <a:solidFill>
                  <a:schemeClr val="tx2">
                    <a:lumMod val="50000"/>
                    <a:lumOff val="50000"/>
                  </a:schemeClr>
                </a:solidFill>
                <a:latin typeface="Times New Roman" panose="02020603050405020304" pitchFamily="18" charset="0"/>
                <a:ea typeface="Aptos" panose="020B0004020202020204" pitchFamily="34" charset="0"/>
                <a:cs typeface="Times New Roman" panose="02020603050405020304" pitchFamily="18" charset="0"/>
              </a:rPr>
              <a:t>31</a:t>
            </a: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 US-</a:t>
            </a:r>
            <a:r>
              <a:rPr lang="en-US" sz="2400" kern="100" dirty="0" err="1">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Atq</a:t>
            </a: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400" kern="100" dirty="0" err="1">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Atqasuk</a:t>
            </a: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400" kern="100" dirty="0">
                <a:solidFill>
                  <a:schemeClr val="tx2">
                    <a:lumMod val="50000"/>
                    <a:lumOff val="50000"/>
                  </a:schemeClr>
                </a:solidFill>
                <a:latin typeface="Times New Roman" panose="02020603050405020304" pitchFamily="18" charset="0"/>
                <a:ea typeface="Aptos" panose="020B0004020202020204" pitchFamily="34" charset="0"/>
                <a:cs typeface="Times New Roman" panose="02020603050405020304" pitchFamily="18" charset="0"/>
              </a:rPr>
              <a:t>wetland</a:t>
            </a: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 1999-present, Tundra (Alaska)</a:t>
            </a:r>
          </a:p>
          <a:p>
            <a:pPr marL="0" marR="0" lvl="0" indent="0">
              <a:lnSpc>
                <a:spcPct val="115000"/>
              </a:lnSpc>
              <a:spcBef>
                <a:spcPts val="0"/>
              </a:spcBef>
              <a:spcAft>
                <a:spcPts val="800"/>
              </a:spcAft>
              <a:buNone/>
              <a:tabLst>
                <a:tab pos="457200" algn="l"/>
              </a:tabLst>
            </a:pPr>
            <a:r>
              <a:rPr lang="en-US" sz="2400" kern="100" dirty="0">
                <a:solidFill>
                  <a:schemeClr val="tx2">
                    <a:lumMod val="50000"/>
                    <a:lumOff val="50000"/>
                  </a:schemeClr>
                </a:solidFill>
                <a:latin typeface="Times New Roman" panose="02020603050405020304" pitchFamily="18" charset="0"/>
                <a:ea typeface="Aptos" panose="020B0004020202020204" pitchFamily="34" charset="0"/>
                <a:cs typeface="Times New Roman" panose="02020603050405020304" pitchFamily="18" charset="0"/>
              </a:rPr>
              <a:t>32</a:t>
            </a: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 US-NGB: NGEE Arctic Barrow, 2012-2023, Tundra, </a:t>
            </a:r>
            <a:r>
              <a:rPr lang="en-US" sz="2400" kern="100" dirty="0" err="1">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fluxnet</a:t>
            </a: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 wetland (Alaska), </a:t>
            </a:r>
            <a:r>
              <a:rPr lang="en-US" sz="2400" kern="100" dirty="0" err="1">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fluxnet</a:t>
            </a:r>
            <a:endPar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2400" kern="100" dirty="0">
                <a:solidFill>
                  <a:schemeClr val="accent2">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33</a:t>
            </a:r>
            <a:r>
              <a:rPr lang="en-US" sz="2400" kern="100" dirty="0">
                <a:solidFill>
                  <a:schemeClr val="accent2">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kern="1800" dirty="0">
                <a:solidFill>
                  <a:schemeClr val="accent2">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US-</a:t>
            </a:r>
            <a:r>
              <a:rPr lang="en-US" sz="2400" kern="1800" dirty="0" err="1">
                <a:solidFill>
                  <a:schemeClr val="accent2">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StJ</a:t>
            </a:r>
            <a:r>
              <a:rPr lang="en-US" sz="2400" kern="1800" dirty="0">
                <a:solidFill>
                  <a:schemeClr val="accent2">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St Jones Reserve, 2015-present, tidal, </a:t>
            </a:r>
            <a:r>
              <a:rPr lang="en-US" sz="2400" b="0" i="0" dirty="0">
                <a:solidFill>
                  <a:schemeClr val="accent2">
                    <a:lumMod val="60000"/>
                    <a:lumOff val="40000"/>
                  </a:schemeClr>
                </a:solidFill>
                <a:effectLst/>
                <a:latin typeface="Times New Roman" panose="02020603050405020304" pitchFamily="18" charset="0"/>
                <a:cs typeface="Times New Roman" panose="02020603050405020304" pitchFamily="18" charset="0"/>
              </a:rPr>
              <a:t>10 (0.3–23) mean and range, wetlands</a:t>
            </a:r>
            <a:r>
              <a:rPr lang="en-US" sz="2400" dirty="0">
                <a:solidFill>
                  <a:schemeClr val="accent2">
                    <a:lumMod val="60000"/>
                    <a:lumOff val="40000"/>
                  </a:schemeClr>
                </a:solidFill>
                <a:latin typeface="Times New Roman" panose="02020603050405020304" pitchFamily="18" charset="0"/>
                <a:cs typeface="Times New Roman" panose="02020603050405020304" pitchFamily="18" charset="0"/>
              </a:rPr>
              <a:t>, </a:t>
            </a:r>
            <a:r>
              <a:rPr lang="en-US" sz="2400" dirty="0" err="1">
                <a:solidFill>
                  <a:schemeClr val="accent2">
                    <a:lumMod val="60000"/>
                    <a:lumOff val="40000"/>
                  </a:schemeClr>
                </a:solidFill>
                <a:latin typeface="Times New Roman" panose="02020603050405020304" pitchFamily="18" charset="0"/>
                <a:cs typeface="Times New Roman" panose="02020603050405020304" pitchFamily="18" charset="0"/>
              </a:rPr>
              <a:t>fluxnet</a:t>
            </a:r>
            <a:r>
              <a:rPr lang="en-US" sz="2400" dirty="0">
                <a:solidFill>
                  <a:schemeClr val="accent2">
                    <a:lumMod val="60000"/>
                    <a:lumOff val="40000"/>
                  </a:schemeClr>
                </a:solidFill>
                <a:latin typeface="Times New Roman" panose="02020603050405020304" pitchFamily="18" charset="0"/>
                <a:cs typeface="Times New Roman" panose="02020603050405020304" pitchFamily="18" charset="0"/>
              </a:rPr>
              <a:t>, long  (2015-2017), </a:t>
            </a:r>
            <a:r>
              <a:rPr lang="en-US" sz="2400" b="0" i="0" dirty="0">
                <a:solidFill>
                  <a:schemeClr val="accent2">
                    <a:lumMod val="60000"/>
                    <a:lumOff val="40000"/>
                  </a:schemeClr>
                </a:solidFill>
                <a:effectLst/>
                <a:latin typeface="Times New Roman" panose="02020603050405020304" pitchFamily="18" charset="0"/>
                <a:cs typeface="Times New Roman" panose="02020603050405020304" pitchFamily="18" charset="0"/>
              </a:rPr>
              <a:t>Delaware</a:t>
            </a:r>
            <a:endParaRPr lang="en-US" sz="2400" kern="100" dirty="0">
              <a:solidFill>
                <a:schemeClr val="accent2">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p>
            <a:pPr marL="0" indent="0">
              <a:buNone/>
            </a:pPr>
            <a:r>
              <a:rPr lang="en-US" sz="2400" kern="100" dirty="0">
                <a:solidFill>
                  <a:schemeClr val="accent5">
                    <a:lumMod val="20000"/>
                    <a:lumOff val="80000"/>
                  </a:schemeClr>
                </a:solidFill>
                <a:latin typeface="Times New Roman" panose="02020603050405020304" pitchFamily="18" charset="0"/>
                <a:ea typeface="Aptos" panose="020B0004020202020204" pitchFamily="34" charset="0"/>
                <a:cs typeface="Times New Roman" panose="02020603050405020304" pitchFamily="18" charset="0"/>
              </a:rPr>
              <a:t>34</a:t>
            </a:r>
            <a:r>
              <a:rPr lang="en-US" sz="2400" kern="100" dirty="0">
                <a:solidFill>
                  <a:schemeClr val="accent5">
                    <a:lumMod val="20000"/>
                    <a:lumOff val="80000"/>
                  </a:schemeClr>
                </a:solidFill>
                <a:effectLst/>
                <a:latin typeface="Times New Roman" panose="02020603050405020304" pitchFamily="18" charset="0"/>
                <a:ea typeface="Aptos" panose="020B0004020202020204" pitchFamily="34" charset="0"/>
                <a:cs typeface="Times New Roman" panose="02020603050405020304" pitchFamily="18" charset="0"/>
              </a:rPr>
              <a:t>. US-VFP, 2014-present, salt marsh, wetland (Virginia)</a:t>
            </a:r>
          </a:p>
          <a:p>
            <a:pPr marL="0" indent="0">
              <a:buNone/>
            </a:pP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2400" kern="1800" dirty="0">
                <a:solidFill>
                  <a:schemeClr val="bg1">
                    <a:lumMod val="75000"/>
                  </a:schemeClr>
                </a:solidFill>
                <a:latin typeface="Times New Roman" panose="02020603050405020304" pitchFamily="18" charset="0"/>
                <a:ea typeface="Times New Roman" panose="02020603050405020304" pitchFamily="18" charset="0"/>
                <a:cs typeface="Times New Roman" panose="02020603050405020304" pitchFamily="18" charset="0"/>
              </a:rPr>
              <a:t>35</a:t>
            </a:r>
            <a:r>
              <a:rPr lang="en-US" sz="2400" kern="1800" dirty="0">
                <a:solidFill>
                  <a:schemeClr val="bg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US-Tx9: Sargent Unit Salt Marsh, 2017-present, wetlands, Texas  </a:t>
            </a:r>
            <a:endParaRPr lang="en-US" sz="2400" b="0" i="0" dirty="0">
              <a:solidFill>
                <a:schemeClr val="bg1">
                  <a:lumMod val="75000"/>
                </a:schemeClr>
              </a:solidFill>
              <a:effectLst/>
              <a:latin typeface="Times New Roman" panose="02020603050405020304" pitchFamily="18" charset="0"/>
              <a:cs typeface="Times New Roman" panose="02020603050405020304" pitchFamily="18" charset="0"/>
            </a:endParaRPr>
          </a:p>
          <a:p>
            <a:pPr marL="0" marR="0" lvl="0" indent="0">
              <a:lnSpc>
                <a:spcPct val="115000"/>
              </a:lnSpc>
              <a:spcBef>
                <a:spcPts val="0"/>
              </a:spcBef>
              <a:spcAft>
                <a:spcPts val="800"/>
              </a:spcAft>
              <a:buNone/>
              <a:tabLst>
                <a:tab pos="457200" algn="l"/>
              </a:tabLst>
            </a:pPr>
            <a:endPar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800"/>
              </a:spcAft>
              <a:buNone/>
              <a:tabLst>
                <a:tab pos="457200" algn="l"/>
              </a:tabLst>
            </a:pPr>
            <a:endParaRPr lang="en-US" sz="2200" kern="100" dirty="0">
              <a:solidFill>
                <a:schemeClr val="accent2"/>
              </a:solidFill>
              <a:latin typeface="Times New Roman" panose="02020603050405020304" pitchFamily="18" charset="0"/>
              <a:ea typeface="Aptos" panose="020B0004020202020204" pitchFamily="34" charset="0"/>
              <a:cs typeface="Times New Roman" panose="02020603050405020304" pitchFamily="18" charset="0"/>
            </a:endParaRPr>
          </a:p>
          <a:p>
            <a:pPr marL="0" indent="0">
              <a:spcAft>
                <a:spcPts val="1500"/>
              </a:spcAft>
              <a:buNone/>
            </a:pPr>
            <a:endParaRPr lang="en-US" sz="2800" i="0" dirty="0">
              <a:solidFill>
                <a:srgbClr val="00B05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2553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descr="A graph with numbers and lines&#10;&#10;Description automatically generated with medium confidence">
            <a:extLst>
              <a:ext uri="{FF2B5EF4-FFF2-40B4-BE49-F238E27FC236}">
                <a16:creationId xmlns:a16="http://schemas.microsoft.com/office/drawing/2014/main" id="{AE9C6E39-C0A6-2DE8-5C95-E51F9180C50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36320" y="2009344"/>
            <a:ext cx="11155680" cy="4835074"/>
          </a:xfrm>
        </p:spPr>
      </p:pic>
      <p:sp>
        <p:nvSpPr>
          <p:cNvPr id="14" name="TextBox 13">
            <a:extLst>
              <a:ext uri="{FF2B5EF4-FFF2-40B4-BE49-F238E27FC236}">
                <a16:creationId xmlns:a16="http://schemas.microsoft.com/office/drawing/2014/main" id="{69493F5B-814B-9D96-2048-87106E9742B5}"/>
              </a:ext>
            </a:extLst>
          </p:cNvPr>
          <p:cNvSpPr txBox="1"/>
          <p:nvPr/>
        </p:nvSpPr>
        <p:spPr>
          <a:xfrm>
            <a:off x="216747" y="230922"/>
            <a:ext cx="11337804" cy="2031325"/>
          </a:xfrm>
          <a:prstGeom prst="rect">
            <a:avLst/>
          </a:prstGeom>
          <a:noFill/>
        </p:spPr>
        <p:txBody>
          <a:bodyPr wrap="square" rtlCol="0">
            <a:spAutoFit/>
          </a:bodyPr>
          <a:lstStyle/>
          <a:p>
            <a:r>
              <a:rPr lang="en-US" dirty="0">
                <a:solidFill>
                  <a:srgbClr val="FF0000"/>
                </a:solidFill>
              </a:rPr>
              <a:t>High</a:t>
            </a:r>
            <a:r>
              <a:rPr lang="en-US" dirty="0"/>
              <a:t>, </a:t>
            </a:r>
            <a:r>
              <a:rPr lang="en-US" dirty="0">
                <a:solidFill>
                  <a:srgbClr val="3333FF"/>
                </a:solidFill>
              </a:rPr>
              <a:t>High medium</a:t>
            </a:r>
            <a:r>
              <a:rPr lang="en-US" dirty="0"/>
              <a:t>, </a:t>
            </a:r>
            <a:r>
              <a:rPr lang="en-US" dirty="0">
                <a:solidFill>
                  <a:schemeClr val="tx2">
                    <a:lumMod val="50000"/>
                    <a:lumOff val="50000"/>
                  </a:schemeClr>
                </a:solidFill>
              </a:rPr>
              <a:t>medium low</a:t>
            </a:r>
            <a:r>
              <a:rPr lang="en-US" dirty="0"/>
              <a:t>, </a:t>
            </a:r>
            <a:r>
              <a:rPr lang="en-US" dirty="0">
                <a:solidFill>
                  <a:schemeClr val="accent6">
                    <a:lumMod val="75000"/>
                  </a:schemeClr>
                </a:solidFill>
              </a:rPr>
              <a:t>Low,</a:t>
            </a:r>
            <a:r>
              <a:rPr lang="en-US" dirty="0"/>
              <a:t> </a:t>
            </a:r>
            <a:r>
              <a:rPr lang="en-US" dirty="0">
                <a:solidFill>
                  <a:schemeClr val="accent3">
                    <a:lumMod val="60000"/>
                    <a:lumOff val="40000"/>
                  </a:schemeClr>
                </a:solidFill>
              </a:rPr>
              <a:t>very low</a:t>
            </a:r>
            <a:endParaRPr lang="en-US" dirty="0"/>
          </a:p>
          <a:p>
            <a:pPr marL="285750" indent="-285750">
              <a:buFont typeface="Arial" panose="020B0604020202020204" pitchFamily="34" charset="0"/>
              <a:buChar char="•"/>
            </a:pPr>
            <a:r>
              <a:rPr lang="en-US" dirty="0"/>
              <a:t>High Salinity, Low WUE, exception EKP in California, exception recent years </a:t>
            </a:r>
          </a:p>
          <a:p>
            <a:pPr marL="285750" indent="-285750">
              <a:buFont typeface="Arial" panose="020B0604020202020204" pitchFamily="34" charset="0"/>
              <a:buChar char="•"/>
            </a:pPr>
            <a:r>
              <a:rPr lang="en-US" dirty="0"/>
              <a:t>2013: very low salinity sites has higher WUE compared to sites with low and low medium salinity</a:t>
            </a:r>
          </a:p>
          <a:p>
            <a:pPr marL="285750" indent="-285750">
              <a:buFont typeface="Arial" panose="020B0604020202020204" pitchFamily="34" charset="0"/>
              <a:buChar char="•"/>
            </a:pPr>
            <a:r>
              <a:rPr lang="en-US" dirty="0"/>
              <a:t>2014: very low salinity has higher WUE compared to sites with low salinity</a:t>
            </a:r>
          </a:p>
          <a:p>
            <a:pPr marL="285750" indent="-285750">
              <a:buFont typeface="Arial" panose="020B0604020202020204" pitchFamily="34" charset="0"/>
              <a:buChar char="•"/>
            </a:pPr>
            <a:r>
              <a:rPr lang="en-US" dirty="0"/>
              <a:t>2017: very Low salinity and low salinity sites has higher WUE compared to sites with high salinity</a:t>
            </a:r>
          </a:p>
          <a:p>
            <a:pPr marL="285750" indent="-285750">
              <a:buFont typeface="Arial" panose="020B0604020202020204" pitchFamily="34" charset="0"/>
              <a:buChar char="•"/>
            </a:pPr>
            <a:r>
              <a:rPr lang="en-US" dirty="0"/>
              <a:t>Very low, low and high medium switch places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106588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F7C56-956E-0C1A-A238-10A6337A32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15F364-4C26-720F-5DF8-49A90EB9704A}"/>
              </a:ext>
            </a:extLst>
          </p:cNvPr>
          <p:cNvSpPr>
            <a:spLocks noGrp="1"/>
          </p:cNvSpPr>
          <p:nvPr>
            <p:ph idx="1"/>
          </p:nvPr>
        </p:nvSpPr>
        <p:spPr/>
        <p:txBody>
          <a:bodyPr/>
          <a:lstStyle/>
          <a:p>
            <a:r>
              <a:rPr lang="en-US" dirty="0" err="1"/>
              <a:t>Mutidimentional</a:t>
            </a:r>
            <a:r>
              <a:rPr lang="en-US" dirty="0"/>
              <a:t> scaling (PCI, PC2) (PC1, PC2) </a:t>
            </a:r>
          </a:p>
          <a:p>
            <a:r>
              <a:rPr lang="en-US" dirty="0"/>
              <a:t>Distance (mass) </a:t>
            </a:r>
          </a:p>
          <a:p>
            <a:r>
              <a:rPr lang="en-US" dirty="0"/>
              <a:t>Cluster (caret) </a:t>
            </a:r>
          </a:p>
          <a:p>
            <a:r>
              <a:rPr lang="en-US" dirty="0"/>
              <a:t>Driver pattern (caret)</a:t>
            </a:r>
          </a:p>
          <a:p>
            <a:endParaRPr lang="en-US" dirty="0"/>
          </a:p>
        </p:txBody>
      </p:sp>
    </p:spTree>
    <p:extLst>
      <p:ext uri="{BB962C8B-B14F-4D97-AF65-F5344CB8AC3E}">
        <p14:creationId xmlns:p14="http://schemas.microsoft.com/office/powerpoint/2010/main" val="1180642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36317-6C41-1829-9554-3B635B0297D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D77DE13-53E4-6A42-1F3E-E335890AD088}"/>
              </a:ext>
            </a:extLst>
          </p:cNvPr>
          <p:cNvSpPr>
            <a:spLocks noGrp="1"/>
          </p:cNvSpPr>
          <p:nvPr>
            <p:ph idx="1"/>
          </p:nvPr>
        </p:nvSpPr>
        <p:spPr/>
        <p:txBody>
          <a:bodyPr/>
          <a:lstStyle/>
          <a:p>
            <a:r>
              <a:rPr lang="en-US" dirty="0"/>
              <a:t>End of January all sites  (possibly) sites</a:t>
            </a:r>
          </a:p>
          <a:p>
            <a:r>
              <a:rPr lang="en-US" dirty="0"/>
              <a:t>Feb: cluster analysis</a:t>
            </a:r>
          </a:p>
          <a:p>
            <a:r>
              <a:rPr lang="en-US" dirty="0"/>
              <a:t>March: WUE, cluster, CUE</a:t>
            </a:r>
          </a:p>
          <a:p>
            <a:r>
              <a:rPr lang="en-US" dirty="0"/>
              <a:t>April: Analysis base of salinity, ecosystem type (forest, wetland, temp, precipitation) </a:t>
            </a:r>
          </a:p>
          <a:p>
            <a:r>
              <a:rPr lang="en-US" dirty="0"/>
              <a:t>Slope  </a:t>
            </a:r>
          </a:p>
          <a:p>
            <a:r>
              <a:rPr lang="en-US" dirty="0"/>
              <a:t>Landsat, </a:t>
            </a:r>
            <a:r>
              <a:rPr lang="en-US" dirty="0" err="1"/>
              <a:t>modis</a:t>
            </a:r>
            <a:r>
              <a:rPr lang="en-US" dirty="0"/>
              <a:t> spectral data </a:t>
            </a:r>
          </a:p>
          <a:p>
            <a:r>
              <a:rPr lang="en-US" dirty="0" err="1"/>
              <a:t>Apears</a:t>
            </a:r>
            <a:r>
              <a:rPr lang="en-US" dirty="0"/>
              <a:t> NDVI </a:t>
            </a:r>
          </a:p>
        </p:txBody>
      </p:sp>
    </p:spTree>
    <p:extLst>
      <p:ext uri="{BB962C8B-B14F-4D97-AF65-F5344CB8AC3E}">
        <p14:creationId xmlns:p14="http://schemas.microsoft.com/office/powerpoint/2010/main" val="2994810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909B7-4D58-7316-8364-65CD2261B6B0}"/>
              </a:ext>
            </a:extLst>
          </p:cNvPr>
          <p:cNvSpPr>
            <a:spLocks noGrp="1"/>
          </p:cNvSpPr>
          <p:nvPr>
            <p:ph type="title"/>
          </p:nvPr>
        </p:nvSpPr>
        <p:spPr/>
        <p:txBody>
          <a:bodyPr/>
          <a:lstStyle/>
          <a:p>
            <a:r>
              <a:rPr lang="en-US" dirty="0"/>
              <a:t>Monthly data how to deal gaps in only one year</a:t>
            </a:r>
          </a:p>
        </p:txBody>
      </p:sp>
      <p:sp>
        <p:nvSpPr>
          <p:cNvPr id="3" name="Content Placeholder 2">
            <a:extLst>
              <a:ext uri="{FF2B5EF4-FFF2-40B4-BE49-F238E27FC236}">
                <a16:creationId xmlns:a16="http://schemas.microsoft.com/office/drawing/2014/main" id="{6035E022-D129-48BD-2079-32C5ADF4A762}"/>
              </a:ext>
            </a:extLst>
          </p:cNvPr>
          <p:cNvSpPr>
            <a:spLocks noGrp="1"/>
          </p:cNvSpPr>
          <p:nvPr>
            <p:ph idx="1"/>
          </p:nvPr>
        </p:nvSpPr>
        <p:spPr/>
        <p:txBody>
          <a:bodyPr/>
          <a:lstStyle/>
          <a:p>
            <a:r>
              <a:rPr lang="en-US" dirty="0"/>
              <a:t>Add a nan column and remove that month from monthly data</a:t>
            </a:r>
          </a:p>
          <a:p>
            <a:endParaRPr lang="en-US" dirty="0"/>
          </a:p>
          <a:p>
            <a:r>
              <a:rPr lang="en-US" dirty="0"/>
              <a:t>Replace zero with nan</a:t>
            </a:r>
          </a:p>
          <a:p>
            <a:pPr marL="0" indent="0">
              <a:buNone/>
            </a:pPr>
            <a:endParaRPr lang="en-US" dirty="0"/>
          </a:p>
        </p:txBody>
      </p:sp>
    </p:spTree>
    <p:extLst>
      <p:ext uri="{BB962C8B-B14F-4D97-AF65-F5344CB8AC3E}">
        <p14:creationId xmlns:p14="http://schemas.microsoft.com/office/powerpoint/2010/main" val="418831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9FC3C-B5C2-F912-AE4C-EA016F849C2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580000-A234-B9A8-FB76-B6565007B6D3}"/>
              </a:ext>
            </a:extLst>
          </p:cNvPr>
          <p:cNvSpPr>
            <a:spLocks noGrp="1"/>
          </p:cNvSpPr>
          <p:nvPr>
            <p:ph idx="1"/>
          </p:nvPr>
        </p:nvSpPr>
        <p:spPr/>
        <p:txBody>
          <a:bodyPr>
            <a:normAutofit lnSpcReduction="10000"/>
          </a:bodyPr>
          <a:lstStyle/>
          <a:p>
            <a:r>
              <a:rPr lang="en-US" dirty="0"/>
              <a:t>Processed data from MA, New Jersey, South Carolina </a:t>
            </a:r>
          </a:p>
          <a:p>
            <a:r>
              <a:rPr lang="en-US" dirty="0"/>
              <a:t>For one site US-</a:t>
            </a:r>
            <a:r>
              <a:rPr lang="en-US" dirty="0" err="1"/>
              <a:t>PhM</a:t>
            </a:r>
            <a:r>
              <a:rPr lang="en-US" dirty="0"/>
              <a:t> in MA, longer gap in </a:t>
            </a:r>
            <a:r>
              <a:rPr lang="en-US" dirty="0" err="1"/>
              <a:t>Rg</a:t>
            </a:r>
            <a:r>
              <a:rPr lang="en-US" dirty="0"/>
              <a:t> so replace </a:t>
            </a:r>
            <a:r>
              <a:rPr lang="en-US" dirty="0" err="1"/>
              <a:t>gpp</a:t>
            </a:r>
            <a:r>
              <a:rPr lang="en-US" dirty="0"/>
              <a:t> day time missing values with </a:t>
            </a:r>
            <a:r>
              <a:rPr lang="en-US" dirty="0" err="1"/>
              <a:t>gpp</a:t>
            </a:r>
            <a:r>
              <a:rPr lang="en-US" dirty="0"/>
              <a:t> nigh time values</a:t>
            </a:r>
          </a:p>
          <a:p>
            <a:r>
              <a:rPr lang="en-US" dirty="0"/>
              <a:t>2017,2020 remove for US-</a:t>
            </a:r>
            <a:r>
              <a:rPr lang="en-US" dirty="0" err="1"/>
              <a:t>PhM</a:t>
            </a:r>
            <a:r>
              <a:rPr lang="en-US" dirty="0"/>
              <a:t> or replace with night time GPP</a:t>
            </a:r>
          </a:p>
          <a:p>
            <a:r>
              <a:rPr lang="en-US" dirty="0" err="1"/>
              <a:t>Rg</a:t>
            </a:r>
            <a:r>
              <a:rPr lang="en-US" dirty="0"/>
              <a:t> missing for </a:t>
            </a:r>
            <a:r>
              <a:rPr lang="en-US" dirty="0" err="1"/>
              <a:t>lousiana</a:t>
            </a:r>
            <a:r>
              <a:rPr lang="en-US" dirty="0"/>
              <a:t> and Delaware sites (long gaps)</a:t>
            </a:r>
          </a:p>
          <a:p>
            <a:r>
              <a:rPr lang="en-US" dirty="0"/>
              <a:t>Some sites no radiation data at all (remove that site)</a:t>
            </a:r>
          </a:p>
          <a:p>
            <a:endParaRPr lang="en-US" dirty="0"/>
          </a:p>
          <a:p>
            <a:r>
              <a:rPr lang="en-US" dirty="0"/>
              <a:t>Scale </a:t>
            </a:r>
            <a:r>
              <a:rPr lang="en-US" dirty="0" err="1"/>
              <a:t>Rg</a:t>
            </a:r>
            <a:r>
              <a:rPr lang="en-US" dirty="0"/>
              <a:t> to PAR</a:t>
            </a:r>
          </a:p>
          <a:p>
            <a:r>
              <a:rPr lang="en-US" dirty="0"/>
              <a:t>Era5 </a:t>
            </a:r>
            <a:r>
              <a:rPr lang="en-US" dirty="0" err="1"/>
              <a:t>Rg</a:t>
            </a:r>
            <a:endParaRPr lang="en-US" dirty="0"/>
          </a:p>
          <a:p>
            <a:endParaRPr lang="en-US" dirty="0"/>
          </a:p>
          <a:p>
            <a:endParaRPr lang="en-US" dirty="0"/>
          </a:p>
        </p:txBody>
      </p:sp>
    </p:spTree>
    <p:extLst>
      <p:ext uri="{BB962C8B-B14F-4D97-AF65-F5344CB8AC3E}">
        <p14:creationId xmlns:p14="http://schemas.microsoft.com/office/powerpoint/2010/main" val="800865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D76F2E-365F-3477-2D5E-E0BC647223A9}"/>
              </a:ext>
            </a:extLst>
          </p:cNvPr>
          <p:cNvPicPr>
            <a:picLocks noChangeAspect="1"/>
          </p:cNvPicPr>
          <p:nvPr/>
        </p:nvPicPr>
        <p:blipFill>
          <a:blip r:embed="rId2"/>
          <a:stretch>
            <a:fillRect/>
          </a:stretch>
        </p:blipFill>
        <p:spPr>
          <a:xfrm>
            <a:off x="3308849" y="3708794"/>
            <a:ext cx="4711111" cy="3149206"/>
          </a:xfrm>
          <a:prstGeom prst="rect">
            <a:avLst/>
          </a:prstGeom>
        </p:spPr>
      </p:pic>
      <p:pic>
        <p:nvPicPr>
          <p:cNvPr id="7" name="Picture 6">
            <a:extLst>
              <a:ext uri="{FF2B5EF4-FFF2-40B4-BE49-F238E27FC236}">
                <a16:creationId xmlns:a16="http://schemas.microsoft.com/office/drawing/2014/main" id="{F76FB9B4-FF7B-7B22-0375-6D463D221C6A}"/>
              </a:ext>
            </a:extLst>
          </p:cNvPr>
          <p:cNvPicPr>
            <a:picLocks noChangeAspect="1"/>
          </p:cNvPicPr>
          <p:nvPr/>
        </p:nvPicPr>
        <p:blipFill>
          <a:blip r:embed="rId3"/>
          <a:stretch>
            <a:fillRect/>
          </a:stretch>
        </p:blipFill>
        <p:spPr>
          <a:xfrm>
            <a:off x="653429" y="482037"/>
            <a:ext cx="4711111" cy="3187301"/>
          </a:xfrm>
          <a:prstGeom prst="rect">
            <a:avLst/>
          </a:prstGeom>
        </p:spPr>
      </p:pic>
      <p:sp>
        <p:nvSpPr>
          <p:cNvPr id="8" name="TextBox 7">
            <a:extLst>
              <a:ext uri="{FF2B5EF4-FFF2-40B4-BE49-F238E27FC236}">
                <a16:creationId xmlns:a16="http://schemas.microsoft.com/office/drawing/2014/main" id="{C09AB0B7-D3DB-8601-EE12-08C2BE44B39B}"/>
              </a:ext>
            </a:extLst>
          </p:cNvPr>
          <p:cNvSpPr txBox="1"/>
          <p:nvPr/>
        </p:nvSpPr>
        <p:spPr>
          <a:xfrm>
            <a:off x="1726387" y="230188"/>
            <a:ext cx="3013863" cy="369332"/>
          </a:xfrm>
          <a:prstGeom prst="rect">
            <a:avLst/>
          </a:prstGeom>
          <a:noFill/>
        </p:spPr>
        <p:txBody>
          <a:bodyPr wrap="square" rtlCol="0">
            <a:spAutoFit/>
          </a:bodyPr>
          <a:lstStyle/>
          <a:p>
            <a:r>
              <a:rPr lang="en-US" dirty="0" err="1"/>
              <a:t>GPP_Light</a:t>
            </a:r>
            <a:r>
              <a:rPr lang="en-US" dirty="0"/>
              <a:t> response curve </a:t>
            </a:r>
          </a:p>
        </p:txBody>
      </p:sp>
      <p:pic>
        <p:nvPicPr>
          <p:cNvPr id="10" name="Picture 9">
            <a:extLst>
              <a:ext uri="{FF2B5EF4-FFF2-40B4-BE49-F238E27FC236}">
                <a16:creationId xmlns:a16="http://schemas.microsoft.com/office/drawing/2014/main" id="{128DE16B-DC6F-CB48-D924-F3EAFEE6D59A}"/>
              </a:ext>
            </a:extLst>
          </p:cNvPr>
          <p:cNvPicPr>
            <a:picLocks noChangeAspect="1"/>
          </p:cNvPicPr>
          <p:nvPr/>
        </p:nvPicPr>
        <p:blipFill>
          <a:blip r:embed="rId4"/>
          <a:stretch>
            <a:fillRect/>
          </a:stretch>
        </p:blipFill>
        <p:spPr>
          <a:xfrm>
            <a:off x="5986211" y="482037"/>
            <a:ext cx="4711111" cy="3149206"/>
          </a:xfrm>
          <a:prstGeom prst="rect">
            <a:avLst/>
          </a:prstGeom>
        </p:spPr>
      </p:pic>
      <p:sp>
        <p:nvSpPr>
          <p:cNvPr id="11" name="TextBox 10">
            <a:extLst>
              <a:ext uri="{FF2B5EF4-FFF2-40B4-BE49-F238E27FC236}">
                <a16:creationId xmlns:a16="http://schemas.microsoft.com/office/drawing/2014/main" id="{A003E054-CDA5-F266-011C-094F1954FEF3}"/>
              </a:ext>
            </a:extLst>
          </p:cNvPr>
          <p:cNvSpPr txBox="1"/>
          <p:nvPr/>
        </p:nvSpPr>
        <p:spPr>
          <a:xfrm>
            <a:off x="7226198" y="147169"/>
            <a:ext cx="3013863" cy="369332"/>
          </a:xfrm>
          <a:prstGeom prst="rect">
            <a:avLst/>
          </a:prstGeom>
          <a:noFill/>
        </p:spPr>
        <p:txBody>
          <a:bodyPr wrap="square" rtlCol="0">
            <a:spAutoFit/>
          </a:bodyPr>
          <a:lstStyle/>
          <a:p>
            <a:r>
              <a:rPr lang="en-US" dirty="0" err="1"/>
              <a:t>GPP_night</a:t>
            </a:r>
            <a:r>
              <a:rPr lang="en-US" dirty="0"/>
              <a:t> time fluxes </a:t>
            </a:r>
          </a:p>
        </p:txBody>
      </p:sp>
    </p:spTree>
    <p:extLst>
      <p:ext uri="{BB962C8B-B14F-4D97-AF65-F5344CB8AC3E}">
        <p14:creationId xmlns:p14="http://schemas.microsoft.com/office/powerpoint/2010/main" val="2193868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D908-3091-51E5-C7B9-B1D14E2B9CBF}"/>
              </a:ext>
            </a:extLst>
          </p:cNvPr>
          <p:cNvSpPr>
            <a:spLocks noGrp="1"/>
          </p:cNvSpPr>
          <p:nvPr>
            <p:ph type="title"/>
          </p:nvPr>
        </p:nvSpPr>
        <p:spPr/>
        <p:txBody>
          <a:bodyPr/>
          <a:lstStyle/>
          <a:p>
            <a:r>
              <a:rPr lang="en-US" dirty="0"/>
              <a:t>16 sites </a:t>
            </a:r>
          </a:p>
        </p:txBody>
      </p:sp>
      <p:pic>
        <p:nvPicPr>
          <p:cNvPr id="9" name="Content Placeholder 8" descr="A graph with numbers and lines&#10;&#10;Description automatically generated">
            <a:extLst>
              <a:ext uri="{FF2B5EF4-FFF2-40B4-BE49-F238E27FC236}">
                <a16:creationId xmlns:a16="http://schemas.microsoft.com/office/drawing/2014/main" id="{6CD78F8C-E85B-25D4-BA29-B1283C6461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4703" y="1825625"/>
            <a:ext cx="10222593" cy="4351338"/>
          </a:xfrm>
        </p:spPr>
      </p:pic>
    </p:spTree>
    <p:extLst>
      <p:ext uri="{BB962C8B-B14F-4D97-AF65-F5344CB8AC3E}">
        <p14:creationId xmlns:p14="http://schemas.microsoft.com/office/powerpoint/2010/main" val="2451385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B6954-2A22-40E3-1B7B-97561B7E3983}"/>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A611304C-52DF-620C-4DB5-86CDD0677D7D}"/>
              </a:ext>
            </a:extLst>
          </p:cNvPr>
          <p:cNvSpPr>
            <a:spLocks noGrp="1"/>
          </p:cNvSpPr>
          <p:nvPr>
            <p:ph idx="1"/>
          </p:nvPr>
        </p:nvSpPr>
        <p:spPr/>
        <p:txBody>
          <a:bodyPr/>
          <a:lstStyle/>
          <a:p>
            <a:r>
              <a:rPr lang="en-US" dirty="0"/>
              <a:t>Break down medium salinity into 2-3 categories</a:t>
            </a:r>
          </a:p>
          <a:p>
            <a:r>
              <a:rPr lang="en-US" dirty="0"/>
              <a:t>Data from Alaska</a:t>
            </a:r>
          </a:p>
          <a:p>
            <a:r>
              <a:rPr lang="en-US" dirty="0"/>
              <a:t> Slope between GPP and ET (monthly data)</a:t>
            </a:r>
          </a:p>
          <a:p>
            <a:r>
              <a:rPr lang="en-US" dirty="0"/>
              <a:t>CUE</a:t>
            </a:r>
          </a:p>
          <a:p>
            <a:r>
              <a:rPr lang="en-US" dirty="0"/>
              <a:t>Cluster analysis </a:t>
            </a:r>
            <a:r>
              <a:rPr lang="en-US" dirty="0" err="1"/>
              <a:t>Mangroove</a:t>
            </a:r>
            <a:r>
              <a:rPr lang="en-US" dirty="0"/>
              <a:t> issue, Salinity, MDS</a:t>
            </a:r>
          </a:p>
        </p:txBody>
      </p:sp>
    </p:spTree>
    <p:extLst>
      <p:ext uri="{BB962C8B-B14F-4D97-AF65-F5344CB8AC3E}">
        <p14:creationId xmlns:p14="http://schemas.microsoft.com/office/powerpoint/2010/main" val="1138620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18361-D43A-5AB4-08C2-B2152654766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3E8BC5-4926-7760-7484-B2895B78EDA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28493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9238-2719-2C7F-D5F9-6319B3A3F8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93C7283-074A-26CD-E1A0-B87DCAA19CA3}"/>
              </a:ext>
            </a:extLst>
          </p:cNvPr>
          <p:cNvSpPr>
            <a:spLocks noGrp="1"/>
          </p:cNvSpPr>
          <p:nvPr>
            <p:ph idx="1"/>
          </p:nvPr>
        </p:nvSpPr>
        <p:spPr/>
        <p:txBody>
          <a:bodyPr/>
          <a:lstStyle/>
          <a:p>
            <a:r>
              <a:rPr lang="en-US" dirty="0"/>
              <a:t>Adina </a:t>
            </a:r>
            <a:r>
              <a:rPr lang="en-US" dirty="0" err="1"/>
              <a:t>paytan</a:t>
            </a:r>
            <a:r>
              <a:rPr lang="en-US" dirty="0"/>
              <a:t>, California coastal site. Graduate student working on the data new sites </a:t>
            </a:r>
          </a:p>
        </p:txBody>
      </p:sp>
    </p:spTree>
    <p:extLst>
      <p:ext uri="{BB962C8B-B14F-4D97-AF65-F5344CB8AC3E}">
        <p14:creationId xmlns:p14="http://schemas.microsoft.com/office/powerpoint/2010/main" val="3934466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BED0E-60B3-2E4B-8B47-061537BEB2C5}"/>
              </a:ext>
            </a:extLst>
          </p:cNvPr>
          <p:cNvSpPr>
            <a:spLocks noGrp="1"/>
          </p:cNvSpPr>
          <p:nvPr>
            <p:ph type="title"/>
          </p:nvPr>
        </p:nvSpPr>
        <p:spPr/>
        <p:txBody>
          <a:bodyPr/>
          <a:lstStyle/>
          <a:p>
            <a:r>
              <a:rPr lang="en-US" dirty="0"/>
              <a:t>automate</a:t>
            </a:r>
          </a:p>
        </p:txBody>
      </p:sp>
      <p:sp>
        <p:nvSpPr>
          <p:cNvPr id="3" name="Content Placeholder 2">
            <a:extLst>
              <a:ext uri="{FF2B5EF4-FFF2-40B4-BE49-F238E27FC236}">
                <a16:creationId xmlns:a16="http://schemas.microsoft.com/office/drawing/2014/main" id="{12036949-9CBC-3F9C-1E96-BB5B53C2F99E}"/>
              </a:ext>
            </a:extLst>
          </p:cNvPr>
          <p:cNvSpPr>
            <a:spLocks noGrp="1"/>
          </p:cNvSpPr>
          <p:nvPr>
            <p:ph idx="1"/>
          </p:nvPr>
        </p:nvSpPr>
        <p:spPr/>
        <p:txBody>
          <a:bodyPr/>
          <a:lstStyle/>
          <a:p>
            <a:r>
              <a:rPr lang="en-US" dirty="0"/>
              <a:t>NEE_PI, NEE_1_1_1</a:t>
            </a:r>
          </a:p>
          <a:p>
            <a:r>
              <a:rPr lang="en-US" dirty="0"/>
              <a:t>First use data from PI, otherwise you this </a:t>
            </a:r>
          </a:p>
          <a:p>
            <a:r>
              <a:rPr lang="en-US" dirty="0" err="1"/>
              <a:t>Colesce</a:t>
            </a:r>
            <a:r>
              <a:rPr lang="en-US" dirty="0"/>
              <a:t> function  use that rule to write a code</a:t>
            </a:r>
          </a:p>
          <a:p>
            <a:endParaRPr lang="en-US" dirty="0"/>
          </a:p>
        </p:txBody>
      </p:sp>
    </p:spTree>
    <p:extLst>
      <p:ext uri="{BB962C8B-B14F-4D97-AF65-F5344CB8AC3E}">
        <p14:creationId xmlns:p14="http://schemas.microsoft.com/office/powerpoint/2010/main" val="3361680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CFCAD-E631-0B61-B7D5-531851A7C642}"/>
              </a:ext>
            </a:extLst>
          </p:cNvPr>
          <p:cNvSpPr>
            <a:spLocks noGrp="1"/>
          </p:cNvSpPr>
          <p:nvPr>
            <p:ph type="title"/>
          </p:nvPr>
        </p:nvSpPr>
        <p:spPr/>
        <p:txBody>
          <a:bodyPr/>
          <a:lstStyle/>
          <a:p>
            <a:r>
              <a:rPr lang="en-US" dirty="0"/>
              <a:t>Research talk</a:t>
            </a:r>
          </a:p>
        </p:txBody>
      </p:sp>
      <p:sp>
        <p:nvSpPr>
          <p:cNvPr id="3" name="Content Placeholder 2">
            <a:extLst>
              <a:ext uri="{FF2B5EF4-FFF2-40B4-BE49-F238E27FC236}">
                <a16:creationId xmlns:a16="http://schemas.microsoft.com/office/drawing/2014/main" id="{D919B0B8-5DCD-B37A-0D7E-54B4B88E50AC}"/>
              </a:ext>
            </a:extLst>
          </p:cNvPr>
          <p:cNvSpPr>
            <a:spLocks noGrp="1"/>
          </p:cNvSpPr>
          <p:nvPr>
            <p:ph idx="1"/>
          </p:nvPr>
        </p:nvSpPr>
        <p:spPr/>
        <p:txBody>
          <a:bodyPr/>
          <a:lstStyle/>
          <a:p>
            <a:r>
              <a:rPr lang="en-US" dirty="0"/>
              <a:t>Why water or carbon accumulation while we are trying to reduce it</a:t>
            </a:r>
          </a:p>
          <a:p>
            <a:r>
              <a:rPr lang="en-US" dirty="0"/>
              <a:t>Your contribution to your field</a:t>
            </a:r>
          </a:p>
          <a:p>
            <a:r>
              <a:rPr lang="en-US" dirty="0"/>
              <a:t>Tell a story</a:t>
            </a:r>
          </a:p>
          <a:p>
            <a:r>
              <a:rPr lang="en-US" dirty="0"/>
              <a:t>Teaching talk……add elements that other people don’t use</a:t>
            </a:r>
          </a:p>
          <a:p>
            <a:r>
              <a:rPr lang="en-US" dirty="0"/>
              <a:t>Polling to do surveys students. Scale of thumb. Average of all thumbs and paired up </a:t>
            </a:r>
          </a:p>
          <a:p>
            <a:r>
              <a:rPr lang="en-US" dirty="0"/>
              <a:t>Different you can do this teaching. You are going to use it. Does not need to have experience of doing it</a:t>
            </a:r>
          </a:p>
          <a:p>
            <a:r>
              <a:rPr lang="en-US" dirty="0"/>
              <a:t>Integrate AI to teaching class</a:t>
            </a:r>
          </a:p>
        </p:txBody>
      </p:sp>
    </p:spTree>
    <p:extLst>
      <p:ext uri="{BB962C8B-B14F-4D97-AF65-F5344CB8AC3E}">
        <p14:creationId xmlns:p14="http://schemas.microsoft.com/office/powerpoint/2010/main" val="1303408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754FB-F2DB-45C4-1127-564F08BD651E}"/>
              </a:ext>
            </a:extLst>
          </p:cNvPr>
          <p:cNvSpPr>
            <a:spLocks noGrp="1"/>
          </p:cNvSpPr>
          <p:nvPr>
            <p:ph type="title"/>
          </p:nvPr>
        </p:nvSpPr>
        <p:spPr/>
        <p:txBody>
          <a:bodyPr/>
          <a:lstStyle/>
          <a:p>
            <a:endParaRPr lang="en-US"/>
          </a:p>
        </p:txBody>
      </p:sp>
      <p:sp>
        <p:nvSpPr>
          <p:cNvPr id="9" name="TextBox 8">
            <a:extLst>
              <a:ext uri="{FF2B5EF4-FFF2-40B4-BE49-F238E27FC236}">
                <a16:creationId xmlns:a16="http://schemas.microsoft.com/office/drawing/2014/main" id="{195FD791-23B8-4B32-A988-DB488AED695C}"/>
              </a:ext>
            </a:extLst>
          </p:cNvPr>
          <p:cNvSpPr txBox="1"/>
          <p:nvPr/>
        </p:nvSpPr>
        <p:spPr>
          <a:xfrm>
            <a:off x="194463" y="5583312"/>
            <a:ext cx="9334195" cy="646331"/>
          </a:xfrm>
          <a:prstGeom prst="rect">
            <a:avLst/>
          </a:prstGeom>
          <a:noFill/>
        </p:spPr>
        <p:txBody>
          <a:bodyPr wrap="square" rtlCol="0">
            <a:spAutoFit/>
          </a:bodyPr>
          <a:lstStyle/>
          <a:p>
            <a:r>
              <a:rPr lang="en-US" sz="1200" dirty="0"/>
              <a:t>Compare red with blue: high salinity versus low salinity</a:t>
            </a:r>
          </a:p>
          <a:p>
            <a:r>
              <a:rPr lang="en-US" sz="1200" dirty="0"/>
              <a:t>2017-2020: </a:t>
            </a:r>
            <a:r>
              <a:rPr lang="en-US" sz="1200" dirty="0">
                <a:solidFill>
                  <a:srgbClr val="FF0000"/>
                </a:solidFill>
              </a:rPr>
              <a:t>low WUE at high salinity</a:t>
            </a:r>
            <a:r>
              <a:rPr lang="en-US" sz="1200" dirty="0">
                <a:solidFill>
                  <a:srgbClr val="CC99FF"/>
                </a:solidFill>
              </a:rPr>
              <a:t>, </a:t>
            </a:r>
            <a:r>
              <a:rPr lang="en-US" sz="1200" dirty="0">
                <a:solidFill>
                  <a:srgbClr val="00B050"/>
                </a:solidFill>
              </a:rPr>
              <a:t>high WUE at low salinity </a:t>
            </a:r>
            <a:r>
              <a:rPr lang="en-US" sz="1200" dirty="0">
                <a:solidFill>
                  <a:srgbClr val="3333FF"/>
                </a:solidFill>
              </a:rPr>
              <a:t>and medium salinity </a:t>
            </a:r>
            <a:r>
              <a:rPr lang="en-US" sz="1200" dirty="0"/>
              <a:t>(2017-2020), exception US-EKP site</a:t>
            </a:r>
          </a:p>
          <a:p>
            <a:r>
              <a:rPr lang="en-US" sz="1200" dirty="0"/>
              <a:t>2023: regional differences</a:t>
            </a:r>
          </a:p>
        </p:txBody>
      </p:sp>
      <p:pic>
        <p:nvPicPr>
          <p:cNvPr id="13" name="Picture 12" descr="A graph with numbers and text&#10;&#10;Description automatically generated">
            <a:extLst>
              <a:ext uri="{FF2B5EF4-FFF2-40B4-BE49-F238E27FC236}">
                <a16:creationId xmlns:a16="http://schemas.microsoft.com/office/drawing/2014/main" id="{47F4825E-F223-39CD-1EAA-62F26EC6F2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044" y="232795"/>
            <a:ext cx="9424435" cy="5218187"/>
          </a:xfrm>
          <a:prstGeom prst="rect">
            <a:avLst/>
          </a:prstGeom>
        </p:spPr>
      </p:pic>
    </p:spTree>
    <p:extLst>
      <p:ext uri="{BB962C8B-B14F-4D97-AF65-F5344CB8AC3E}">
        <p14:creationId xmlns:p14="http://schemas.microsoft.com/office/powerpoint/2010/main" val="261913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03C91-9AF7-ED30-36B4-D674D521E755}"/>
              </a:ext>
            </a:extLst>
          </p:cNvPr>
          <p:cNvSpPr>
            <a:spLocks noGrp="1"/>
          </p:cNvSpPr>
          <p:nvPr>
            <p:ph type="title"/>
          </p:nvPr>
        </p:nvSpPr>
        <p:spPr/>
        <p:txBody>
          <a:bodyPr/>
          <a:lstStyle/>
          <a:p>
            <a:endParaRPr lang="en-US"/>
          </a:p>
        </p:txBody>
      </p:sp>
      <p:pic>
        <p:nvPicPr>
          <p:cNvPr id="5" name="Content Placeholder 4" descr="A graph of numbers and lines&#10;&#10;Description automatically generated with medium confidence">
            <a:extLst>
              <a:ext uri="{FF2B5EF4-FFF2-40B4-BE49-F238E27FC236}">
                <a16:creationId xmlns:a16="http://schemas.microsoft.com/office/drawing/2014/main" id="{3A11A0D9-3FE0-71B3-2ED0-E08D311A0C5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1039" y="555955"/>
            <a:ext cx="7858841" cy="4351338"/>
          </a:xfrm>
        </p:spPr>
      </p:pic>
      <p:sp>
        <p:nvSpPr>
          <p:cNvPr id="6" name="TextBox 5">
            <a:extLst>
              <a:ext uri="{FF2B5EF4-FFF2-40B4-BE49-F238E27FC236}">
                <a16:creationId xmlns:a16="http://schemas.microsoft.com/office/drawing/2014/main" id="{788400DE-6732-FFDE-BE9A-13DC3FBBA889}"/>
              </a:ext>
            </a:extLst>
          </p:cNvPr>
          <p:cNvSpPr txBox="1"/>
          <p:nvPr/>
        </p:nvSpPr>
        <p:spPr>
          <a:xfrm>
            <a:off x="706526" y="5141379"/>
            <a:ext cx="10302850" cy="1477328"/>
          </a:xfrm>
          <a:prstGeom prst="rect">
            <a:avLst/>
          </a:prstGeom>
          <a:noFill/>
        </p:spPr>
        <p:txBody>
          <a:bodyPr wrap="square" rtlCol="0">
            <a:spAutoFit/>
          </a:bodyPr>
          <a:lstStyle/>
          <a:p>
            <a:r>
              <a:rPr lang="en-US" dirty="0"/>
              <a:t>Florida sites: shades of red</a:t>
            </a:r>
          </a:p>
          <a:p>
            <a:r>
              <a:rPr lang="en-US" dirty="0"/>
              <a:t>California sites: shades of blue</a:t>
            </a:r>
          </a:p>
          <a:p>
            <a:r>
              <a:rPr lang="en-US" dirty="0"/>
              <a:t>2023: California sites higher WUE . Also because those CA sites have low salinity</a:t>
            </a:r>
          </a:p>
          <a:p>
            <a:endParaRPr lang="en-US" dirty="0"/>
          </a:p>
          <a:p>
            <a:r>
              <a:rPr lang="en-US" dirty="0"/>
              <a:t>Difference in WUE at medium and low salinity sites is not clear yet. </a:t>
            </a:r>
          </a:p>
        </p:txBody>
      </p:sp>
    </p:spTree>
    <p:extLst>
      <p:ext uri="{BB962C8B-B14F-4D97-AF65-F5344CB8AC3E}">
        <p14:creationId xmlns:p14="http://schemas.microsoft.com/office/powerpoint/2010/main" val="4048635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F1FD6-619B-D26A-04F2-252826081890}"/>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890ED9A1-71BE-B12A-9B53-3C0DF8842DDD}"/>
              </a:ext>
            </a:extLst>
          </p:cNvPr>
          <p:cNvPicPr>
            <a:picLocks noGrp="1" noChangeAspect="1"/>
          </p:cNvPicPr>
          <p:nvPr>
            <p:ph idx="1"/>
          </p:nvPr>
        </p:nvPicPr>
        <p:blipFill>
          <a:blip r:embed="rId3"/>
          <a:stretch>
            <a:fillRect/>
          </a:stretch>
        </p:blipFill>
        <p:spPr>
          <a:xfrm>
            <a:off x="4919633" y="647557"/>
            <a:ext cx="3149762" cy="2781443"/>
          </a:xfrm>
        </p:spPr>
      </p:pic>
      <p:pic>
        <p:nvPicPr>
          <p:cNvPr id="5" name="Picture 4">
            <a:extLst>
              <a:ext uri="{FF2B5EF4-FFF2-40B4-BE49-F238E27FC236}">
                <a16:creationId xmlns:a16="http://schemas.microsoft.com/office/drawing/2014/main" id="{44FD8228-081A-47D2-2241-69111E772525}"/>
              </a:ext>
            </a:extLst>
          </p:cNvPr>
          <p:cNvPicPr>
            <a:picLocks noChangeAspect="1"/>
          </p:cNvPicPr>
          <p:nvPr/>
        </p:nvPicPr>
        <p:blipFill>
          <a:blip r:embed="rId4"/>
          <a:stretch>
            <a:fillRect/>
          </a:stretch>
        </p:blipFill>
        <p:spPr>
          <a:xfrm>
            <a:off x="1393916" y="516964"/>
            <a:ext cx="3391074" cy="3073558"/>
          </a:xfrm>
          <a:prstGeom prst="rect">
            <a:avLst/>
          </a:prstGeom>
        </p:spPr>
      </p:pic>
      <p:sp>
        <p:nvSpPr>
          <p:cNvPr id="3" name="TextBox 2">
            <a:extLst>
              <a:ext uri="{FF2B5EF4-FFF2-40B4-BE49-F238E27FC236}">
                <a16:creationId xmlns:a16="http://schemas.microsoft.com/office/drawing/2014/main" id="{D78FC3D0-C703-F2E5-6BD4-E99631EFD21D}"/>
              </a:ext>
            </a:extLst>
          </p:cNvPr>
          <p:cNvSpPr txBox="1"/>
          <p:nvPr/>
        </p:nvSpPr>
        <p:spPr>
          <a:xfrm>
            <a:off x="680314" y="4608576"/>
            <a:ext cx="9487814" cy="1200329"/>
          </a:xfrm>
          <a:prstGeom prst="rect">
            <a:avLst/>
          </a:prstGeom>
          <a:noFill/>
        </p:spPr>
        <p:txBody>
          <a:bodyPr wrap="square" rtlCol="0">
            <a:spAutoFit/>
          </a:bodyPr>
          <a:lstStyle/>
          <a:p>
            <a:r>
              <a:rPr lang="en-US" dirty="0"/>
              <a:t>VPD, </a:t>
            </a:r>
            <a:r>
              <a:rPr lang="en-US" dirty="0" err="1"/>
              <a:t>ustar</a:t>
            </a:r>
            <a:r>
              <a:rPr lang="en-US" dirty="0"/>
              <a:t> and air temp in US-EKH was missing for 2023 after march so replaced by EKP</a:t>
            </a:r>
          </a:p>
          <a:p>
            <a:r>
              <a:rPr lang="en-US" dirty="0"/>
              <a:t>But values similar </a:t>
            </a:r>
          </a:p>
          <a:p>
            <a:endParaRPr lang="en-US" dirty="0"/>
          </a:p>
          <a:p>
            <a:r>
              <a:rPr lang="en-US" dirty="0"/>
              <a:t>Remove EKH</a:t>
            </a:r>
          </a:p>
        </p:txBody>
      </p:sp>
    </p:spTree>
    <p:extLst>
      <p:ext uri="{BB962C8B-B14F-4D97-AF65-F5344CB8AC3E}">
        <p14:creationId xmlns:p14="http://schemas.microsoft.com/office/powerpoint/2010/main" val="1614475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F6070-7325-A2FB-0E91-8DD2D9B62DA4}"/>
              </a:ext>
            </a:extLst>
          </p:cNvPr>
          <p:cNvSpPr>
            <a:spLocks noGrp="1"/>
          </p:cNvSpPr>
          <p:nvPr>
            <p:ph type="title"/>
          </p:nvPr>
        </p:nvSpPr>
        <p:spPr/>
        <p:txBody>
          <a:bodyPr/>
          <a:lstStyle/>
          <a:p>
            <a:r>
              <a:rPr lang="en-US" dirty="0"/>
              <a:t>Notes</a:t>
            </a:r>
          </a:p>
        </p:txBody>
      </p:sp>
      <p:sp>
        <p:nvSpPr>
          <p:cNvPr id="3" name="Content Placeholder 2">
            <a:extLst>
              <a:ext uri="{FF2B5EF4-FFF2-40B4-BE49-F238E27FC236}">
                <a16:creationId xmlns:a16="http://schemas.microsoft.com/office/drawing/2014/main" id="{16E3AA5F-D450-069B-4477-D2C756E2979D}"/>
              </a:ext>
            </a:extLst>
          </p:cNvPr>
          <p:cNvSpPr>
            <a:spLocks noGrp="1"/>
          </p:cNvSpPr>
          <p:nvPr>
            <p:ph idx="1"/>
          </p:nvPr>
        </p:nvSpPr>
        <p:spPr/>
        <p:txBody>
          <a:bodyPr>
            <a:normAutofit lnSpcReduction="10000"/>
          </a:bodyPr>
          <a:lstStyle/>
          <a:p>
            <a:r>
              <a:rPr lang="en-US" dirty="0"/>
              <a:t>Even though growing season is different but months we selected seem to cover the days with high ET</a:t>
            </a:r>
          </a:p>
          <a:p>
            <a:r>
              <a:rPr lang="en-US" dirty="0"/>
              <a:t>Delay is growing season or growing season get longer included September, Included sept to account for late growing season but </a:t>
            </a:r>
            <a:r>
              <a:rPr lang="en-US" dirty="0" err="1"/>
              <a:t>sep</a:t>
            </a:r>
            <a:r>
              <a:rPr lang="en-US" dirty="0"/>
              <a:t> does not com on top, 6,7,8 come on top even for California</a:t>
            </a:r>
          </a:p>
          <a:p>
            <a:r>
              <a:rPr lang="en-US" dirty="0"/>
              <a:t># initially included April because high salinity, </a:t>
            </a:r>
          </a:p>
          <a:p>
            <a:r>
              <a:rPr lang="en-US" dirty="0"/>
              <a:t>#remove April, sept, some years missing April and September. Hence my including them we will lose years with no April and sept data. </a:t>
            </a:r>
          </a:p>
          <a:p>
            <a:r>
              <a:rPr lang="en-US" dirty="0"/>
              <a:t>Later only include June, July </a:t>
            </a:r>
          </a:p>
        </p:txBody>
      </p:sp>
    </p:spTree>
    <p:extLst>
      <p:ext uri="{BB962C8B-B14F-4D97-AF65-F5344CB8AC3E}">
        <p14:creationId xmlns:p14="http://schemas.microsoft.com/office/powerpoint/2010/main" val="6141033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C15A8A-06F3-44A4-B3F9-B7392F06410D}"/>
              </a:ext>
            </a:extLst>
          </p:cNvPr>
          <p:cNvSpPr>
            <a:spLocks noGrp="1"/>
          </p:cNvSpPr>
          <p:nvPr>
            <p:ph idx="1"/>
          </p:nvPr>
        </p:nvSpPr>
        <p:spPr>
          <a:xfrm>
            <a:off x="662635" y="435737"/>
            <a:ext cx="10515600" cy="4351338"/>
          </a:xfrm>
        </p:spPr>
        <p:txBody>
          <a:bodyPr/>
          <a:lstStyle/>
          <a:p>
            <a:r>
              <a:rPr lang="en-US" dirty="0"/>
              <a:t>Notes</a:t>
            </a:r>
          </a:p>
          <a:p>
            <a:r>
              <a:rPr lang="en-US" dirty="0"/>
              <a:t>Compare months with salinity (bring more years, even if one month is missing, you can still use august from that year. Hence more years of data</a:t>
            </a:r>
          </a:p>
          <a:p>
            <a:r>
              <a:rPr lang="en-US" dirty="0"/>
              <a:t>Slope </a:t>
            </a:r>
          </a:p>
          <a:p>
            <a:r>
              <a:rPr lang="en-US" dirty="0"/>
              <a:t>Delta EVI. Pattern in EVI follow salinity. Modis, </a:t>
            </a:r>
            <a:r>
              <a:rPr lang="en-US" dirty="0" err="1"/>
              <a:t>landsat</a:t>
            </a:r>
            <a:r>
              <a:rPr lang="en-US" dirty="0"/>
              <a:t> signal harmonized product. Download point location. EVI versus salinity continuous salinity data. delta EVI. Change in EVI standardized 0-1. don’t standardize salinity</a:t>
            </a:r>
          </a:p>
        </p:txBody>
      </p:sp>
    </p:spTree>
    <p:extLst>
      <p:ext uri="{BB962C8B-B14F-4D97-AF65-F5344CB8AC3E}">
        <p14:creationId xmlns:p14="http://schemas.microsoft.com/office/powerpoint/2010/main" val="42629617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6D64C-3FF0-DAEA-A214-D39A986249A9}"/>
              </a:ext>
            </a:extLst>
          </p:cNvPr>
          <p:cNvSpPr>
            <a:spLocks noGrp="1"/>
          </p:cNvSpPr>
          <p:nvPr>
            <p:ph type="title"/>
          </p:nvPr>
        </p:nvSpPr>
        <p:spPr/>
        <p:txBody>
          <a:bodyPr/>
          <a:lstStyle/>
          <a:p>
            <a:endParaRPr lang="en-US"/>
          </a:p>
        </p:txBody>
      </p:sp>
      <p:sp>
        <p:nvSpPr>
          <p:cNvPr id="12" name="Content Placeholder 11">
            <a:extLst>
              <a:ext uri="{FF2B5EF4-FFF2-40B4-BE49-F238E27FC236}">
                <a16:creationId xmlns:a16="http://schemas.microsoft.com/office/drawing/2014/main" id="{6E3F61A7-30E6-F770-27B5-76CB2573014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12693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79571-A423-052D-A1FF-DE6769910857}"/>
              </a:ext>
            </a:extLst>
          </p:cNvPr>
          <p:cNvSpPr>
            <a:spLocks noGrp="1"/>
          </p:cNvSpPr>
          <p:nvPr>
            <p:ph type="title"/>
          </p:nvPr>
        </p:nvSpPr>
        <p:spPr/>
        <p:txBody>
          <a:bodyPr/>
          <a:lstStyle/>
          <a:p>
            <a:r>
              <a:rPr lang="en-US" dirty="0"/>
              <a:t>California Sites </a:t>
            </a:r>
          </a:p>
        </p:txBody>
      </p:sp>
      <p:sp>
        <p:nvSpPr>
          <p:cNvPr id="3" name="Content Placeholder 2">
            <a:extLst>
              <a:ext uri="{FF2B5EF4-FFF2-40B4-BE49-F238E27FC236}">
                <a16:creationId xmlns:a16="http://schemas.microsoft.com/office/drawing/2014/main" id="{04656AAA-E0D1-EB0A-9DA9-0E495AFE7D49}"/>
              </a:ext>
            </a:extLst>
          </p:cNvPr>
          <p:cNvSpPr>
            <a:spLocks noGrp="1"/>
          </p:cNvSpPr>
          <p:nvPr>
            <p:ph idx="1"/>
          </p:nvPr>
        </p:nvSpPr>
        <p:spPr/>
        <p:txBody>
          <a:bodyPr>
            <a:normAutofit fontScale="92500" lnSpcReduction="10000"/>
          </a:bodyPr>
          <a:lstStyle/>
          <a:p>
            <a:r>
              <a:rPr lang="en-US" dirty="0"/>
              <a:t>US-TW1 (</a:t>
            </a:r>
            <a:r>
              <a:rPr lang="en-US" sz="2800" i="0" dirty="0">
                <a:solidFill>
                  <a:schemeClr val="accent5">
                    <a:lumMod val="60000"/>
                    <a:lumOff val="40000"/>
                  </a:schemeClr>
                </a:solidFill>
                <a:effectLst/>
                <a:latin typeface="Times New Roman" panose="02020603050405020304" pitchFamily="18" charset="0"/>
                <a:cs typeface="Times New Roman" panose="02020603050405020304" pitchFamily="18" charset="0"/>
              </a:rPr>
              <a:t>Twitchell Wetland West Pond ) </a:t>
            </a:r>
            <a:r>
              <a:rPr lang="en-US" dirty="0"/>
              <a:t>WUE increase until 2016 then drop</a:t>
            </a:r>
          </a:p>
          <a:p>
            <a:pPr marL="0" indent="0">
              <a:lnSpc>
                <a:spcPct val="100000"/>
              </a:lnSpc>
              <a:spcBef>
                <a:spcPts val="0"/>
              </a:spcBef>
              <a:buNone/>
              <a:defRPr/>
            </a:pPr>
            <a:r>
              <a:rPr lang="en-US" dirty="0"/>
              <a:t>US-</a:t>
            </a:r>
            <a:r>
              <a:rPr lang="en-US" dirty="0" err="1"/>
              <a:t>Myb</a:t>
            </a:r>
            <a:r>
              <a:rPr lang="en-US" dirty="0"/>
              <a:t> (</a:t>
            </a:r>
            <a:r>
              <a:rPr lang="en-US" sz="2800" i="0" dirty="0">
                <a:solidFill>
                  <a:schemeClr val="accent5">
                    <a:lumMod val="60000"/>
                    <a:lumOff val="40000"/>
                  </a:schemeClr>
                </a:solidFill>
                <a:effectLst/>
                <a:latin typeface="Times New Roman" panose="02020603050405020304" pitchFamily="18" charset="0"/>
                <a:cs typeface="Times New Roman" panose="02020603050405020304" pitchFamily="18" charset="0"/>
              </a:rPr>
              <a:t>Mayberry Wetland) </a:t>
            </a:r>
            <a:r>
              <a:rPr lang="en-US" dirty="0"/>
              <a:t>WUE consistently increase after 2016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CUE trend is not always inverse to WUE</a:t>
            </a:r>
          </a:p>
          <a:p>
            <a:endParaRPr lang="en-US" dirty="0"/>
          </a:p>
          <a:p>
            <a:r>
              <a:rPr lang="en-US" dirty="0"/>
              <a:t>Analysis beast analysis </a:t>
            </a:r>
          </a:p>
          <a:p>
            <a:r>
              <a:rPr lang="en-US" dirty="0"/>
              <a:t>Petite test </a:t>
            </a:r>
          </a:p>
          <a:p>
            <a:r>
              <a:rPr lang="en-US" dirty="0"/>
              <a:t>Trend of different length. Min 5 years </a:t>
            </a:r>
          </a:p>
          <a:p>
            <a:r>
              <a:rPr lang="en-US" dirty="0"/>
              <a:t>Long term trend </a:t>
            </a:r>
          </a:p>
          <a:p>
            <a:r>
              <a:rPr lang="en-US" dirty="0"/>
              <a:t>Abrupt change, trend, driver of that change </a:t>
            </a:r>
          </a:p>
        </p:txBody>
      </p:sp>
    </p:spTree>
    <p:extLst>
      <p:ext uri="{BB962C8B-B14F-4D97-AF65-F5344CB8AC3E}">
        <p14:creationId xmlns:p14="http://schemas.microsoft.com/office/powerpoint/2010/main" val="29467932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6EB1D0-91EA-9EE9-0F02-6A3CB385265C}"/>
              </a:ext>
            </a:extLst>
          </p:cNvPr>
          <p:cNvPicPr>
            <a:picLocks noChangeAspect="1"/>
          </p:cNvPicPr>
          <p:nvPr/>
        </p:nvPicPr>
        <p:blipFill>
          <a:blip r:embed="rId3"/>
          <a:stretch>
            <a:fillRect/>
          </a:stretch>
        </p:blipFill>
        <p:spPr>
          <a:xfrm>
            <a:off x="472440" y="1233430"/>
            <a:ext cx="4901587" cy="3352381"/>
          </a:xfrm>
          <a:prstGeom prst="rect">
            <a:avLst/>
          </a:prstGeom>
        </p:spPr>
      </p:pic>
      <p:pic>
        <p:nvPicPr>
          <p:cNvPr id="7" name="Picture 6">
            <a:extLst>
              <a:ext uri="{FF2B5EF4-FFF2-40B4-BE49-F238E27FC236}">
                <a16:creationId xmlns:a16="http://schemas.microsoft.com/office/drawing/2014/main" id="{AE67D0A0-0E2A-2A25-6860-A4E253281570}"/>
              </a:ext>
            </a:extLst>
          </p:cNvPr>
          <p:cNvPicPr>
            <a:picLocks noChangeAspect="1"/>
          </p:cNvPicPr>
          <p:nvPr/>
        </p:nvPicPr>
        <p:blipFill>
          <a:blip r:embed="rId4"/>
          <a:stretch>
            <a:fillRect/>
          </a:stretch>
        </p:blipFill>
        <p:spPr>
          <a:xfrm>
            <a:off x="5781244" y="1233430"/>
            <a:ext cx="4901587" cy="3352381"/>
          </a:xfrm>
          <a:prstGeom prst="rect">
            <a:avLst/>
          </a:prstGeom>
        </p:spPr>
      </p:pic>
    </p:spTree>
    <p:extLst>
      <p:ext uri="{BB962C8B-B14F-4D97-AF65-F5344CB8AC3E}">
        <p14:creationId xmlns:p14="http://schemas.microsoft.com/office/powerpoint/2010/main" val="6927305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989E3-0980-109E-B751-B8497518DBDB}"/>
              </a:ext>
            </a:extLst>
          </p:cNvPr>
          <p:cNvSpPr>
            <a:spLocks noGrp="1"/>
          </p:cNvSpPr>
          <p:nvPr>
            <p:ph type="title"/>
          </p:nvPr>
        </p:nvSpPr>
        <p:spPr/>
        <p:txBody>
          <a:bodyPr/>
          <a:lstStyle/>
          <a:p>
            <a:r>
              <a:rPr lang="en-US" dirty="0"/>
              <a:t>Maximum WUE: How will you calculate </a:t>
            </a:r>
          </a:p>
        </p:txBody>
      </p:sp>
      <p:pic>
        <p:nvPicPr>
          <p:cNvPr id="5" name="Picture 4">
            <a:extLst>
              <a:ext uri="{FF2B5EF4-FFF2-40B4-BE49-F238E27FC236}">
                <a16:creationId xmlns:a16="http://schemas.microsoft.com/office/drawing/2014/main" id="{EB1756EC-1A16-7CA6-13DD-5687E71B5354}"/>
              </a:ext>
            </a:extLst>
          </p:cNvPr>
          <p:cNvPicPr>
            <a:picLocks noChangeAspect="1"/>
          </p:cNvPicPr>
          <p:nvPr/>
        </p:nvPicPr>
        <p:blipFill>
          <a:blip r:embed="rId3"/>
          <a:stretch>
            <a:fillRect/>
          </a:stretch>
        </p:blipFill>
        <p:spPr>
          <a:xfrm>
            <a:off x="309475" y="2325103"/>
            <a:ext cx="4901587" cy="3352381"/>
          </a:xfrm>
          <a:prstGeom prst="rect">
            <a:avLst/>
          </a:prstGeom>
        </p:spPr>
      </p:pic>
      <p:pic>
        <p:nvPicPr>
          <p:cNvPr id="9" name="Picture 8">
            <a:extLst>
              <a:ext uri="{FF2B5EF4-FFF2-40B4-BE49-F238E27FC236}">
                <a16:creationId xmlns:a16="http://schemas.microsoft.com/office/drawing/2014/main" id="{DF4265FD-0489-0695-C47A-14CE1AADC788}"/>
              </a:ext>
            </a:extLst>
          </p:cNvPr>
          <p:cNvPicPr>
            <a:picLocks noChangeAspect="1"/>
          </p:cNvPicPr>
          <p:nvPr/>
        </p:nvPicPr>
        <p:blipFill>
          <a:blip r:embed="rId4"/>
          <a:stretch>
            <a:fillRect/>
          </a:stretch>
        </p:blipFill>
        <p:spPr>
          <a:xfrm>
            <a:off x="5484773" y="2325102"/>
            <a:ext cx="4850793" cy="3352381"/>
          </a:xfrm>
          <a:prstGeom prst="rect">
            <a:avLst/>
          </a:prstGeom>
        </p:spPr>
      </p:pic>
    </p:spTree>
    <p:extLst>
      <p:ext uri="{BB962C8B-B14F-4D97-AF65-F5344CB8AC3E}">
        <p14:creationId xmlns:p14="http://schemas.microsoft.com/office/powerpoint/2010/main" val="1345533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4FD37-41A4-DA0C-40F9-B60761A27D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7698A5-4918-64BB-F4B7-699D9AF35C1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DE482BA-D3F9-1738-FF61-A63A203644A0}"/>
              </a:ext>
            </a:extLst>
          </p:cNvPr>
          <p:cNvPicPr>
            <a:picLocks noChangeAspect="1"/>
          </p:cNvPicPr>
          <p:nvPr/>
        </p:nvPicPr>
        <p:blipFill>
          <a:blip r:embed="rId3"/>
          <a:stretch>
            <a:fillRect/>
          </a:stretch>
        </p:blipFill>
        <p:spPr>
          <a:xfrm>
            <a:off x="565507" y="750627"/>
            <a:ext cx="4901587" cy="3352381"/>
          </a:xfrm>
          <a:prstGeom prst="rect">
            <a:avLst/>
          </a:prstGeom>
        </p:spPr>
      </p:pic>
      <p:pic>
        <p:nvPicPr>
          <p:cNvPr id="7" name="Picture 6">
            <a:extLst>
              <a:ext uri="{FF2B5EF4-FFF2-40B4-BE49-F238E27FC236}">
                <a16:creationId xmlns:a16="http://schemas.microsoft.com/office/drawing/2014/main" id="{DB24A891-95EE-90F7-F6F0-B81663D62823}"/>
              </a:ext>
            </a:extLst>
          </p:cNvPr>
          <p:cNvPicPr>
            <a:picLocks noChangeAspect="1"/>
          </p:cNvPicPr>
          <p:nvPr/>
        </p:nvPicPr>
        <p:blipFill>
          <a:blip r:embed="rId4"/>
          <a:stretch>
            <a:fillRect/>
          </a:stretch>
        </p:blipFill>
        <p:spPr>
          <a:xfrm>
            <a:off x="5739787" y="750626"/>
            <a:ext cx="4901587" cy="3352381"/>
          </a:xfrm>
          <a:prstGeom prst="rect">
            <a:avLst/>
          </a:prstGeom>
        </p:spPr>
      </p:pic>
    </p:spTree>
    <p:extLst>
      <p:ext uri="{BB962C8B-B14F-4D97-AF65-F5344CB8AC3E}">
        <p14:creationId xmlns:p14="http://schemas.microsoft.com/office/powerpoint/2010/main" val="7737056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D675D-AAB1-FCF4-A794-66A8685E2487}"/>
              </a:ext>
            </a:extLst>
          </p:cNvPr>
          <p:cNvSpPr>
            <a:spLocks noGrp="1"/>
          </p:cNvSpPr>
          <p:nvPr>
            <p:ph type="title"/>
          </p:nvPr>
        </p:nvSpPr>
        <p:spPr/>
        <p:txBody>
          <a:bodyPr/>
          <a:lstStyle/>
          <a:p>
            <a:r>
              <a:rPr lang="en-US" dirty="0"/>
              <a:t>Slope or move to next reasonable value </a:t>
            </a:r>
          </a:p>
        </p:txBody>
      </p:sp>
      <p:sp>
        <p:nvSpPr>
          <p:cNvPr id="3" name="Content Placeholder 2">
            <a:extLst>
              <a:ext uri="{FF2B5EF4-FFF2-40B4-BE49-F238E27FC236}">
                <a16:creationId xmlns:a16="http://schemas.microsoft.com/office/drawing/2014/main" id="{1C05D45C-7842-C23E-37EA-7DB650E31282}"/>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4BCFC39F-FDF4-5B0F-19F6-E270705ED4E0}"/>
              </a:ext>
            </a:extLst>
          </p:cNvPr>
          <p:cNvPicPr>
            <a:picLocks noChangeAspect="1"/>
          </p:cNvPicPr>
          <p:nvPr/>
        </p:nvPicPr>
        <p:blipFill>
          <a:blip r:embed="rId2"/>
          <a:stretch>
            <a:fillRect/>
          </a:stretch>
        </p:blipFill>
        <p:spPr>
          <a:xfrm>
            <a:off x="945897" y="1752809"/>
            <a:ext cx="4901587" cy="3352381"/>
          </a:xfrm>
          <a:prstGeom prst="rect">
            <a:avLst/>
          </a:prstGeom>
        </p:spPr>
      </p:pic>
      <p:pic>
        <p:nvPicPr>
          <p:cNvPr id="7" name="Picture 6">
            <a:extLst>
              <a:ext uri="{FF2B5EF4-FFF2-40B4-BE49-F238E27FC236}">
                <a16:creationId xmlns:a16="http://schemas.microsoft.com/office/drawing/2014/main" id="{9918A582-0290-8AE5-6CDF-9FA1F108BEB0}"/>
              </a:ext>
            </a:extLst>
          </p:cNvPr>
          <p:cNvPicPr>
            <a:picLocks noChangeAspect="1"/>
          </p:cNvPicPr>
          <p:nvPr/>
        </p:nvPicPr>
        <p:blipFill>
          <a:blip r:embed="rId3"/>
          <a:stretch>
            <a:fillRect/>
          </a:stretch>
        </p:blipFill>
        <p:spPr>
          <a:xfrm>
            <a:off x="6344518" y="1767319"/>
            <a:ext cx="4850793" cy="3352381"/>
          </a:xfrm>
          <a:prstGeom prst="rect">
            <a:avLst/>
          </a:prstGeom>
        </p:spPr>
      </p:pic>
    </p:spTree>
    <p:extLst>
      <p:ext uri="{BB962C8B-B14F-4D97-AF65-F5344CB8AC3E}">
        <p14:creationId xmlns:p14="http://schemas.microsoft.com/office/powerpoint/2010/main" val="23766476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F1274-E001-12B3-9A40-3D1DAEAA750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C10BF8-0E18-98C4-99FF-2A9D8C9A8363}"/>
              </a:ext>
            </a:extLst>
          </p:cNvPr>
          <p:cNvSpPr>
            <a:spLocks noGrp="1"/>
          </p:cNvSpPr>
          <p:nvPr>
            <p:ph idx="1"/>
          </p:nvPr>
        </p:nvSpPr>
        <p:spPr/>
        <p:txBody>
          <a:bodyPr/>
          <a:lstStyle/>
          <a:p>
            <a:pPr marL="0" indent="0">
              <a:buNone/>
            </a:pPr>
            <a:r>
              <a:rPr lang="en-US" dirty="0"/>
              <a:t>Calculate slope by year</a:t>
            </a:r>
          </a:p>
          <a:p>
            <a:pPr marL="0" indent="0">
              <a:buNone/>
            </a:pPr>
            <a:r>
              <a:rPr lang="en-US" dirty="0"/>
              <a:t>Maximum how to calculate slope </a:t>
            </a:r>
          </a:p>
        </p:txBody>
      </p:sp>
    </p:spTree>
    <p:extLst>
      <p:ext uri="{BB962C8B-B14F-4D97-AF65-F5344CB8AC3E}">
        <p14:creationId xmlns:p14="http://schemas.microsoft.com/office/powerpoint/2010/main" val="20286030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B94C2-40E7-AA6B-6128-607E97D1971B}"/>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C5A14E34-1AE6-FEF9-9E1D-42E94F16D3AA}"/>
              </a:ext>
            </a:extLst>
          </p:cNvPr>
          <p:cNvSpPr>
            <a:spLocks noGrp="1"/>
          </p:cNvSpPr>
          <p:nvPr>
            <p:ph idx="1"/>
          </p:nvPr>
        </p:nvSpPr>
        <p:spPr/>
        <p:txBody>
          <a:bodyPr>
            <a:normAutofit fontScale="92500" lnSpcReduction="20000"/>
          </a:bodyPr>
          <a:lstStyle/>
          <a:p>
            <a:r>
              <a:rPr lang="en-US" sz="2000" dirty="0">
                <a:effectLst/>
                <a:latin typeface="Times New Roman" panose="02020603050405020304" pitchFamily="18" charset="0"/>
                <a:ea typeface="Times New Roman" panose="02020603050405020304" pitchFamily="18" charset="0"/>
              </a:rPr>
              <a:t>Measuring soil moisture and hydro-edaphic factors is complex</a:t>
            </a:r>
          </a:p>
          <a:p>
            <a:pPr marL="0" indent="0">
              <a:buNone/>
            </a:pPr>
            <a:endParaRPr lang="en-US" sz="2000" dirty="0">
              <a:effectLst/>
              <a:latin typeface="Times New Roman" panose="02020603050405020304" pitchFamily="18" charset="0"/>
              <a:ea typeface="Times New Roman" panose="02020603050405020304" pitchFamily="18" charset="0"/>
            </a:endParaRPr>
          </a:p>
          <a:p>
            <a:r>
              <a:rPr lang="en-US" sz="2000" dirty="0">
                <a:latin typeface="Times New Roman" panose="02020603050405020304" pitchFamily="18" charset="0"/>
              </a:rPr>
              <a:t>WUE as a measure of capturing shifts in soil condition </a:t>
            </a:r>
          </a:p>
          <a:p>
            <a:pPr marL="0" indent="0">
              <a:buNone/>
            </a:pPr>
            <a:endParaRPr lang="en-US" sz="2000" dirty="0">
              <a:latin typeface="Times New Roman" panose="02020603050405020304" pitchFamily="18" charset="0"/>
            </a:endParaRPr>
          </a:p>
          <a:p>
            <a:r>
              <a:rPr lang="en-US" sz="2000" dirty="0">
                <a:latin typeface="Times New Roman" panose="02020603050405020304" pitchFamily="18" charset="0"/>
              </a:rPr>
              <a:t>Carbon and water cycle are linked. </a:t>
            </a:r>
          </a:p>
          <a:p>
            <a:r>
              <a:rPr lang="en-US" sz="2000" dirty="0">
                <a:latin typeface="Times New Roman" panose="02020603050405020304" pitchFamily="18" charset="0"/>
              </a:rPr>
              <a:t>Increase WUE: </a:t>
            </a:r>
            <a:r>
              <a:rPr lang="en-US" sz="2000" dirty="0">
                <a:effectLst/>
                <a:latin typeface="Times New Roman" panose="02020603050405020304" pitchFamily="18" charset="0"/>
                <a:ea typeface="Times New Roman" panose="02020603050405020304" pitchFamily="18" charset="0"/>
              </a:rPr>
              <a:t>less water is lost per unit of carbon fixed, reducing the total carbon fixed (more carbon loss). </a:t>
            </a:r>
          </a:p>
          <a:p>
            <a:r>
              <a:rPr lang="en-US" sz="2000" dirty="0">
                <a:effectLst/>
                <a:latin typeface="Times New Roman" panose="02020603050405020304" pitchFamily="18" charset="0"/>
                <a:ea typeface="Times New Roman" panose="02020603050405020304" pitchFamily="18" charset="0"/>
              </a:rPr>
              <a:t>Decrease WUE: maximizing carbon gain (increased photosynthesis) can result in higher water loss</a:t>
            </a:r>
          </a:p>
          <a:p>
            <a:pPr marL="0" indent="0">
              <a:buNone/>
            </a:pPr>
            <a:endParaRPr lang="en-US" sz="2000" dirty="0">
              <a:effectLst/>
              <a:latin typeface="Times New Roman" panose="02020603050405020304" pitchFamily="18" charset="0"/>
              <a:ea typeface="Times New Roman" panose="02020603050405020304" pitchFamily="18" charset="0"/>
            </a:endParaRPr>
          </a:p>
          <a:p>
            <a:r>
              <a:rPr lang="en-US" sz="2000" dirty="0">
                <a:latin typeface="Times New Roman" panose="02020603050405020304" pitchFamily="18" charset="0"/>
                <a:ea typeface="Times New Roman" panose="02020603050405020304" pitchFamily="18" charset="0"/>
              </a:rPr>
              <a:t>WUE= GPP/ET,  CUE=NEP/GPP, NEP=GPP-Res</a:t>
            </a:r>
          </a:p>
          <a:p>
            <a:pPr marL="0" indent="0">
              <a:buNone/>
            </a:pPr>
            <a:endParaRPr lang="en-US" sz="2000" dirty="0">
              <a:effectLst/>
              <a:latin typeface="Times New Roman" panose="02020603050405020304" pitchFamily="18" charset="0"/>
              <a:ea typeface="Times New Roman" panose="02020603050405020304" pitchFamily="18" charset="0"/>
            </a:endParaRPr>
          </a:p>
          <a:p>
            <a:r>
              <a:rPr lang="en-US" sz="2000" dirty="0">
                <a:latin typeface="Times New Roman" panose="02020603050405020304" pitchFamily="18" charset="0"/>
              </a:rPr>
              <a:t>Climate change effect on water and carbon cycle: Drought: WUE increases (abiotic), Humid: WUE decrease (biotic factor) </a:t>
            </a:r>
          </a:p>
        </p:txBody>
      </p:sp>
    </p:spTree>
    <p:extLst>
      <p:ext uri="{BB962C8B-B14F-4D97-AF65-F5344CB8AC3E}">
        <p14:creationId xmlns:p14="http://schemas.microsoft.com/office/powerpoint/2010/main" val="4020109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B7B05-65FC-D7A5-7818-1A4655C317B6}"/>
              </a:ext>
            </a:extLst>
          </p:cNvPr>
          <p:cNvSpPr>
            <a:spLocks noGrp="1"/>
          </p:cNvSpPr>
          <p:nvPr>
            <p:ph type="title"/>
          </p:nvPr>
        </p:nvSpPr>
        <p:spPr/>
        <p:txBody>
          <a:bodyPr/>
          <a:lstStyle/>
          <a:p>
            <a:r>
              <a:rPr lang="en-US" dirty="0"/>
              <a:t>Methods </a:t>
            </a:r>
          </a:p>
        </p:txBody>
      </p:sp>
      <p:sp>
        <p:nvSpPr>
          <p:cNvPr id="3" name="Content Placeholder 2">
            <a:extLst>
              <a:ext uri="{FF2B5EF4-FFF2-40B4-BE49-F238E27FC236}">
                <a16:creationId xmlns:a16="http://schemas.microsoft.com/office/drawing/2014/main" id="{0A77710C-25F4-F3C0-18E1-24E4B71E8E36}"/>
              </a:ext>
            </a:extLst>
          </p:cNvPr>
          <p:cNvSpPr>
            <a:spLocks noGrp="1"/>
          </p:cNvSpPr>
          <p:nvPr>
            <p:ph idx="1"/>
          </p:nvPr>
        </p:nvSpPr>
        <p:spPr/>
        <p:txBody>
          <a:bodyPr/>
          <a:lstStyle/>
          <a:p>
            <a:r>
              <a:rPr lang="en-US" dirty="0"/>
              <a:t>Gap filled LE, NEE</a:t>
            </a:r>
          </a:p>
          <a:p>
            <a:r>
              <a:rPr lang="en-US" dirty="0"/>
              <a:t>Partitioned NEE to GPP and Res</a:t>
            </a:r>
          </a:p>
          <a:p>
            <a:r>
              <a:rPr lang="en-US" dirty="0"/>
              <a:t>Day time (light response curve) and nighttime fluxes </a:t>
            </a:r>
          </a:p>
          <a:p>
            <a:r>
              <a:rPr lang="en-US" dirty="0"/>
              <a:t>Day time (higher photosynthesis, LRC) </a:t>
            </a:r>
          </a:p>
          <a:p>
            <a:r>
              <a:rPr lang="en-US" dirty="0"/>
              <a:t>Calculate WUE and CUE</a:t>
            </a:r>
          </a:p>
        </p:txBody>
      </p:sp>
    </p:spTree>
    <p:extLst>
      <p:ext uri="{BB962C8B-B14F-4D97-AF65-F5344CB8AC3E}">
        <p14:creationId xmlns:p14="http://schemas.microsoft.com/office/powerpoint/2010/main" val="1444510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7AF9E-9EE4-9E7C-9FD7-BCBB33532AF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AA7328-DD90-DBE1-71D2-2C72791CC4D5}"/>
              </a:ext>
            </a:extLst>
          </p:cNvPr>
          <p:cNvSpPr>
            <a:spLocks noGrp="1"/>
          </p:cNvSpPr>
          <p:nvPr>
            <p:ph idx="1"/>
          </p:nvPr>
        </p:nvSpPr>
        <p:spPr/>
        <p:txBody>
          <a:bodyPr>
            <a:normAutofit lnSpcReduction="10000"/>
          </a:bodyPr>
          <a:lstStyle/>
          <a:p>
            <a:r>
              <a:rPr lang="en-US" dirty="0"/>
              <a:t>Look at California sites separately to get an idea of growing season, when is </a:t>
            </a:r>
            <a:r>
              <a:rPr lang="en-US"/>
              <a:t>high temp and ET</a:t>
            </a:r>
          </a:p>
          <a:p>
            <a:r>
              <a:rPr lang="en-US" dirty="0"/>
              <a:t>Changes in salinity: across time</a:t>
            </a:r>
          </a:p>
          <a:p>
            <a:r>
              <a:rPr lang="en-US" dirty="0"/>
              <a:t>Average salinity monthly</a:t>
            </a:r>
          </a:p>
          <a:p>
            <a:r>
              <a:rPr lang="en-US" dirty="0"/>
              <a:t>GPP (y axis), ET (x) graph slope on monthly data. can calculate slope by year or slope by site. </a:t>
            </a:r>
          </a:p>
          <a:p>
            <a:r>
              <a:rPr lang="en-US" dirty="0"/>
              <a:t>As leaf out happening, because take a while , California </a:t>
            </a:r>
            <a:r>
              <a:rPr lang="en-US" dirty="0" err="1"/>
              <a:t>feb</a:t>
            </a:r>
            <a:r>
              <a:rPr lang="en-US" dirty="0"/>
              <a:t>, April , check NEE, GPP </a:t>
            </a:r>
          </a:p>
          <a:p>
            <a:r>
              <a:rPr lang="en-US" dirty="0"/>
              <a:t>Graph WUE (monthly  on y) and salinity on x axis. In this graph several months in a year</a:t>
            </a:r>
          </a:p>
          <a:p>
            <a:pPr marL="0" indent="0">
              <a:buNone/>
            </a:pPr>
            <a:endParaRPr lang="en-US" dirty="0"/>
          </a:p>
        </p:txBody>
      </p:sp>
    </p:spTree>
    <p:extLst>
      <p:ext uri="{BB962C8B-B14F-4D97-AF65-F5344CB8AC3E}">
        <p14:creationId xmlns:p14="http://schemas.microsoft.com/office/powerpoint/2010/main" val="21112214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23439-349D-D9C1-0AFD-C08B993D5C55}"/>
              </a:ext>
            </a:extLst>
          </p:cNvPr>
          <p:cNvSpPr>
            <a:spLocks noGrp="1"/>
          </p:cNvSpPr>
          <p:nvPr>
            <p:ph type="title"/>
          </p:nvPr>
        </p:nvSpPr>
        <p:spPr/>
        <p:txBody>
          <a:bodyPr/>
          <a:lstStyle/>
          <a:p>
            <a:endParaRPr lang="en-US"/>
          </a:p>
        </p:txBody>
      </p:sp>
      <p:pic>
        <p:nvPicPr>
          <p:cNvPr id="9" name="Content Placeholder 8" descr="A graph with different colored lines&#10;&#10;Description automatically generated">
            <a:extLst>
              <a:ext uri="{FF2B5EF4-FFF2-40B4-BE49-F238E27FC236}">
                <a16:creationId xmlns:a16="http://schemas.microsoft.com/office/drawing/2014/main" id="{9BD2E204-154C-4A1E-A4D4-F9FF45B53D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669" y="314795"/>
            <a:ext cx="5486400" cy="3037748"/>
          </a:xfrm>
        </p:spPr>
      </p:pic>
      <p:pic>
        <p:nvPicPr>
          <p:cNvPr id="10" name="Content Placeholder 4" descr="A graph of different colored lines&#10;&#10;Description automatically generated">
            <a:extLst>
              <a:ext uri="{FF2B5EF4-FFF2-40B4-BE49-F238E27FC236}">
                <a16:creationId xmlns:a16="http://schemas.microsoft.com/office/drawing/2014/main" id="{45DE8850-2A9A-9E99-FAB0-75595E6DB8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3069" y="2142639"/>
            <a:ext cx="5486400" cy="3041683"/>
          </a:xfrm>
          <a:prstGeom prst="rect">
            <a:avLst/>
          </a:prstGeom>
        </p:spPr>
      </p:pic>
      <p:sp>
        <p:nvSpPr>
          <p:cNvPr id="3" name="TextBox 2">
            <a:extLst>
              <a:ext uri="{FF2B5EF4-FFF2-40B4-BE49-F238E27FC236}">
                <a16:creationId xmlns:a16="http://schemas.microsoft.com/office/drawing/2014/main" id="{0CB50AA7-30FA-494C-ADFF-442884A52B74}"/>
              </a:ext>
            </a:extLst>
          </p:cNvPr>
          <p:cNvSpPr txBox="1"/>
          <p:nvPr/>
        </p:nvSpPr>
        <p:spPr>
          <a:xfrm>
            <a:off x="592531" y="3718679"/>
            <a:ext cx="4608576" cy="3139321"/>
          </a:xfrm>
          <a:prstGeom prst="rect">
            <a:avLst/>
          </a:prstGeom>
          <a:noFill/>
        </p:spPr>
        <p:txBody>
          <a:bodyPr wrap="square" rtlCol="0">
            <a:spAutoFit/>
          </a:bodyPr>
          <a:lstStyle/>
          <a:p>
            <a:pPr marL="285750" indent="-285750">
              <a:buFont typeface="Arial" panose="020B0604020202020204" pitchFamily="34" charset="0"/>
              <a:buChar char="•"/>
            </a:pPr>
            <a:r>
              <a:rPr lang="en-US" dirty="0"/>
              <a:t>5 Florida sites</a:t>
            </a:r>
          </a:p>
          <a:p>
            <a:pPr marL="285750" indent="-285750">
              <a:buFont typeface="Arial" panose="020B0604020202020204" pitchFamily="34" charset="0"/>
              <a:buChar char="•"/>
            </a:pPr>
            <a:r>
              <a:rPr lang="en-US" dirty="0"/>
              <a:t>Salinity:9-34 ppt</a:t>
            </a:r>
          </a:p>
          <a:p>
            <a:pPr marL="285750" indent="-285750">
              <a:buFont typeface="Arial" panose="020B0604020202020204" pitchFamily="34" charset="0"/>
              <a:buChar char="•"/>
            </a:pPr>
            <a:r>
              <a:rPr lang="en-US" dirty="0"/>
              <a:t>Compare sites in the same year</a:t>
            </a:r>
          </a:p>
          <a:p>
            <a:pPr marL="285750" indent="-285750">
              <a:buFont typeface="Arial" panose="020B0604020202020204" pitchFamily="34" charset="0"/>
              <a:buChar char="•"/>
            </a:pPr>
            <a:r>
              <a:rPr lang="en-US" dirty="0"/>
              <a:t>2018: US-Tas higher salinity, lower WUE</a:t>
            </a:r>
          </a:p>
          <a:p>
            <a:pPr marL="285750" indent="-285750">
              <a:buFont typeface="Arial" panose="020B0604020202020204" pitchFamily="34" charset="0"/>
              <a:buChar char="•"/>
            </a:pPr>
            <a:r>
              <a:rPr lang="en-US" dirty="0"/>
              <a:t>2019: US-Tas higher salinity, lower WUE</a:t>
            </a:r>
          </a:p>
          <a:p>
            <a:pPr marL="285750" indent="-285750">
              <a:buFont typeface="Arial" panose="020B0604020202020204" pitchFamily="34" charset="0"/>
              <a:buChar char="•"/>
            </a:pPr>
            <a:r>
              <a:rPr lang="en-US" dirty="0"/>
              <a:t>2021: US-EVM lower salinity, low WUE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Different biome forest versus wetland </a:t>
            </a:r>
          </a:p>
          <a:p>
            <a:pPr marL="285750" indent="-285750">
              <a:buFont typeface="Arial" panose="020B0604020202020204" pitchFamily="34" charset="0"/>
              <a:buChar char="•"/>
            </a:pPr>
            <a:r>
              <a:rPr lang="en-US" dirty="0"/>
              <a:t>low salinity and high salinity both means low WUE</a:t>
            </a:r>
          </a:p>
          <a:p>
            <a:endParaRPr lang="en-US" dirty="0"/>
          </a:p>
        </p:txBody>
      </p:sp>
      <p:sp>
        <p:nvSpPr>
          <p:cNvPr id="4" name="TextBox 3">
            <a:extLst>
              <a:ext uri="{FF2B5EF4-FFF2-40B4-BE49-F238E27FC236}">
                <a16:creationId xmlns:a16="http://schemas.microsoft.com/office/drawing/2014/main" id="{2DBF8197-A7AB-0155-C633-2A2C2C6050FC}"/>
              </a:ext>
            </a:extLst>
          </p:cNvPr>
          <p:cNvSpPr txBox="1"/>
          <p:nvPr/>
        </p:nvSpPr>
        <p:spPr>
          <a:xfrm>
            <a:off x="6990895" y="5636273"/>
            <a:ext cx="4832909" cy="369332"/>
          </a:xfrm>
          <a:prstGeom prst="rect">
            <a:avLst/>
          </a:prstGeom>
          <a:noFill/>
        </p:spPr>
        <p:txBody>
          <a:bodyPr wrap="square" rtlCol="0">
            <a:spAutoFit/>
          </a:bodyPr>
          <a:lstStyle/>
          <a:p>
            <a:r>
              <a:rPr lang="en-US" dirty="0"/>
              <a:t>US-Tas: high salinity, high CUE</a:t>
            </a:r>
          </a:p>
        </p:txBody>
      </p:sp>
    </p:spTree>
    <p:extLst>
      <p:ext uri="{BB962C8B-B14F-4D97-AF65-F5344CB8AC3E}">
        <p14:creationId xmlns:p14="http://schemas.microsoft.com/office/powerpoint/2010/main" val="3523144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3419B-E5FA-849D-EE32-BBABB40DB5FA}"/>
              </a:ext>
            </a:extLst>
          </p:cNvPr>
          <p:cNvSpPr>
            <a:spLocks noGrp="1"/>
          </p:cNvSpPr>
          <p:nvPr>
            <p:ph type="title"/>
          </p:nvPr>
        </p:nvSpPr>
        <p:spPr/>
        <p:txBody>
          <a:bodyPr/>
          <a:lstStyle/>
          <a:p>
            <a:endParaRPr lang="en-US"/>
          </a:p>
        </p:txBody>
      </p:sp>
      <p:pic>
        <p:nvPicPr>
          <p:cNvPr id="9" name="Picture 8">
            <a:extLst>
              <a:ext uri="{FF2B5EF4-FFF2-40B4-BE49-F238E27FC236}">
                <a16:creationId xmlns:a16="http://schemas.microsoft.com/office/drawing/2014/main" id="{1E0C5CA4-4950-98F1-F9E0-CB5C8C7360EF}"/>
              </a:ext>
            </a:extLst>
          </p:cNvPr>
          <p:cNvPicPr>
            <a:picLocks noChangeAspect="1"/>
          </p:cNvPicPr>
          <p:nvPr/>
        </p:nvPicPr>
        <p:blipFill>
          <a:blip r:embed="rId2"/>
          <a:stretch>
            <a:fillRect/>
          </a:stretch>
        </p:blipFill>
        <p:spPr>
          <a:xfrm>
            <a:off x="609600" y="365125"/>
            <a:ext cx="5486400" cy="3097404"/>
          </a:xfrm>
          <a:prstGeom prst="rect">
            <a:avLst/>
          </a:prstGeom>
        </p:spPr>
      </p:pic>
      <p:sp>
        <p:nvSpPr>
          <p:cNvPr id="3" name="TextBox 2">
            <a:extLst>
              <a:ext uri="{FF2B5EF4-FFF2-40B4-BE49-F238E27FC236}">
                <a16:creationId xmlns:a16="http://schemas.microsoft.com/office/drawing/2014/main" id="{913C03CD-FF39-40AA-D2AF-7646CD4C48E8}"/>
              </a:ext>
            </a:extLst>
          </p:cNvPr>
          <p:cNvSpPr txBox="1"/>
          <p:nvPr/>
        </p:nvSpPr>
        <p:spPr>
          <a:xfrm>
            <a:off x="702259" y="3767329"/>
            <a:ext cx="4608576" cy="2862322"/>
          </a:xfrm>
          <a:prstGeom prst="rect">
            <a:avLst/>
          </a:prstGeom>
          <a:noFill/>
        </p:spPr>
        <p:txBody>
          <a:bodyPr wrap="square" rtlCol="0">
            <a:spAutoFit/>
          </a:bodyPr>
          <a:lstStyle/>
          <a:p>
            <a:pPr marL="285750" indent="-285750">
              <a:buFont typeface="Arial" panose="020B0604020202020204" pitchFamily="34" charset="0"/>
              <a:buChar char="•"/>
            </a:pPr>
            <a:r>
              <a:rPr lang="en-US" dirty="0"/>
              <a:t>Salinity:9-34 ppt</a:t>
            </a:r>
          </a:p>
          <a:p>
            <a:pPr marL="285750" indent="-285750">
              <a:buFont typeface="Arial" panose="020B0604020202020204" pitchFamily="34" charset="0"/>
              <a:buChar char="•"/>
            </a:pPr>
            <a:r>
              <a:rPr lang="en-US" dirty="0"/>
              <a:t>Compare sites in the same year</a:t>
            </a:r>
          </a:p>
          <a:p>
            <a:pPr marL="285750" indent="-285750">
              <a:buFont typeface="Arial" panose="020B0604020202020204" pitchFamily="34" charset="0"/>
              <a:buChar char="•"/>
            </a:pPr>
            <a:r>
              <a:rPr lang="en-US" dirty="0"/>
              <a:t>2018: US-Tas higher salinity, lower WUE</a:t>
            </a:r>
          </a:p>
          <a:p>
            <a:pPr marL="285750" indent="-285750">
              <a:buFont typeface="Arial" panose="020B0604020202020204" pitchFamily="34" charset="0"/>
              <a:buChar char="•"/>
            </a:pPr>
            <a:r>
              <a:rPr lang="en-US" dirty="0"/>
              <a:t>2019: US-Tas higher salinity, lower WUE</a:t>
            </a:r>
          </a:p>
          <a:p>
            <a:pPr marL="285750" indent="-285750">
              <a:buFont typeface="Arial" panose="020B0604020202020204" pitchFamily="34" charset="0"/>
              <a:buChar char="•"/>
            </a:pPr>
            <a:r>
              <a:rPr lang="en-US" dirty="0"/>
              <a:t>2021: US-EVM lower salinity, low WUE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Different biome forest versus wetland </a:t>
            </a:r>
          </a:p>
          <a:p>
            <a:pPr marL="285750" indent="-285750">
              <a:buFont typeface="Arial" panose="020B0604020202020204" pitchFamily="34" charset="0"/>
              <a:buChar char="•"/>
            </a:pPr>
            <a:r>
              <a:rPr lang="en-US" dirty="0"/>
              <a:t>low salinity and high salinity both means low WUE</a:t>
            </a:r>
          </a:p>
          <a:p>
            <a:endParaRPr lang="en-US" dirty="0"/>
          </a:p>
        </p:txBody>
      </p:sp>
      <p:sp>
        <p:nvSpPr>
          <p:cNvPr id="5" name="Content Placeholder 4">
            <a:extLst>
              <a:ext uri="{FF2B5EF4-FFF2-40B4-BE49-F238E27FC236}">
                <a16:creationId xmlns:a16="http://schemas.microsoft.com/office/drawing/2014/main" id="{5BB14F11-57CE-FFD6-0590-33E642B73B09}"/>
              </a:ext>
            </a:extLst>
          </p:cNvPr>
          <p:cNvSpPr>
            <a:spLocks noGrp="1"/>
          </p:cNvSpPr>
          <p:nvPr>
            <p:ph idx="1"/>
          </p:nvPr>
        </p:nvSpPr>
        <p:spPr/>
        <p:txBody>
          <a:bodyPr/>
          <a:lstStyle/>
          <a:p>
            <a:endParaRPr lang="en-US"/>
          </a:p>
        </p:txBody>
      </p:sp>
      <p:pic>
        <p:nvPicPr>
          <p:cNvPr id="6" name="Content Placeholder 10" descr="A graph with different colored lines&#10;&#10;Description automatically generated">
            <a:extLst>
              <a:ext uri="{FF2B5EF4-FFF2-40B4-BE49-F238E27FC236}">
                <a16:creationId xmlns:a16="http://schemas.microsoft.com/office/drawing/2014/main" id="{7896F6BC-0506-507B-A732-2F6501FA80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270217"/>
            <a:ext cx="5486400" cy="3041683"/>
          </a:xfrm>
          <a:prstGeom prst="rect">
            <a:avLst/>
          </a:prstGeom>
        </p:spPr>
      </p:pic>
    </p:spTree>
    <p:extLst>
      <p:ext uri="{BB962C8B-B14F-4D97-AF65-F5344CB8AC3E}">
        <p14:creationId xmlns:p14="http://schemas.microsoft.com/office/powerpoint/2010/main" val="2596467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99DF1F5-EFC7-106E-0859-D8CBF80BFE47}"/>
              </a:ext>
            </a:extLst>
          </p:cNvPr>
          <p:cNvGraphicFramePr>
            <a:graphicFrameLocks noGrp="1"/>
          </p:cNvGraphicFramePr>
          <p:nvPr>
            <p:ph idx="1"/>
            <p:extLst>
              <p:ext uri="{D42A27DB-BD31-4B8C-83A1-F6EECF244321}">
                <p14:modId xmlns:p14="http://schemas.microsoft.com/office/powerpoint/2010/main" val="324461434"/>
              </p:ext>
            </p:extLst>
          </p:nvPr>
        </p:nvGraphicFramePr>
        <p:xfrm>
          <a:off x="536448" y="877316"/>
          <a:ext cx="11378180" cy="4170680"/>
        </p:xfrm>
        <a:graphic>
          <a:graphicData uri="http://schemas.openxmlformats.org/drawingml/2006/table">
            <a:tbl>
              <a:tblPr firstRow="1" bandRow="1">
                <a:tableStyleId>{5C22544A-7EE6-4342-B048-85BDC9FD1C3A}</a:tableStyleId>
              </a:tblPr>
              <a:tblGrid>
                <a:gridCol w="1137818">
                  <a:extLst>
                    <a:ext uri="{9D8B030D-6E8A-4147-A177-3AD203B41FA5}">
                      <a16:colId xmlns:a16="http://schemas.microsoft.com/office/drawing/2014/main" val="2326077777"/>
                    </a:ext>
                  </a:extLst>
                </a:gridCol>
                <a:gridCol w="1137818">
                  <a:extLst>
                    <a:ext uri="{9D8B030D-6E8A-4147-A177-3AD203B41FA5}">
                      <a16:colId xmlns:a16="http://schemas.microsoft.com/office/drawing/2014/main" val="3762835800"/>
                    </a:ext>
                  </a:extLst>
                </a:gridCol>
                <a:gridCol w="1137818">
                  <a:extLst>
                    <a:ext uri="{9D8B030D-6E8A-4147-A177-3AD203B41FA5}">
                      <a16:colId xmlns:a16="http://schemas.microsoft.com/office/drawing/2014/main" val="3904827014"/>
                    </a:ext>
                  </a:extLst>
                </a:gridCol>
                <a:gridCol w="1137818">
                  <a:extLst>
                    <a:ext uri="{9D8B030D-6E8A-4147-A177-3AD203B41FA5}">
                      <a16:colId xmlns:a16="http://schemas.microsoft.com/office/drawing/2014/main" val="1924622910"/>
                    </a:ext>
                  </a:extLst>
                </a:gridCol>
                <a:gridCol w="1203352">
                  <a:extLst>
                    <a:ext uri="{9D8B030D-6E8A-4147-A177-3AD203B41FA5}">
                      <a16:colId xmlns:a16="http://schemas.microsoft.com/office/drawing/2014/main" val="1394320776"/>
                    </a:ext>
                  </a:extLst>
                </a:gridCol>
                <a:gridCol w="1197864">
                  <a:extLst>
                    <a:ext uri="{9D8B030D-6E8A-4147-A177-3AD203B41FA5}">
                      <a16:colId xmlns:a16="http://schemas.microsoft.com/office/drawing/2014/main" val="3623501912"/>
                    </a:ext>
                  </a:extLst>
                </a:gridCol>
                <a:gridCol w="1399032">
                  <a:extLst>
                    <a:ext uri="{9D8B030D-6E8A-4147-A177-3AD203B41FA5}">
                      <a16:colId xmlns:a16="http://schemas.microsoft.com/office/drawing/2014/main" val="3922856760"/>
                    </a:ext>
                  </a:extLst>
                </a:gridCol>
                <a:gridCol w="2532888">
                  <a:extLst>
                    <a:ext uri="{9D8B030D-6E8A-4147-A177-3AD203B41FA5}">
                      <a16:colId xmlns:a16="http://schemas.microsoft.com/office/drawing/2014/main" val="1503516006"/>
                    </a:ext>
                  </a:extLst>
                </a:gridCol>
                <a:gridCol w="237744">
                  <a:extLst>
                    <a:ext uri="{9D8B030D-6E8A-4147-A177-3AD203B41FA5}">
                      <a16:colId xmlns:a16="http://schemas.microsoft.com/office/drawing/2014/main" val="2083240888"/>
                    </a:ext>
                  </a:extLst>
                </a:gridCol>
                <a:gridCol w="256028">
                  <a:extLst>
                    <a:ext uri="{9D8B030D-6E8A-4147-A177-3AD203B41FA5}">
                      <a16:colId xmlns:a16="http://schemas.microsoft.com/office/drawing/2014/main" val="1653550650"/>
                    </a:ext>
                  </a:extLst>
                </a:gridCol>
              </a:tblGrid>
              <a:tr h="370840">
                <a:tc>
                  <a:txBody>
                    <a:bodyPr/>
                    <a:lstStyle/>
                    <a:p>
                      <a:r>
                        <a:rPr lang="en-US" sz="1050" dirty="0"/>
                        <a:t>Site name</a:t>
                      </a:r>
                    </a:p>
                  </a:txBody>
                  <a:tcPr/>
                </a:tc>
                <a:tc>
                  <a:txBody>
                    <a:bodyPr/>
                    <a:lstStyle/>
                    <a:p>
                      <a:r>
                        <a:rPr lang="en-US" sz="1050" dirty="0"/>
                        <a:t>NEE</a:t>
                      </a:r>
                    </a:p>
                    <a:p>
                      <a:r>
                        <a:rPr lang="en-US" sz="1050" dirty="0"/>
                        <a:t>gcm-2</a:t>
                      </a:r>
                    </a:p>
                  </a:txBody>
                  <a:tcPr/>
                </a:tc>
                <a:tc>
                  <a:txBody>
                    <a:bodyPr/>
                    <a:lstStyle/>
                    <a:p>
                      <a:r>
                        <a:rPr lang="en-US" sz="1050" dirty="0"/>
                        <a:t>ET</a:t>
                      </a:r>
                    </a:p>
                    <a:p>
                      <a:r>
                        <a:rPr lang="en-US" sz="1050" dirty="0"/>
                        <a:t>mm</a:t>
                      </a:r>
                    </a:p>
                  </a:txBody>
                  <a:tcPr/>
                </a:tc>
                <a:tc>
                  <a:txBody>
                    <a:bodyPr/>
                    <a:lstStyle/>
                    <a:p>
                      <a:r>
                        <a:rPr lang="en-US" sz="1050" dirty="0"/>
                        <a:t>GPP</a:t>
                      </a:r>
                    </a:p>
                  </a:txBody>
                  <a:tcPr/>
                </a:tc>
                <a:tc>
                  <a:txBody>
                    <a:bodyPr/>
                    <a:lstStyle/>
                    <a:p>
                      <a:r>
                        <a:rPr lang="en-US" sz="1050" dirty="0"/>
                        <a:t>NPP</a:t>
                      </a:r>
                    </a:p>
                  </a:txBody>
                  <a:tcPr/>
                </a:tc>
                <a:tc>
                  <a:txBody>
                    <a:bodyPr/>
                    <a:lstStyle/>
                    <a:p>
                      <a:r>
                        <a:rPr lang="en-US" sz="1050" dirty="0"/>
                        <a:t>WUE=GPP/ET</a:t>
                      </a:r>
                    </a:p>
                  </a:txBody>
                  <a:tcPr/>
                </a:tc>
                <a:tc>
                  <a:txBody>
                    <a:bodyPr/>
                    <a:lstStyle/>
                    <a:p>
                      <a:r>
                        <a:rPr lang="en-US" sz="1050" dirty="0"/>
                        <a:t>CUE= NPP/GPP</a:t>
                      </a:r>
                    </a:p>
                  </a:txBody>
                  <a:tcPr/>
                </a:tc>
                <a:tc>
                  <a:txBody>
                    <a:bodyPr/>
                    <a:lstStyle/>
                    <a:p>
                      <a:r>
                        <a:rPr lang="en-US" sz="1050" dirty="0"/>
                        <a:t>Salinity (min, max, avg) ppt, </a:t>
                      </a:r>
                      <a:r>
                        <a:rPr lang="en-US" sz="1050" dirty="0" err="1"/>
                        <a:t>psu</a:t>
                      </a:r>
                      <a:endParaRPr lang="en-US" sz="1050" dirty="0"/>
                    </a:p>
                    <a:p>
                      <a:r>
                        <a:rPr lang="en-US" sz="1050" dirty="0"/>
                        <a:t>Growing season, April-</a:t>
                      </a:r>
                      <a:r>
                        <a:rPr lang="en-US" sz="1050" dirty="0" err="1"/>
                        <a:t>aug</a:t>
                      </a:r>
                      <a:endParaRPr lang="en-US" sz="1050" dirty="0"/>
                    </a:p>
                  </a:txBody>
                  <a:tcPr/>
                </a:tc>
                <a:tc>
                  <a:txBody>
                    <a:bodyPr/>
                    <a:lstStyle/>
                    <a:p>
                      <a:endParaRPr lang="en-US" sz="1050"/>
                    </a:p>
                  </a:txBody>
                  <a:tcPr/>
                </a:tc>
                <a:tc>
                  <a:txBody>
                    <a:bodyPr/>
                    <a:lstStyle/>
                    <a:p>
                      <a:endParaRPr lang="en-US" sz="1050"/>
                    </a:p>
                  </a:txBody>
                  <a:tcPr/>
                </a:tc>
                <a:extLst>
                  <a:ext uri="{0D108BD9-81ED-4DB2-BD59-A6C34878D82A}">
                    <a16:rowId xmlns:a16="http://schemas.microsoft.com/office/drawing/2014/main" val="1480164863"/>
                  </a:ext>
                </a:extLst>
              </a:tr>
              <a:tr h="370840">
                <a:tc>
                  <a:txBody>
                    <a:bodyPr/>
                    <a:lstStyle/>
                    <a:p>
                      <a:r>
                        <a:rPr lang="en-US" sz="1050" dirty="0"/>
                        <a:t>US-</a:t>
                      </a:r>
                      <a:r>
                        <a:rPr lang="en-US" sz="1050" dirty="0" err="1"/>
                        <a:t>EvM</a:t>
                      </a:r>
                      <a:endParaRPr lang="en-US" sz="1050" dirty="0"/>
                    </a:p>
                    <a:p>
                      <a:r>
                        <a:rPr lang="en-US" sz="1050" dirty="0"/>
                        <a:t> (2021-2023) wetland</a:t>
                      </a:r>
                    </a:p>
                  </a:txBody>
                  <a:tcPr/>
                </a:tc>
                <a:tc>
                  <a:txBody>
                    <a:bodyPr/>
                    <a:lstStyle/>
                    <a:p>
                      <a:r>
                        <a:rPr lang="en-US" sz="1050" dirty="0"/>
                        <a:t>-43 to 9</a:t>
                      </a:r>
                    </a:p>
                  </a:txBody>
                  <a:tcPr/>
                </a:tc>
                <a:tc>
                  <a:txBody>
                    <a:bodyPr/>
                    <a:lstStyle/>
                    <a:p>
                      <a:r>
                        <a:rPr lang="en-US" sz="1050" dirty="0"/>
                        <a:t>724-760</a:t>
                      </a:r>
                    </a:p>
                  </a:txBody>
                  <a:tcPr/>
                </a:tc>
                <a:tc>
                  <a:txBody>
                    <a:bodyPr/>
                    <a:lstStyle/>
                    <a:p>
                      <a:r>
                        <a:rPr lang="en-US" sz="1050" dirty="0">
                          <a:solidFill>
                            <a:schemeClr val="tx1"/>
                          </a:solidFill>
                        </a:rPr>
                        <a:t>146-151</a:t>
                      </a:r>
                    </a:p>
                  </a:txBody>
                  <a:tcPr/>
                </a:tc>
                <a:tc>
                  <a:txBody>
                    <a:bodyPr/>
                    <a:lstStyle/>
                    <a:p>
                      <a:r>
                        <a:rPr lang="en-US" sz="1050" dirty="0">
                          <a:solidFill>
                            <a:schemeClr val="tx1"/>
                          </a:solidFill>
                        </a:rPr>
                        <a:t>-2-63</a:t>
                      </a: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r>
                        <a:rPr lang="en-US" sz="1050" dirty="0">
                          <a:solidFill>
                            <a:schemeClr val="tx1"/>
                          </a:solidFill>
                        </a:rPr>
                        <a:t>1-16 ppt range</a:t>
                      </a:r>
                    </a:p>
                    <a:p>
                      <a:r>
                        <a:rPr lang="en-US" sz="1050" dirty="0">
                          <a:solidFill>
                            <a:srgbClr val="FF0000"/>
                          </a:solidFill>
                        </a:rPr>
                        <a:t>Avg  9ppt </a:t>
                      </a:r>
                    </a:p>
                  </a:txBody>
                  <a:tcPr/>
                </a:tc>
                <a:tc>
                  <a:txBody>
                    <a:bodyPr/>
                    <a:lstStyle/>
                    <a:p>
                      <a:endParaRPr lang="en-US" sz="1050"/>
                    </a:p>
                  </a:txBody>
                  <a:tcPr/>
                </a:tc>
                <a:tc>
                  <a:txBody>
                    <a:bodyPr/>
                    <a:lstStyle/>
                    <a:p>
                      <a:endParaRPr lang="en-US" sz="1050"/>
                    </a:p>
                  </a:txBody>
                  <a:tcPr/>
                </a:tc>
                <a:extLst>
                  <a:ext uri="{0D108BD9-81ED-4DB2-BD59-A6C34878D82A}">
                    <a16:rowId xmlns:a16="http://schemas.microsoft.com/office/drawing/2014/main" val="3153178828"/>
                  </a:ext>
                </a:extLst>
              </a:tr>
              <a:tr h="370840">
                <a:tc>
                  <a:txBody>
                    <a:bodyPr/>
                    <a:lstStyle/>
                    <a:p>
                      <a:r>
                        <a:rPr lang="en-US" sz="1050" dirty="0"/>
                        <a:t>US-</a:t>
                      </a:r>
                      <a:r>
                        <a:rPr lang="en-US" sz="1050" dirty="0" err="1"/>
                        <a:t>Skr</a:t>
                      </a:r>
                      <a:r>
                        <a:rPr lang="en-US" sz="1050" dirty="0"/>
                        <a:t> </a:t>
                      </a:r>
                    </a:p>
                    <a:p>
                      <a:r>
                        <a:rPr lang="en-US" sz="1050" dirty="0"/>
                        <a:t>(2007-2010, 2019) Forest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-402 to -328</a:t>
                      </a:r>
                    </a:p>
                  </a:txBody>
                  <a:tcPr/>
                </a:tc>
                <a:tc>
                  <a:txBody>
                    <a:bodyPr/>
                    <a:lstStyle/>
                    <a:p>
                      <a:r>
                        <a:rPr lang="en-US" sz="1050" dirty="0"/>
                        <a:t>677-792</a:t>
                      </a: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r>
                        <a:rPr lang="en-US" sz="1050" dirty="0">
                          <a:solidFill>
                            <a:schemeClr val="tx1"/>
                          </a:solidFill>
                        </a:rPr>
                        <a:t>2004-2022</a:t>
                      </a:r>
                    </a:p>
                    <a:p>
                      <a:r>
                        <a:rPr lang="en-US" sz="1050" dirty="0">
                          <a:solidFill>
                            <a:schemeClr val="tx1"/>
                          </a:solidFill>
                        </a:rPr>
                        <a:t>0.1-37.2, avg </a:t>
                      </a:r>
                      <a:r>
                        <a:rPr lang="en-US" sz="1050" b="0" dirty="0">
                          <a:solidFill>
                            <a:schemeClr val="tx1"/>
                          </a:solidFill>
                        </a:rPr>
                        <a:t>15.0</a:t>
                      </a:r>
                    </a:p>
                    <a:p>
                      <a:r>
                        <a:rPr lang="en-US" sz="1050" dirty="0">
                          <a:solidFill>
                            <a:schemeClr val="tx1"/>
                          </a:solidFill>
                        </a:rPr>
                        <a:t>April-June highest salinity </a:t>
                      </a:r>
                    </a:p>
                    <a:p>
                      <a:r>
                        <a:rPr lang="en-US" sz="1050" dirty="0">
                          <a:solidFill>
                            <a:srgbClr val="FF0000"/>
                          </a:solidFill>
                        </a:rPr>
                        <a:t>19 ppt (2009)</a:t>
                      </a:r>
                    </a:p>
                    <a:p>
                      <a:r>
                        <a:rPr lang="en-US" sz="1050" dirty="0">
                          <a:solidFill>
                            <a:srgbClr val="FF0000"/>
                          </a:solidFill>
                        </a:rPr>
                        <a:t>15 ppt (2004-2022)</a:t>
                      </a:r>
                    </a:p>
                  </a:txBody>
                  <a:tcPr/>
                </a:tc>
                <a:tc>
                  <a:txBody>
                    <a:bodyPr/>
                    <a:lstStyle/>
                    <a:p>
                      <a:endParaRPr lang="en-US" sz="1050"/>
                    </a:p>
                  </a:txBody>
                  <a:tcPr/>
                </a:tc>
                <a:tc>
                  <a:txBody>
                    <a:bodyPr/>
                    <a:lstStyle/>
                    <a:p>
                      <a:endParaRPr lang="en-US" sz="1050"/>
                    </a:p>
                  </a:txBody>
                  <a:tcPr/>
                </a:tc>
                <a:extLst>
                  <a:ext uri="{0D108BD9-81ED-4DB2-BD59-A6C34878D82A}">
                    <a16:rowId xmlns:a16="http://schemas.microsoft.com/office/drawing/2014/main" val="3860660146"/>
                  </a:ext>
                </a:extLst>
              </a:tr>
              <a:tr h="430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US-KS4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(2017-2021) wetland</a:t>
                      </a:r>
                    </a:p>
                  </a:txBody>
                  <a:tcPr/>
                </a:tc>
                <a:tc>
                  <a:txBody>
                    <a:bodyPr/>
                    <a:lstStyle/>
                    <a:p>
                      <a:r>
                        <a:rPr lang="en-US" sz="1050" dirty="0"/>
                        <a:t>-232 to -10</a:t>
                      </a:r>
                    </a:p>
                  </a:txBody>
                  <a:tcPr/>
                </a:tc>
                <a:tc>
                  <a:txBody>
                    <a:bodyPr/>
                    <a:lstStyle/>
                    <a:p>
                      <a:r>
                        <a:rPr lang="en-US" sz="1050" dirty="0"/>
                        <a:t>431-500</a:t>
                      </a:r>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solidFill>
                            <a:srgbClr val="FF0000"/>
                          </a:solidFill>
                        </a:rPr>
                        <a:t>23 ppt (2021-2024)</a:t>
                      </a:r>
                    </a:p>
                  </a:txBody>
                  <a:tcPr/>
                </a:tc>
                <a:tc>
                  <a:txBody>
                    <a:bodyPr/>
                    <a:lstStyle/>
                    <a:p>
                      <a:endParaRPr lang="en-US" sz="1050" dirty="0"/>
                    </a:p>
                  </a:txBody>
                  <a:tcPr/>
                </a:tc>
                <a:tc>
                  <a:txBody>
                    <a:bodyPr/>
                    <a:lstStyle/>
                    <a:p>
                      <a:endParaRPr lang="en-US" sz="1050"/>
                    </a:p>
                  </a:txBody>
                  <a:tcPr/>
                </a:tc>
                <a:extLst>
                  <a:ext uri="{0D108BD9-81ED-4DB2-BD59-A6C34878D82A}">
                    <a16:rowId xmlns:a16="http://schemas.microsoft.com/office/drawing/2014/main" val="3901900960"/>
                  </a:ext>
                </a:extLst>
              </a:tr>
              <a:tr h="370840">
                <a:tc>
                  <a:txBody>
                    <a:bodyPr/>
                    <a:lstStyle/>
                    <a:p>
                      <a:r>
                        <a:rPr lang="en-US" sz="1050" dirty="0"/>
                        <a:t>US-KS3 </a:t>
                      </a:r>
                    </a:p>
                    <a:p>
                      <a:r>
                        <a:rPr lang="en-US" sz="1050" dirty="0"/>
                        <a:t>(2018) wetland</a:t>
                      </a:r>
                    </a:p>
                  </a:txBody>
                  <a:tcPr/>
                </a:tc>
                <a:tc>
                  <a:txBody>
                    <a:bodyPr/>
                    <a:lstStyle/>
                    <a:p>
                      <a:r>
                        <a:rPr lang="en-US" sz="1050" dirty="0"/>
                        <a:t>-349.6</a:t>
                      </a:r>
                    </a:p>
                  </a:txBody>
                  <a:tcPr/>
                </a:tc>
                <a:tc>
                  <a:txBody>
                    <a:bodyPr/>
                    <a:lstStyle/>
                    <a:p>
                      <a:r>
                        <a:rPr lang="en-US" sz="1050" dirty="0">
                          <a:solidFill>
                            <a:schemeClr val="tx1"/>
                          </a:solidFill>
                        </a:rPr>
                        <a:t>477</a:t>
                      </a:r>
                    </a:p>
                  </a:txBody>
                  <a:tcPr/>
                </a:tc>
                <a:tc>
                  <a:txBody>
                    <a:bodyPr/>
                    <a:lstStyle/>
                    <a:p>
                      <a:endParaRPr lang="en-US" sz="1050" dirty="0">
                        <a:solidFill>
                          <a:schemeClr val="accent2"/>
                        </a:solidFill>
                      </a:endParaRPr>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solidFill>
                            <a:srgbClr val="FF0000"/>
                          </a:solidFill>
                        </a:rPr>
                        <a:t>23 ppt (2021-2024)</a:t>
                      </a:r>
                    </a:p>
                  </a:txBody>
                  <a:tcPr/>
                </a:tc>
                <a:tc>
                  <a:txBody>
                    <a:bodyPr/>
                    <a:lstStyle/>
                    <a:p>
                      <a:endParaRPr lang="en-US" sz="1050" dirty="0"/>
                    </a:p>
                  </a:txBody>
                  <a:tcPr/>
                </a:tc>
                <a:tc>
                  <a:txBody>
                    <a:bodyPr/>
                    <a:lstStyle/>
                    <a:p>
                      <a:endParaRPr lang="en-US" sz="1050"/>
                    </a:p>
                  </a:txBody>
                  <a:tcPr/>
                </a:tc>
                <a:extLst>
                  <a:ext uri="{0D108BD9-81ED-4DB2-BD59-A6C34878D82A}">
                    <a16:rowId xmlns:a16="http://schemas.microsoft.com/office/drawing/2014/main" val="4209266596"/>
                  </a:ext>
                </a:extLst>
              </a:tr>
              <a:tr h="370840">
                <a:tc>
                  <a:txBody>
                    <a:bodyPr/>
                    <a:lstStyle/>
                    <a:p>
                      <a:r>
                        <a:rPr lang="en-US" sz="1050" dirty="0"/>
                        <a:t>US-</a:t>
                      </a:r>
                      <a:r>
                        <a:rPr lang="en-US" sz="1050" dirty="0" err="1"/>
                        <a:t>TaS</a:t>
                      </a:r>
                      <a:r>
                        <a:rPr lang="en-US" sz="1050" dirty="0"/>
                        <a:t> </a:t>
                      </a:r>
                    </a:p>
                    <a:p>
                      <a:r>
                        <a:rPr lang="en-US" sz="1050" dirty="0"/>
                        <a:t>(2017-2022) wetland </a:t>
                      </a:r>
                    </a:p>
                  </a:txBody>
                  <a:tcPr/>
                </a:tc>
                <a:tc>
                  <a:txBody>
                    <a:bodyPr/>
                    <a:lstStyle/>
                    <a:p>
                      <a:r>
                        <a:rPr lang="en-US" sz="1050" dirty="0"/>
                        <a:t>-490 to -82</a:t>
                      </a:r>
                    </a:p>
                  </a:txBody>
                  <a:tcPr/>
                </a:tc>
                <a:tc>
                  <a:txBody>
                    <a:bodyPr/>
                    <a:lstStyle/>
                    <a:p>
                      <a:r>
                        <a:rPr lang="en-US" sz="1050" dirty="0"/>
                        <a:t>499-587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2024 average  27.9 ppt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solidFill>
                            <a:srgbClr val="FF0000"/>
                          </a:solidFill>
                        </a:rPr>
                        <a:t>33 ppt (2009)</a:t>
                      </a:r>
                    </a:p>
                  </a:txBody>
                  <a:tcPr/>
                </a:tc>
                <a:tc>
                  <a:txBody>
                    <a:bodyPr/>
                    <a:lstStyle/>
                    <a:p>
                      <a:endParaRPr lang="en-US" sz="1050"/>
                    </a:p>
                  </a:txBody>
                  <a:tcPr/>
                </a:tc>
                <a:tc>
                  <a:txBody>
                    <a:bodyPr/>
                    <a:lstStyle/>
                    <a:p>
                      <a:endParaRPr lang="en-US" sz="1050" dirty="0"/>
                    </a:p>
                  </a:txBody>
                  <a:tcPr/>
                </a:tc>
                <a:extLst>
                  <a:ext uri="{0D108BD9-81ED-4DB2-BD59-A6C34878D82A}">
                    <a16:rowId xmlns:a16="http://schemas.microsoft.com/office/drawing/2014/main" val="3148382885"/>
                  </a:ext>
                </a:extLst>
              </a:tr>
              <a:tr h="370840">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p>
                  </a:txBody>
                  <a:tcPr/>
                </a:tc>
                <a:tc>
                  <a:txBody>
                    <a:bodyPr/>
                    <a:lstStyle/>
                    <a:p>
                      <a:endParaRPr lang="en-US" sz="1050" dirty="0"/>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a:p>
                  </a:txBody>
                  <a:tcPr/>
                </a:tc>
                <a:tc>
                  <a:txBody>
                    <a:bodyPr/>
                    <a:lstStyle/>
                    <a:p>
                      <a:endParaRPr lang="en-US" sz="1050"/>
                    </a:p>
                  </a:txBody>
                  <a:tcPr/>
                </a:tc>
                <a:tc>
                  <a:txBody>
                    <a:bodyPr/>
                    <a:lstStyle/>
                    <a:p>
                      <a:endParaRPr lang="en-US" sz="1050" dirty="0"/>
                    </a:p>
                  </a:txBody>
                  <a:tcPr/>
                </a:tc>
                <a:extLst>
                  <a:ext uri="{0D108BD9-81ED-4DB2-BD59-A6C34878D82A}">
                    <a16:rowId xmlns:a16="http://schemas.microsoft.com/office/drawing/2014/main" val="3141703963"/>
                  </a:ext>
                </a:extLst>
              </a:tr>
              <a:tr h="370840">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dirty="0"/>
                    </a:p>
                  </a:txBody>
                  <a:tcPr/>
                </a:tc>
                <a:extLst>
                  <a:ext uri="{0D108BD9-81ED-4DB2-BD59-A6C34878D82A}">
                    <a16:rowId xmlns:a16="http://schemas.microsoft.com/office/drawing/2014/main" val="3006391467"/>
                  </a:ext>
                </a:extLst>
              </a:tr>
            </a:tbl>
          </a:graphicData>
        </a:graphic>
      </p:graphicFrame>
    </p:spTree>
    <p:extLst>
      <p:ext uri="{BB962C8B-B14F-4D97-AF65-F5344CB8AC3E}">
        <p14:creationId xmlns:p14="http://schemas.microsoft.com/office/powerpoint/2010/main" val="19472591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D580C-C253-5FBA-DE5D-099B616802A2}"/>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E37A52B-3497-B8B9-78D9-CA153BFF2929}"/>
              </a:ext>
            </a:extLst>
          </p:cNvPr>
          <p:cNvGraphicFramePr>
            <a:graphicFrameLocks noGrp="1"/>
          </p:cNvGraphicFramePr>
          <p:nvPr>
            <p:ph idx="1"/>
          </p:nvPr>
        </p:nvGraphicFramePr>
        <p:xfrm>
          <a:off x="536448" y="877316"/>
          <a:ext cx="11378180" cy="3549904"/>
        </p:xfrm>
        <a:graphic>
          <a:graphicData uri="http://schemas.openxmlformats.org/drawingml/2006/table">
            <a:tbl>
              <a:tblPr firstRow="1" bandRow="1">
                <a:tableStyleId>{5C22544A-7EE6-4342-B048-85BDC9FD1C3A}</a:tableStyleId>
              </a:tblPr>
              <a:tblGrid>
                <a:gridCol w="1137818">
                  <a:extLst>
                    <a:ext uri="{9D8B030D-6E8A-4147-A177-3AD203B41FA5}">
                      <a16:colId xmlns:a16="http://schemas.microsoft.com/office/drawing/2014/main" val="2326077777"/>
                    </a:ext>
                  </a:extLst>
                </a:gridCol>
                <a:gridCol w="1137818">
                  <a:extLst>
                    <a:ext uri="{9D8B030D-6E8A-4147-A177-3AD203B41FA5}">
                      <a16:colId xmlns:a16="http://schemas.microsoft.com/office/drawing/2014/main" val="3762835800"/>
                    </a:ext>
                  </a:extLst>
                </a:gridCol>
                <a:gridCol w="1137818">
                  <a:extLst>
                    <a:ext uri="{9D8B030D-6E8A-4147-A177-3AD203B41FA5}">
                      <a16:colId xmlns:a16="http://schemas.microsoft.com/office/drawing/2014/main" val="3904827014"/>
                    </a:ext>
                  </a:extLst>
                </a:gridCol>
                <a:gridCol w="1137818">
                  <a:extLst>
                    <a:ext uri="{9D8B030D-6E8A-4147-A177-3AD203B41FA5}">
                      <a16:colId xmlns:a16="http://schemas.microsoft.com/office/drawing/2014/main" val="1924622910"/>
                    </a:ext>
                  </a:extLst>
                </a:gridCol>
                <a:gridCol w="1203352">
                  <a:extLst>
                    <a:ext uri="{9D8B030D-6E8A-4147-A177-3AD203B41FA5}">
                      <a16:colId xmlns:a16="http://schemas.microsoft.com/office/drawing/2014/main" val="1394320776"/>
                    </a:ext>
                  </a:extLst>
                </a:gridCol>
                <a:gridCol w="1197864">
                  <a:extLst>
                    <a:ext uri="{9D8B030D-6E8A-4147-A177-3AD203B41FA5}">
                      <a16:colId xmlns:a16="http://schemas.microsoft.com/office/drawing/2014/main" val="3623501912"/>
                    </a:ext>
                  </a:extLst>
                </a:gridCol>
                <a:gridCol w="1399032">
                  <a:extLst>
                    <a:ext uri="{9D8B030D-6E8A-4147-A177-3AD203B41FA5}">
                      <a16:colId xmlns:a16="http://schemas.microsoft.com/office/drawing/2014/main" val="3922856760"/>
                    </a:ext>
                  </a:extLst>
                </a:gridCol>
                <a:gridCol w="2532888">
                  <a:extLst>
                    <a:ext uri="{9D8B030D-6E8A-4147-A177-3AD203B41FA5}">
                      <a16:colId xmlns:a16="http://schemas.microsoft.com/office/drawing/2014/main" val="1503516006"/>
                    </a:ext>
                  </a:extLst>
                </a:gridCol>
                <a:gridCol w="237744">
                  <a:extLst>
                    <a:ext uri="{9D8B030D-6E8A-4147-A177-3AD203B41FA5}">
                      <a16:colId xmlns:a16="http://schemas.microsoft.com/office/drawing/2014/main" val="2083240888"/>
                    </a:ext>
                  </a:extLst>
                </a:gridCol>
                <a:gridCol w="256028">
                  <a:extLst>
                    <a:ext uri="{9D8B030D-6E8A-4147-A177-3AD203B41FA5}">
                      <a16:colId xmlns:a16="http://schemas.microsoft.com/office/drawing/2014/main" val="1653550650"/>
                    </a:ext>
                  </a:extLst>
                </a:gridCol>
              </a:tblGrid>
              <a:tr h="370840">
                <a:tc>
                  <a:txBody>
                    <a:bodyPr/>
                    <a:lstStyle/>
                    <a:p>
                      <a:r>
                        <a:rPr lang="en-US" sz="1050" dirty="0"/>
                        <a:t>Site name</a:t>
                      </a:r>
                    </a:p>
                  </a:txBody>
                  <a:tcPr/>
                </a:tc>
                <a:tc>
                  <a:txBody>
                    <a:bodyPr/>
                    <a:lstStyle/>
                    <a:p>
                      <a:r>
                        <a:rPr lang="en-US" sz="1050" dirty="0"/>
                        <a:t>NEE</a:t>
                      </a:r>
                    </a:p>
                    <a:p>
                      <a:r>
                        <a:rPr lang="en-US" sz="1050" dirty="0"/>
                        <a:t>gcm-2</a:t>
                      </a:r>
                    </a:p>
                  </a:txBody>
                  <a:tcPr/>
                </a:tc>
                <a:tc>
                  <a:txBody>
                    <a:bodyPr/>
                    <a:lstStyle/>
                    <a:p>
                      <a:r>
                        <a:rPr lang="en-US" sz="1050" dirty="0"/>
                        <a:t>ET</a:t>
                      </a:r>
                    </a:p>
                    <a:p>
                      <a:r>
                        <a:rPr lang="en-US" sz="1050" dirty="0"/>
                        <a:t>mm</a:t>
                      </a:r>
                    </a:p>
                  </a:txBody>
                  <a:tcPr/>
                </a:tc>
                <a:tc>
                  <a:txBody>
                    <a:bodyPr/>
                    <a:lstStyle/>
                    <a:p>
                      <a:r>
                        <a:rPr lang="en-US" sz="1050" dirty="0"/>
                        <a:t>GPP</a:t>
                      </a:r>
                    </a:p>
                  </a:txBody>
                  <a:tcPr/>
                </a:tc>
                <a:tc>
                  <a:txBody>
                    <a:bodyPr/>
                    <a:lstStyle/>
                    <a:p>
                      <a:r>
                        <a:rPr lang="en-US" sz="1050" dirty="0"/>
                        <a:t>NPP</a:t>
                      </a:r>
                    </a:p>
                  </a:txBody>
                  <a:tcPr/>
                </a:tc>
                <a:tc>
                  <a:txBody>
                    <a:bodyPr/>
                    <a:lstStyle/>
                    <a:p>
                      <a:r>
                        <a:rPr lang="en-US" sz="1050" dirty="0"/>
                        <a:t>WUE=GPP/ET</a:t>
                      </a:r>
                    </a:p>
                  </a:txBody>
                  <a:tcPr/>
                </a:tc>
                <a:tc>
                  <a:txBody>
                    <a:bodyPr/>
                    <a:lstStyle/>
                    <a:p>
                      <a:r>
                        <a:rPr lang="en-US" sz="1050" dirty="0"/>
                        <a:t>CUE= NPP/GPP</a:t>
                      </a:r>
                    </a:p>
                  </a:txBody>
                  <a:tcPr/>
                </a:tc>
                <a:tc>
                  <a:txBody>
                    <a:bodyPr/>
                    <a:lstStyle/>
                    <a:p>
                      <a:r>
                        <a:rPr lang="en-US" sz="1050" dirty="0"/>
                        <a:t>Salinity (min, max, avg) ppt, </a:t>
                      </a:r>
                      <a:r>
                        <a:rPr lang="en-US" sz="1050" dirty="0" err="1"/>
                        <a:t>psu</a:t>
                      </a:r>
                      <a:endParaRPr lang="en-US" sz="1050" dirty="0"/>
                    </a:p>
                    <a:p>
                      <a:r>
                        <a:rPr lang="en-US" sz="1050" dirty="0"/>
                        <a:t>Growing season, April-</a:t>
                      </a:r>
                      <a:r>
                        <a:rPr lang="en-US" sz="1050" dirty="0" err="1"/>
                        <a:t>aug</a:t>
                      </a:r>
                      <a:endParaRPr lang="en-US" sz="1050" dirty="0"/>
                    </a:p>
                  </a:txBody>
                  <a:tcPr/>
                </a:tc>
                <a:tc>
                  <a:txBody>
                    <a:bodyPr/>
                    <a:lstStyle/>
                    <a:p>
                      <a:endParaRPr lang="en-US" sz="1050"/>
                    </a:p>
                  </a:txBody>
                  <a:tcPr/>
                </a:tc>
                <a:tc>
                  <a:txBody>
                    <a:bodyPr/>
                    <a:lstStyle/>
                    <a:p>
                      <a:endParaRPr lang="en-US" sz="1050"/>
                    </a:p>
                  </a:txBody>
                  <a:tcPr/>
                </a:tc>
                <a:extLst>
                  <a:ext uri="{0D108BD9-81ED-4DB2-BD59-A6C34878D82A}">
                    <a16:rowId xmlns:a16="http://schemas.microsoft.com/office/drawing/2014/main" val="1480164863"/>
                  </a:ext>
                </a:extLst>
              </a:tr>
              <a:tr h="370840">
                <a:tc>
                  <a:txBody>
                    <a:bodyPr/>
                    <a:lstStyle/>
                    <a:p>
                      <a:r>
                        <a:rPr lang="en-US" sz="1050" dirty="0"/>
                        <a:t>US-Dmg</a:t>
                      </a:r>
                    </a:p>
                    <a:p>
                      <a:r>
                        <a:rPr lang="en-US" sz="1050" dirty="0"/>
                        <a:t>2022-2023</a:t>
                      </a:r>
                    </a:p>
                  </a:txBody>
                  <a:tcPr/>
                </a:tc>
                <a:tc>
                  <a:txBody>
                    <a:bodyPr/>
                    <a:lstStyle/>
                    <a:p>
                      <a:endParaRPr lang="en-US" sz="1050" dirty="0"/>
                    </a:p>
                  </a:txBody>
                  <a:tcPr/>
                </a:tc>
                <a:tc>
                  <a:txBody>
                    <a:bodyPr/>
                    <a:lstStyle/>
                    <a:p>
                      <a:endParaRPr lang="en-US" sz="1050" dirty="0"/>
                    </a:p>
                  </a:txBody>
                  <a:tcPr/>
                </a:tc>
                <a:tc>
                  <a:txBody>
                    <a:bodyPr/>
                    <a:lstStyle/>
                    <a:p>
                      <a:endParaRPr lang="en-US" sz="1050" dirty="0">
                        <a:solidFill>
                          <a:srgbClr val="00B05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a:p>
                  </a:txBody>
                  <a:tcPr/>
                </a:tc>
                <a:tc>
                  <a:txBody>
                    <a:bodyPr/>
                    <a:lstStyle/>
                    <a:p>
                      <a:endParaRPr lang="en-US" sz="1050"/>
                    </a:p>
                  </a:txBody>
                  <a:tcPr/>
                </a:tc>
                <a:extLst>
                  <a:ext uri="{0D108BD9-81ED-4DB2-BD59-A6C34878D82A}">
                    <a16:rowId xmlns:a16="http://schemas.microsoft.com/office/drawing/2014/main" val="3153178828"/>
                  </a:ext>
                </a:extLst>
              </a:tr>
              <a:tr h="370840">
                <a:tc>
                  <a:txBody>
                    <a:bodyPr/>
                    <a:lstStyle/>
                    <a:p>
                      <a:r>
                        <a:rPr lang="en-US" sz="1050" dirty="0"/>
                        <a:t>US-EDN</a:t>
                      </a:r>
                    </a:p>
                    <a:p>
                      <a:r>
                        <a:rPr lang="en-US" sz="1050" dirty="0"/>
                        <a:t>2018-2021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p>
                  </a:txBody>
                  <a:tcPr/>
                </a:tc>
                <a:tc>
                  <a:txBody>
                    <a:bodyPr/>
                    <a:lstStyle/>
                    <a:p>
                      <a:endParaRPr lang="en-US" sz="1050" dirty="0"/>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r>
                        <a:rPr lang="en-US" sz="1050" dirty="0"/>
                        <a:t>24.2 ppt in Apr 2006 </a:t>
                      </a:r>
                    </a:p>
                    <a:p>
                      <a:r>
                        <a:rPr lang="en-US" sz="1050" dirty="0">
                          <a:solidFill>
                            <a:srgbClr val="FF0000"/>
                          </a:solidFill>
                        </a:rPr>
                        <a:t>Jul 2005: 68ppt, </a:t>
                      </a:r>
                      <a:r>
                        <a:rPr lang="en-US" sz="1050" dirty="0" err="1">
                          <a:solidFill>
                            <a:srgbClr val="FF0000"/>
                          </a:solidFill>
                        </a:rPr>
                        <a:t>aug</a:t>
                      </a:r>
                      <a:r>
                        <a:rPr lang="en-US" sz="1050" dirty="0">
                          <a:solidFill>
                            <a:srgbClr val="FF0000"/>
                          </a:solidFill>
                        </a:rPr>
                        <a:t>  2005: 77ppt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solidFill>
                            <a:srgbClr val="FF0000"/>
                          </a:solidFill>
                        </a:rPr>
                        <a:t>Jul 2006: 53ppt, </a:t>
                      </a:r>
                      <a:r>
                        <a:rPr lang="en-US" sz="1050" dirty="0" err="1">
                          <a:solidFill>
                            <a:srgbClr val="FF0000"/>
                          </a:solidFill>
                        </a:rPr>
                        <a:t>aug</a:t>
                      </a:r>
                      <a:r>
                        <a:rPr lang="en-US" sz="1050" dirty="0">
                          <a:solidFill>
                            <a:srgbClr val="FF0000"/>
                          </a:solidFill>
                        </a:rPr>
                        <a:t> 70ppt</a:t>
                      </a:r>
                    </a:p>
                    <a:p>
                      <a:r>
                        <a:rPr lang="en-US" sz="1050" dirty="0">
                          <a:solidFill>
                            <a:srgbClr val="FF0000"/>
                          </a:solidFill>
                        </a:rPr>
                        <a:t>2003-2005: April-</a:t>
                      </a:r>
                      <a:r>
                        <a:rPr lang="en-US" sz="1050" dirty="0" err="1">
                          <a:solidFill>
                            <a:srgbClr val="FF0000"/>
                          </a:solidFill>
                        </a:rPr>
                        <a:t>aug</a:t>
                      </a:r>
                      <a:r>
                        <a:rPr lang="en-US" sz="1050" dirty="0">
                          <a:solidFill>
                            <a:srgbClr val="FF0000"/>
                          </a:solidFill>
                        </a:rPr>
                        <a:t>  60-70 ppt</a:t>
                      </a:r>
                    </a:p>
                  </a:txBody>
                  <a:tcPr/>
                </a:tc>
                <a:tc>
                  <a:txBody>
                    <a:bodyPr/>
                    <a:lstStyle/>
                    <a:p>
                      <a:endParaRPr lang="en-US" sz="1050" dirty="0"/>
                    </a:p>
                  </a:txBody>
                  <a:tcPr/>
                </a:tc>
                <a:tc>
                  <a:txBody>
                    <a:bodyPr/>
                    <a:lstStyle/>
                    <a:p>
                      <a:endParaRPr lang="en-US" sz="1050"/>
                    </a:p>
                  </a:txBody>
                  <a:tcPr/>
                </a:tc>
                <a:extLst>
                  <a:ext uri="{0D108BD9-81ED-4DB2-BD59-A6C34878D82A}">
                    <a16:rowId xmlns:a16="http://schemas.microsoft.com/office/drawing/2014/main" val="3860660146"/>
                  </a:ext>
                </a:extLst>
              </a:tr>
              <a:tr h="430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US-EKH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2022-2023</a:t>
                      </a:r>
                    </a:p>
                  </a:txBody>
                  <a:tcPr/>
                </a:tc>
                <a:tc>
                  <a:txBody>
                    <a:bodyPr/>
                    <a:lstStyle/>
                    <a:p>
                      <a:endParaRPr lang="en-US" sz="1050" dirty="0"/>
                    </a:p>
                  </a:txBody>
                  <a:tcPr/>
                </a:tc>
                <a:tc>
                  <a:txBody>
                    <a:bodyPr/>
                    <a:lstStyle/>
                    <a:p>
                      <a:endParaRPr lang="en-US" sz="1050" dirty="0"/>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endParaRPr lang="en-US" sz="1050" dirty="0"/>
                    </a:p>
                  </a:txBody>
                  <a:tcPr/>
                </a:tc>
                <a:tc>
                  <a:txBody>
                    <a:bodyPr/>
                    <a:lstStyle/>
                    <a:p>
                      <a:endParaRPr lang="en-US" sz="1050"/>
                    </a:p>
                  </a:txBody>
                  <a:tcPr/>
                </a:tc>
                <a:extLst>
                  <a:ext uri="{0D108BD9-81ED-4DB2-BD59-A6C34878D82A}">
                    <a16:rowId xmlns:a16="http://schemas.microsoft.com/office/drawing/2014/main" val="3901900960"/>
                  </a:ext>
                </a:extLst>
              </a:tr>
              <a:tr h="370840">
                <a:tc>
                  <a:txBody>
                    <a:bodyPr/>
                    <a:lstStyle/>
                    <a:p>
                      <a:r>
                        <a:rPr lang="en-US" sz="1050" dirty="0"/>
                        <a:t>US-EKP</a:t>
                      </a:r>
                    </a:p>
                    <a:p>
                      <a:r>
                        <a:rPr lang="en-US" sz="1050" dirty="0"/>
                        <a:t>2021-2024</a:t>
                      </a:r>
                    </a:p>
                  </a:txBody>
                  <a:tcPr/>
                </a:tc>
                <a:tc>
                  <a:txBody>
                    <a:bodyPr/>
                    <a:lstStyle/>
                    <a:p>
                      <a:endParaRPr lang="en-US" sz="1050" dirty="0"/>
                    </a:p>
                  </a:txBody>
                  <a:tcPr/>
                </a:tc>
                <a:tc>
                  <a:txBody>
                    <a:bodyPr/>
                    <a:lstStyle/>
                    <a:p>
                      <a:endParaRPr lang="en-US" sz="1050" dirty="0">
                        <a:solidFill>
                          <a:schemeClr val="tx1"/>
                        </a:solidFill>
                      </a:endParaRPr>
                    </a:p>
                  </a:txBody>
                  <a:tcPr/>
                </a:tc>
                <a:tc>
                  <a:txBody>
                    <a:bodyPr/>
                    <a:lstStyle/>
                    <a:p>
                      <a:endParaRPr lang="en-US" sz="1050" dirty="0">
                        <a:solidFill>
                          <a:schemeClr val="accent2"/>
                        </a:solidFill>
                      </a:endParaRPr>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endParaRPr lang="en-US" sz="1050" dirty="0"/>
                    </a:p>
                  </a:txBody>
                  <a:tcPr/>
                </a:tc>
                <a:tc>
                  <a:txBody>
                    <a:bodyPr/>
                    <a:lstStyle/>
                    <a:p>
                      <a:endParaRPr lang="en-US" sz="1050"/>
                    </a:p>
                  </a:txBody>
                  <a:tcPr/>
                </a:tc>
                <a:extLst>
                  <a:ext uri="{0D108BD9-81ED-4DB2-BD59-A6C34878D82A}">
                    <a16:rowId xmlns:a16="http://schemas.microsoft.com/office/drawing/2014/main" val="4209266596"/>
                  </a:ext>
                </a:extLst>
              </a:tr>
              <a:tr h="370840">
                <a:tc>
                  <a:txBody>
                    <a:bodyPr/>
                    <a:lstStyle/>
                    <a:p>
                      <a:r>
                        <a:rPr lang="en-US" sz="1050" dirty="0"/>
                        <a:t>US-</a:t>
                      </a:r>
                      <a:r>
                        <a:rPr lang="en-US" sz="1050" dirty="0" err="1"/>
                        <a:t>Myb</a:t>
                      </a:r>
                      <a:endParaRPr lang="en-US" sz="1050" dirty="0"/>
                    </a:p>
                    <a:p>
                      <a:r>
                        <a:rPr lang="en-US" sz="1050" dirty="0"/>
                        <a:t>2011-2023</a:t>
                      </a:r>
                    </a:p>
                  </a:txBody>
                  <a:tcPr/>
                </a:tc>
                <a:tc>
                  <a:txBody>
                    <a:bodyPr/>
                    <a:lstStyle/>
                    <a:p>
                      <a:endParaRPr lang="en-US" sz="1050" dirty="0"/>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endParaRPr lang="en-US" sz="1050"/>
                    </a:p>
                  </a:txBody>
                  <a:tcPr/>
                </a:tc>
                <a:tc>
                  <a:txBody>
                    <a:bodyPr/>
                    <a:lstStyle/>
                    <a:p>
                      <a:endParaRPr lang="en-US" sz="1050" dirty="0"/>
                    </a:p>
                  </a:txBody>
                  <a:tcPr/>
                </a:tc>
                <a:extLst>
                  <a:ext uri="{0D108BD9-81ED-4DB2-BD59-A6C34878D82A}">
                    <a16:rowId xmlns:a16="http://schemas.microsoft.com/office/drawing/2014/main" val="3148382885"/>
                  </a:ext>
                </a:extLst>
              </a:tr>
              <a:tr h="370840">
                <a:tc>
                  <a:txBody>
                    <a:bodyPr/>
                    <a:lstStyle/>
                    <a:p>
                      <a:r>
                        <a:rPr lang="en-US" sz="1050" dirty="0"/>
                        <a:t>US-</a:t>
                      </a:r>
                      <a:r>
                        <a:rPr lang="en-US" sz="1050" dirty="0" err="1"/>
                        <a:t>Srr</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p>
                  </a:txBody>
                  <a:tcPr/>
                </a:tc>
                <a:tc>
                  <a:txBody>
                    <a:bodyPr/>
                    <a:lstStyle/>
                    <a:p>
                      <a:endParaRPr lang="en-US" sz="1050" dirty="0"/>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a:p>
                  </a:txBody>
                  <a:tcPr/>
                </a:tc>
                <a:tc>
                  <a:txBody>
                    <a:bodyPr/>
                    <a:lstStyle/>
                    <a:p>
                      <a:endParaRPr lang="en-US" sz="1050"/>
                    </a:p>
                  </a:txBody>
                  <a:tcPr/>
                </a:tc>
                <a:tc>
                  <a:txBody>
                    <a:bodyPr/>
                    <a:lstStyle/>
                    <a:p>
                      <a:endParaRPr lang="en-US" sz="1050" dirty="0"/>
                    </a:p>
                  </a:txBody>
                  <a:tcPr/>
                </a:tc>
                <a:extLst>
                  <a:ext uri="{0D108BD9-81ED-4DB2-BD59-A6C34878D82A}">
                    <a16:rowId xmlns:a16="http://schemas.microsoft.com/office/drawing/2014/main" val="3141703963"/>
                  </a:ext>
                </a:extLst>
              </a:tr>
              <a:tr h="370840">
                <a:tc>
                  <a:txBody>
                    <a:bodyPr/>
                    <a:lstStyle/>
                    <a:p>
                      <a:r>
                        <a:rPr lang="en-US" sz="1050" dirty="0"/>
                        <a:t>US-Tw1</a:t>
                      </a:r>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dirty="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dirty="0"/>
                    </a:p>
                  </a:txBody>
                  <a:tcPr/>
                </a:tc>
                <a:extLst>
                  <a:ext uri="{0D108BD9-81ED-4DB2-BD59-A6C34878D82A}">
                    <a16:rowId xmlns:a16="http://schemas.microsoft.com/office/drawing/2014/main" val="3006391467"/>
                  </a:ext>
                </a:extLst>
              </a:tr>
            </a:tbl>
          </a:graphicData>
        </a:graphic>
      </p:graphicFrame>
    </p:spTree>
    <p:extLst>
      <p:ext uri="{BB962C8B-B14F-4D97-AF65-F5344CB8AC3E}">
        <p14:creationId xmlns:p14="http://schemas.microsoft.com/office/powerpoint/2010/main" val="9850505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AE24E-1E53-2C37-A464-10908E8E197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C41C20-2C27-346A-9366-280323057DE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07611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FB21C-BC54-782E-5D17-0549B7AE9B58}"/>
              </a:ext>
            </a:extLst>
          </p:cNvPr>
          <p:cNvSpPr>
            <a:spLocks noGrp="1"/>
          </p:cNvSpPr>
          <p:nvPr>
            <p:ph type="title"/>
          </p:nvPr>
        </p:nvSpPr>
        <p:spPr/>
        <p:txBody>
          <a:bodyPr/>
          <a:lstStyle/>
          <a:p>
            <a:r>
              <a:rPr lang="en-US" dirty="0"/>
              <a:t>First do yearly analysis</a:t>
            </a:r>
          </a:p>
        </p:txBody>
      </p:sp>
      <p:sp>
        <p:nvSpPr>
          <p:cNvPr id="3" name="Content Placeholder 2">
            <a:extLst>
              <a:ext uri="{FF2B5EF4-FFF2-40B4-BE49-F238E27FC236}">
                <a16:creationId xmlns:a16="http://schemas.microsoft.com/office/drawing/2014/main" id="{9FE6826C-F7EE-A72C-C39D-555B9D5226EA}"/>
              </a:ext>
            </a:extLst>
          </p:cNvPr>
          <p:cNvSpPr>
            <a:spLocks noGrp="1"/>
          </p:cNvSpPr>
          <p:nvPr>
            <p:ph idx="1"/>
          </p:nvPr>
        </p:nvSpPr>
        <p:spPr/>
        <p:txBody>
          <a:bodyPr/>
          <a:lstStyle/>
          <a:p>
            <a:r>
              <a:rPr lang="en-US" dirty="0"/>
              <a:t>Question</a:t>
            </a:r>
          </a:p>
          <a:p>
            <a:r>
              <a:rPr lang="en-US" dirty="0"/>
              <a:t>US-Dmg no storage term for Co2 fluxes</a:t>
            </a:r>
          </a:p>
          <a:p>
            <a:r>
              <a:rPr lang="en-US"/>
              <a:t>NEE=FC+SC</a:t>
            </a:r>
          </a:p>
        </p:txBody>
      </p:sp>
    </p:spTree>
    <p:extLst>
      <p:ext uri="{BB962C8B-B14F-4D97-AF65-F5344CB8AC3E}">
        <p14:creationId xmlns:p14="http://schemas.microsoft.com/office/powerpoint/2010/main" val="34902465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DCA7D-A234-3EFC-5B51-FC8A51BE9A26}"/>
              </a:ext>
            </a:extLst>
          </p:cNvPr>
          <p:cNvSpPr>
            <a:spLocks noGrp="1"/>
          </p:cNvSpPr>
          <p:nvPr>
            <p:ph type="title"/>
          </p:nvPr>
        </p:nvSpPr>
        <p:spPr/>
        <p:txBody>
          <a:bodyPr/>
          <a:lstStyle/>
          <a:p>
            <a:r>
              <a:rPr lang="en-US" dirty="0"/>
              <a:t>Do monthly and then plot monthly salinity and monthly WUE</a:t>
            </a:r>
          </a:p>
        </p:txBody>
      </p:sp>
      <p:sp>
        <p:nvSpPr>
          <p:cNvPr id="3" name="Content Placeholder 2">
            <a:extLst>
              <a:ext uri="{FF2B5EF4-FFF2-40B4-BE49-F238E27FC236}">
                <a16:creationId xmlns:a16="http://schemas.microsoft.com/office/drawing/2014/main" id="{49678888-3B50-AAF5-8937-D6FC7AA0FAC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046322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FBE77-3F13-FC5B-3C94-2F30C14A0813}"/>
              </a:ext>
            </a:extLst>
          </p:cNvPr>
          <p:cNvSpPr>
            <a:spLocks noGrp="1"/>
          </p:cNvSpPr>
          <p:nvPr>
            <p:ph type="title"/>
          </p:nvPr>
        </p:nvSpPr>
        <p:spPr/>
        <p:txBody>
          <a:bodyPr/>
          <a:lstStyle/>
          <a:p>
            <a:r>
              <a:rPr lang="en-US" dirty="0"/>
              <a:t>Effect of salinity on NEE/ET</a:t>
            </a:r>
            <a:br>
              <a:rPr lang="en-US" dirty="0"/>
            </a:br>
            <a:endParaRPr lang="en-US" dirty="0"/>
          </a:p>
        </p:txBody>
      </p:sp>
      <p:graphicFrame>
        <p:nvGraphicFramePr>
          <p:cNvPr id="4" name="Chart 3">
            <a:extLst>
              <a:ext uri="{FF2B5EF4-FFF2-40B4-BE49-F238E27FC236}">
                <a16:creationId xmlns:a16="http://schemas.microsoft.com/office/drawing/2014/main" id="{F39534D1-AA58-9B27-6FAA-17B968EF20E7}"/>
              </a:ext>
            </a:extLst>
          </p:cNvPr>
          <p:cNvGraphicFramePr>
            <a:graphicFrameLocks/>
          </p:cNvGraphicFramePr>
          <p:nvPr>
            <p:extLst>
              <p:ext uri="{D42A27DB-BD31-4B8C-83A1-F6EECF244321}">
                <p14:modId xmlns:p14="http://schemas.microsoft.com/office/powerpoint/2010/main" val="4103503911"/>
              </p:ext>
            </p:extLst>
          </p:nvPr>
        </p:nvGraphicFramePr>
        <p:xfrm>
          <a:off x="2216150" y="2216150"/>
          <a:ext cx="5416550" cy="33909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27DCC231-D548-266F-17F1-816F6B4769D6}"/>
              </a:ext>
            </a:extLst>
          </p:cNvPr>
          <p:cNvSpPr txBox="1"/>
          <p:nvPr/>
        </p:nvSpPr>
        <p:spPr>
          <a:xfrm rot="16200000">
            <a:off x="1460500" y="3429000"/>
            <a:ext cx="1231900" cy="369332"/>
          </a:xfrm>
          <a:prstGeom prst="rect">
            <a:avLst/>
          </a:prstGeom>
          <a:noFill/>
        </p:spPr>
        <p:txBody>
          <a:bodyPr wrap="square" rtlCol="0">
            <a:spAutoFit/>
          </a:bodyPr>
          <a:lstStyle/>
          <a:p>
            <a:r>
              <a:rPr lang="en-US" dirty="0"/>
              <a:t>NEE/ET </a:t>
            </a:r>
          </a:p>
        </p:txBody>
      </p:sp>
      <p:sp>
        <p:nvSpPr>
          <p:cNvPr id="7" name="TextBox 6">
            <a:extLst>
              <a:ext uri="{FF2B5EF4-FFF2-40B4-BE49-F238E27FC236}">
                <a16:creationId xmlns:a16="http://schemas.microsoft.com/office/drawing/2014/main" id="{0207BC31-75FE-CA13-A7B6-61E655889EE7}"/>
              </a:ext>
            </a:extLst>
          </p:cNvPr>
          <p:cNvSpPr txBox="1"/>
          <p:nvPr/>
        </p:nvSpPr>
        <p:spPr>
          <a:xfrm>
            <a:off x="2489200" y="5746750"/>
            <a:ext cx="7981950" cy="646331"/>
          </a:xfrm>
          <a:prstGeom prst="rect">
            <a:avLst/>
          </a:prstGeom>
          <a:noFill/>
        </p:spPr>
        <p:txBody>
          <a:bodyPr wrap="square" rtlCol="0">
            <a:spAutoFit/>
          </a:bodyPr>
          <a:lstStyle/>
          <a:p>
            <a:r>
              <a:rPr lang="en-US" dirty="0"/>
              <a:t>Low salinity: Higher NEE/ET ratio</a:t>
            </a:r>
          </a:p>
          <a:p>
            <a:r>
              <a:rPr lang="en-US" dirty="0"/>
              <a:t>Higher NEE/ET ratio seem to decrease with high salinity, but then bounce back </a:t>
            </a:r>
          </a:p>
        </p:txBody>
      </p:sp>
    </p:spTree>
    <p:extLst>
      <p:ext uri="{BB962C8B-B14F-4D97-AF65-F5344CB8AC3E}">
        <p14:creationId xmlns:p14="http://schemas.microsoft.com/office/powerpoint/2010/main" val="12560021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FA5B5-C662-6D0D-2936-DE5A30E68F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02CFB-5297-F013-1EA6-6EDC51528C62}"/>
              </a:ext>
            </a:extLst>
          </p:cNvPr>
          <p:cNvSpPr>
            <a:spLocks noGrp="1"/>
          </p:cNvSpPr>
          <p:nvPr>
            <p:ph type="title"/>
          </p:nvPr>
        </p:nvSpPr>
        <p:spPr>
          <a:xfrm>
            <a:off x="664779" y="120761"/>
            <a:ext cx="7911662" cy="273378"/>
          </a:xfrm>
        </p:spPr>
        <p:txBody>
          <a:bodyPr>
            <a:normAutofit/>
          </a:bodyPr>
          <a:lstStyle/>
          <a:p>
            <a:r>
              <a:rPr lang="en-US" sz="1200" dirty="0"/>
              <a:t>Focused sites </a:t>
            </a:r>
          </a:p>
        </p:txBody>
      </p:sp>
      <p:sp>
        <p:nvSpPr>
          <p:cNvPr id="3" name="Content Placeholder 2">
            <a:extLst>
              <a:ext uri="{FF2B5EF4-FFF2-40B4-BE49-F238E27FC236}">
                <a16:creationId xmlns:a16="http://schemas.microsoft.com/office/drawing/2014/main" id="{8151CB04-677B-D861-61D5-00B9622F0D1C}"/>
              </a:ext>
            </a:extLst>
          </p:cNvPr>
          <p:cNvSpPr>
            <a:spLocks noGrp="1"/>
          </p:cNvSpPr>
          <p:nvPr>
            <p:ph idx="1"/>
          </p:nvPr>
        </p:nvSpPr>
        <p:spPr>
          <a:xfrm>
            <a:off x="228818" y="375089"/>
            <a:ext cx="11842531" cy="6329884"/>
          </a:xfrm>
        </p:spPr>
        <p:txBody>
          <a:bodyPr>
            <a:normAutofit fontScale="25000" lnSpcReduction="20000"/>
          </a:bodyPr>
          <a:lstStyle/>
          <a:p>
            <a:pPr marL="514350" indent="-514350">
              <a:lnSpc>
                <a:spcPct val="115000"/>
              </a:lnSpc>
              <a:spcBef>
                <a:spcPts val="0"/>
              </a:spcBef>
              <a:spcAft>
                <a:spcPts val="1500"/>
              </a:spcAft>
              <a:buFont typeface="+mj-lt"/>
              <a:buAutoNum type="arabicPeriod"/>
              <a:tabLst>
                <a:tab pos="457200" algn="l"/>
              </a:tabLst>
            </a:pPr>
            <a:r>
              <a:rPr lang="en-US" sz="56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US-</a:t>
            </a:r>
            <a:r>
              <a:rPr lang="en-US" sz="5600" kern="100" dirty="0" err="1">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Skr</a:t>
            </a:r>
            <a:r>
              <a:rPr lang="en-US" sz="56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 Shark River Slough (Tower SRS-6) Everglades, 2004-present, </a:t>
            </a:r>
            <a:r>
              <a:rPr lang="en-US" sz="5600" b="0" i="0" dirty="0">
                <a:solidFill>
                  <a:schemeClr val="accent6"/>
                </a:solidFill>
                <a:effectLst/>
                <a:latin typeface="Times New Roman" panose="02020603050405020304" pitchFamily="18" charset="0"/>
                <a:cs typeface="Times New Roman" panose="02020603050405020304" pitchFamily="18" charset="0"/>
              </a:rPr>
              <a:t>Evergreen Broadleaf Forests</a:t>
            </a:r>
            <a:r>
              <a:rPr lang="en-US" sz="5600" b="0" i="0" kern="100" dirty="0">
                <a:solidFill>
                  <a:schemeClr val="accent6"/>
                </a:solidFill>
                <a:latin typeface="Times New Roman" panose="02020603050405020304" pitchFamily="18" charset="0"/>
                <a:cs typeface="Times New Roman" panose="02020603050405020304" pitchFamily="18" charset="0"/>
              </a:rPr>
              <a:t>, salinity range </a:t>
            </a:r>
            <a:r>
              <a:rPr lang="en-US" sz="56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(20-30 ppt), Florida</a:t>
            </a:r>
          </a:p>
          <a:p>
            <a:pPr marL="0" indent="0">
              <a:lnSpc>
                <a:spcPct val="115000"/>
              </a:lnSpc>
              <a:spcBef>
                <a:spcPts val="0"/>
              </a:spcBef>
              <a:spcAft>
                <a:spcPts val="1500"/>
              </a:spcAft>
              <a:buNone/>
              <a:tabLst>
                <a:tab pos="457200" algn="l"/>
              </a:tabLst>
            </a:pPr>
            <a:r>
              <a:rPr lang="en-US" sz="5600" kern="100" dirty="0">
                <a:solidFill>
                  <a:schemeClr val="accent6"/>
                </a:solidFill>
                <a:latin typeface="Times New Roman" panose="02020603050405020304" pitchFamily="18" charset="0"/>
                <a:ea typeface="Aptos" panose="020B0004020202020204" pitchFamily="34" charset="0"/>
                <a:cs typeface="Times New Roman" panose="02020603050405020304" pitchFamily="18" charset="0"/>
              </a:rPr>
              <a:t>(</a:t>
            </a:r>
            <a:r>
              <a:rPr lang="en-US" sz="4400" b="0" i="0" dirty="0">
                <a:solidFill>
                  <a:srgbClr val="333333"/>
                </a:solidFill>
                <a:effectLst/>
                <a:latin typeface="frank-new"/>
              </a:rPr>
              <a:t>SRS6,</a:t>
            </a:r>
            <a:r>
              <a:rPr lang="en-US" sz="6000" b="0" i="0" dirty="0">
                <a:solidFill>
                  <a:srgbClr val="333333"/>
                </a:solidFill>
                <a:effectLst/>
                <a:latin typeface="frank-new"/>
              </a:rPr>
              <a:t> SRS5), high salinity in may June </a:t>
            </a:r>
            <a:endParaRPr lang="en-US" sz="56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endParaRPr>
          </a:p>
          <a:p>
            <a:pPr marL="514350" indent="-514350">
              <a:lnSpc>
                <a:spcPct val="115000"/>
              </a:lnSpc>
              <a:spcBef>
                <a:spcPts val="0"/>
              </a:spcBef>
              <a:spcAft>
                <a:spcPts val="800"/>
              </a:spcAft>
              <a:buFont typeface="+mj-lt"/>
              <a:buAutoNum type="arabicPeriod"/>
              <a:tabLst>
                <a:tab pos="457200" algn="l"/>
              </a:tabLst>
            </a:pPr>
            <a:r>
              <a:rPr lang="en-US" sz="5600" kern="1800" dirty="0">
                <a:solidFill>
                  <a:schemeClr val="accent6"/>
                </a:solidFill>
                <a:latin typeface="Times New Roman" panose="02020603050405020304" pitchFamily="18" charset="0"/>
                <a:ea typeface="Times New Roman" panose="02020603050405020304" pitchFamily="18" charset="0"/>
                <a:cs typeface="Times New Roman" panose="02020603050405020304" pitchFamily="18" charset="0"/>
              </a:rPr>
              <a:t>US-Tas </a:t>
            </a:r>
            <a:r>
              <a:rPr lang="en-US" sz="5600" i="0" dirty="0">
                <a:solidFill>
                  <a:schemeClr val="accent6"/>
                </a:solidFill>
                <a:effectLst/>
                <a:latin typeface="Times New Roman" panose="02020603050405020304" pitchFamily="18" charset="0"/>
                <a:cs typeface="Times New Roman" panose="02020603050405020304" pitchFamily="18" charset="0"/>
              </a:rPr>
              <a:t>Taylor Slough/Panhandle.</a:t>
            </a:r>
            <a:r>
              <a:rPr lang="en-US" sz="5600" dirty="0">
                <a:solidFill>
                  <a:schemeClr val="accent6"/>
                </a:solidFill>
                <a:latin typeface="Times New Roman" panose="02020603050405020304" pitchFamily="18" charset="0"/>
                <a:cs typeface="Times New Roman" panose="02020603050405020304" pitchFamily="18" charset="0"/>
              </a:rPr>
              <a:t> 2016-2021, wetland (Florida)</a:t>
            </a:r>
          </a:p>
          <a:p>
            <a:pPr marL="514350" indent="-514350">
              <a:lnSpc>
                <a:spcPct val="115000"/>
              </a:lnSpc>
              <a:spcBef>
                <a:spcPts val="0"/>
              </a:spcBef>
              <a:spcAft>
                <a:spcPts val="800"/>
              </a:spcAft>
              <a:buFont typeface="+mj-lt"/>
              <a:buAutoNum type="arabicPeriod"/>
              <a:tabLst>
                <a:tab pos="457200" algn="l"/>
              </a:tabLst>
            </a:pPr>
            <a:r>
              <a:rPr lang="en-US" sz="56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US-</a:t>
            </a:r>
            <a:r>
              <a:rPr lang="en-US" sz="5600" kern="1800" dirty="0" err="1">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EvM</a:t>
            </a:r>
            <a:r>
              <a:rPr lang="en-US" sz="56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 Everglades Saltwater intrusion marsh, 2020-present, wetland  (salinity &gt;18 </a:t>
            </a:r>
            <a:r>
              <a:rPr lang="en-US" sz="5600" kern="1800" dirty="0" err="1">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psu</a:t>
            </a:r>
            <a:r>
              <a:rPr lang="en-US" sz="56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 Florida</a:t>
            </a:r>
          </a:p>
          <a:p>
            <a:pPr marL="514350" indent="-514350">
              <a:lnSpc>
                <a:spcPct val="115000"/>
              </a:lnSpc>
              <a:spcBef>
                <a:spcPts val="0"/>
              </a:spcBef>
              <a:spcAft>
                <a:spcPts val="800"/>
              </a:spcAft>
              <a:buFont typeface="+mj-lt"/>
              <a:buAutoNum type="arabicPeriod"/>
              <a:tabLst>
                <a:tab pos="457200" algn="l"/>
              </a:tabLst>
            </a:pPr>
            <a:r>
              <a:rPr lang="en-US" sz="56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US-KS3: Kennedy Space Center (salt marsh), 2017-2020, wetlands  (salinity&lt;6 ppt, &gt; 6 ppt) </a:t>
            </a:r>
            <a:r>
              <a:rPr lang="en-US" sz="5600" kern="1800" dirty="0" err="1">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fluxnet</a:t>
            </a:r>
            <a:r>
              <a:rPr lang="en-US" sz="56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 (2018), Florida</a:t>
            </a:r>
          </a:p>
          <a:p>
            <a:pPr marL="514350" indent="-514350">
              <a:lnSpc>
                <a:spcPct val="115000"/>
              </a:lnSpc>
              <a:spcBef>
                <a:spcPts val="0"/>
              </a:spcBef>
              <a:spcAft>
                <a:spcPts val="800"/>
              </a:spcAft>
              <a:buFont typeface="+mj-lt"/>
              <a:buAutoNum type="arabicPeriod"/>
              <a:tabLst>
                <a:tab pos="457200" algn="l"/>
              </a:tabLst>
            </a:pPr>
            <a:r>
              <a:rPr lang="en-US" sz="56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US-KS4: Kennedy Space Center (Spartina marsh), 2017-present (~ 6 ppt), wetlands, Florida</a:t>
            </a:r>
            <a:endParaRPr lang="en-US" sz="5600" kern="100" dirty="0">
              <a:solidFill>
                <a:schemeClr val="accent6"/>
              </a:solidFill>
              <a:latin typeface="Times New Roman" panose="02020603050405020304" pitchFamily="18" charset="0"/>
              <a:ea typeface="Aptos" panose="020B0004020202020204" pitchFamily="34" charset="0"/>
              <a:cs typeface="Times New Roman" panose="02020603050405020304" pitchFamily="18" charset="0"/>
            </a:endParaRPr>
          </a:p>
          <a:p>
            <a:pPr marL="514350" indent="-514350">
              <a:buFont typeface="+mj-lt"/>
              <a:buAutoNum type="arabicPeriod"/>
            </a:pPr>
            <a:r>
              <a:rPr lang="en-US" sz="5600" kern="100" dirty="0">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rPr>
              <a:t>US-EDN: Eden Landing Ecological Reserve, 2018-present, wetland , 30–35 ppt, mean 34 ppt (26-46 range), </a:t>
            </a:r>
            <a:r>
              <a:rPr lang="en-US" sz="5600" kern="100" dirty="0" err="1">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rPr>
              <a:t>fluxnet</a:t>
            </a:r>
            <a:r>
              <a:rPr lang="en-US" sz="5600" kern="100" dirty="0">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rPr>
              <a:t> (California), </a:t>
            </a:r>
            <a:r>
              <a:rPr lang="en-US" sz="5600" kern="100" dirty="0" err="1">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rPr>
              <a:t>fluxnet</a:t>
            </a:r>
            <a:endParaRPr lang="en-US" sz="5600" kern="100" dirty="0">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p>
            <a:pPr marL="514350" indent="-514350">
              <a:spcAft>
                <a:spcPts val="1500"/>
              </a:spcAft>
              <a:buFont typeface="+mj-lt"/>
              <a:buAutoNum type="arabicPeriod"/>
            </a:pP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US-Dmg: Dutch Slough Marsh Gilbert Tract, wetl</a:t>
            </a:r>
            <a:r>
              <a:rPr lang="en-US" sz="5600" dirty="0">
                <a:solidFill>
                  <a:schemeClr val="accent5">
                    <a:lumMod val="60000"/>
                    <a:lumOff val="40000"/>
                  </a:schemeClr>
                </a:solidFill>
                <a:latin typeface="Times New Roman" panose="02020603050405020304" pitchFamily="18" charset="0"/>
                <a:cs typeface="Times New Roman" panose="02020603050405020304" pitchFamily="18" charset="0"/>
              </a:rPr>
              <a:t>and 2021-present, California</a:t>
            </a:r>
          </a:p>
          <a:p>
            <a:pPr marL="514350" indent="-514350">
              <a:spcAft>
                <a:spcPts val="1500"/>
              </a:spcAft>
              <a:buFont typeface="+mj-lt"/>
              <a:buAutoNum type="arabicPeriod"/>
            </a:pP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US-MCP: Moro </a:t>
            </a:r>
            <a:r>
              <a:rPr lang="en-US" sz="5600" i="0" dirty="0" err="1">
                <a:solidFill>
                  <a:schemeClr val="accent5">
                    <a:lumMod val="60000"/>
                    <a:lumOff val="40000"/>
                  </a:schemeClr>
                </a:solidFill>
                <a:effectLst/>
                <a:latin typeface="Times New Roman" panose="02020603050405020304" pitchFamily="18" charset="0"/>
                <a:cs typeface="Times New Roman" panose="02020603050405020304" pitchFamily="18" charset="0"/>
              </a:rPr>
              <a:t>Cojo</a:t>
            </a: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 Slough, PG&amp;E Treatment Wetland, 2023-present, wetlands California </a:t>
            </a:r>
          </a:p>
          <a:p>
            <a:pPr marL="514350" indent="-514350">
              <a:spcAft>
                <a:spcPts val="1500"/>
              </a:spcAft>
              <a:buFont typeface="+mj-lt"/>
              <a:buAutoNum type="arabicPeriod"/>
            </a:pP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US-EKY: Elkhorn Slough Yampah Marsh, wetland 2022-present, California</a:t>
            </a:r>
          </a:p>
          <a:p>
            <a:pPr marL="514350" indent="-514350">
              <a:spcAft>
                <a:spcPts val="1500"/>
              </a:spcAft>
              <a:buFont typeface="+mj-lt"/>
              <a:buAutoNum type="arabicPeriod"/>
            </a:pP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US-EKP: Elkhorn Slough Porter Marsh, wetlands, 2022-present, California </a:t>
            </a:r>
          </a:p>
          <a:p>
            <a:pPr marL="514350" indent="-514350">
              <a:spcAft>
                <a:spcPts val="1500"/>
              </a:spcAft>
              <a:buFont typeface="+mj-lt"/>
              <a:buAutoNum type="arabicPeriod"/>
            </a:pP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US-EKN: Elkhorn Slough North Marsh, 2023-present, 2023, California</a:t>
            </a:r>
          </a:p>
          <a:p>
            <a:pPr marL="514350" indent="-514350">
              <a:spcAft>
                <a:spcPts val="1500"/>
              </a:spcAft>
              <a:buFont typeface="+mj-lt"/>
              <a:buAutoNum type="arabicPeriod"/>
            </a:pP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a:t>
            </a:r>
            <a:r>
              <a:rPr lang="en-US" sz="5600" i="0" dirty="0" err="1">
                <a:solidFill>
                  <a:schemeClr val="accent5">
                    <a:lumMod val="60000"/>
                    <a:lumOff val="40000"/>
                  </a:schemeClr>
                </a:solidFill>
                <a:effectLst/>
                <a:latin typeface="Times New Roman" panose="02020603050405020304" pitchFamily="18" charset="0"/>
                <a:cs typeface="Times New Roman" panose="02020603050405020304" pitchFamily="18" charset="0"/>
              </a:rPr>
              <a:t>Myb</a:t>
            </a: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 Mayberry Wetland, </a:t>
            </a:r>
            <a:r>
              <a:rPr lang="en-US" sz="5600" b="0" i="0" dirty="0">
                <a:solidFill>
                  <a:schemeClr val="accent5">
                    <a:lumMod val="60000"/>
                    <a:lumOff val="40000"/>
                  </a:schemeClr>
                </a:solidFill>
                <a:effectLst/>
                <a:latin typeface="Times New Roman" panose="02020603050405020304" pitchFamily="18" charset="0"/>
                <a:cs typeface="Times New Roman" panose="02020603050405020304" pitchFamily="18" charset="0"/>
              </a:rPr>
              <a:t>CO2, CH4, H2O, 2010-present California, little far</a:t>
            </a:r>
          </a:p>
          <a:p>
            <a:pPr marL="514350" indent="-514350">
              <a:spcAft>
                <a:spcPts val="1500"/>
              </a:spcAft>
              <a:buFont typeface="+mj-lt"/>
              <a:buAutoNum type="arabicPeriod"/>
            </a:pP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US-Tw1: Twitchell Wetland West Pond , Reference site to compare US-</a:t>
            </a:r>
            <a:r>
              <a:rPr lang="en-US" sz="5600" i="0" dirty="0" err="1">
                <a:solidFill>
                  <a:schemeClr val="accent5">
                    <a:lumMod val="60000"/>
                    <a:lumOff val="40000"/>
                  </a:schemeClr>
                </a:solidFill>
                <a:effectLst/>
                <a:latin typeface="Times New Roman" panose="02020603050405020304" pitchFamily="18" charset="0"/>
                <a:cs typeface="Times New Roman" panose="02020603050405020304" pitchFamily="18" charset="0"/>
              </a:rPr>
              <a:t>Myb</a:t>
            </a: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 California, reference site  </a:t>
            </a:r>
          </a:p>
          <a:p>
            <a:pPr marL="514350" indent="-514350">
              <a:spcAft>
                <a:spcPts val="1500"/>
              </a:spcAft>
              <a:buFont typeface="+mj-lt"/>
              <a:buAutoNum type="arabicPeriod"/>
            </a:pPr>
            <a:r>
              <a:rPr lang="en-US" sz="5600" kern="1800" dirty="0">
                <a:solidFill>
                  <a:schemeClr val="accent5">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US-</a:t>
            </a:r>
            <a:r>
              <a:rPr lang="en-US" sz="5600" kern="1800" dirty="0" err="1">
                <a:solidFill>
                  <a:schemeClr val="accent5">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Srr</a:t>
            </a:r>
            <a:r>
              <a:rPr lang="en-US" sz="5600" kern="1800" dirty="0">
                <a:solidFill>
                  <a:schemeClr val="accent5">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Suisun marsh - Rush Ranch</a:t>
            </a:r>
            <a:r>
              <a:rPr lang="en-US" sz="5600" dirty="0">
                <a:solidFill>
                  <a:schemeClr val="accent5">
                    <a:lumMod val="60000"/>
                    <a:lumOff val="40000"/>
                  </a:schemeClr>
                </a:solidFill>
                <a:latin typeface="Times New Roman" panose="02020603050405020304" pitchFamily="18" charset="0"/>
                <a:cs typeface="Times New Roman" panose="02020603050405020304" pitchFamily="18" charset="0"/>
              </a:rPr>
              <a:t>, salinity </a:t>
            </a:r>
            <a:r>
              <a:rPr lang="en-US" sz="5600" b="0" i="0" dirty="0">
                <a:solidFill>
                  <a:schemeClr val="accent5">
                    <a:lumMod val="60000"/>
                    <a:lumOff val="40000"/>
                  </a:schemeClr>
                </a:solidFill>
                <a:effectLst/>
                <a:latin typeface="Times New Roman" panose="02020603050405020304" pitchFamily="18" charset="0"/>
                <a:cs typeface="Times New Roman" panose="02020603050405020304" pitchFamily="18" charset="0"/>
              </a:rPr>
              <a:t>4.6 (0.25–12.3), 2014-present, wetlands </a:t>
            </a:r>
            <a:r>
              <a:rPr lang="en-US" sz="5600" b="0" i="0" dirty="0" err="1">
                <a:solidFill>
                  <a:schemeClr val="accent5">
                    <a:lumMod val="60000"/>
                    <a:lumOff val="40000"/>
                  </a:schemeClr>
                </a:solidFill>
                <a:effectLst/>
                <a:latin typeface="Times New Roman" panose="02020603050405020304" pitchFamily="18" charset="0"/>
                <a:cs typeface="Times New Roman" panose="02020603050405020304" pitchFamily="18" charset="0"/>
              </a:rPr>
              <a:t>fluxnet</a:t>
            </a:r>
            <a:r>
              <a:rPr lang="en-US" sz="5600" dirty="0">
                <a:solidFill>
                  <a:schemeClr val="accent5">
                    <a:lumMod val="60000"/>
                    <a:lumOff val="40000"/>
                  </a:schemeClr>
                </a:solidFill>
                <a:latin typeface="Times New Roman" panose="02020603050405020304" pitchFamily="18" charset="0"/>
                <a:cs typeface="Times New Roman" panose="02020603050405020304" pitchFamily="18" charset="0"/>
              </a:rPr>
              <a:t> (2014-2017), </a:t>
            </a:r>
            <a:r>
              <a:rPr lang="en-US" sz="5600" kern="1800" dirty="0">
                <a:solidFill>
                  <a:schemeClr val="accent5">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wetlands (California) </a:t>
            </a:r>
            <a:r>
              <a:rPr lang="en-US" sz="5600" kern="1800" dirty="0" err="1">
                <a:solidFill>
                  <a:schemeClr val="accent5">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fluxnet</a:t>
            </a:r>
            <a:r>
              <a:rPr lang="en-US" sz="5600" kern="1800" dirty="0">
                <a:solidFill>
                  <a:schemeClr val="accent5">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56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1327801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30ec6305b9b_0_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Survey question</a:t>
            </a:r>
            <a:endParaRPr/>
          </a:p>
        </p:txBody>
      </p:sp>
      <p:sp>
        <p:nvSpPr>
          <p:cNvPr id="106" name="Google Shape;106;g30ec6305b9b_0_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lnSpcReduction="10000"/>
          </a:bodyPr>
          <a:lstStyle/>
          <a:p>
            <a:pPr marL="0" lvl="0" indent="0" algn="l" rtl="0">
              <a:spcBef>
                <a:spcPts val="1000"/>
              </a:spcBef>
              <a:spcAft>
                <a:spcPts val="0"/>
              </a:spcAft>
              <a:buNone/>
            </a:pPr>
            <a:r>
              <a:rPr lang="en-US" dirty="0"/>
              <a:t>1: Salinity</a:t>
            </a:r>
            <a:endParaRPr dirty="0"/>
          </a:p>
          <a:p>
            <a:pPr marL="0" lvl="0" indent="0" algn="l" rtl="0">
              <a:spcBef>
                <a:spcPts val="1000"/>
              </a:spcBef>
              <a:spcAft>
                <a:spcPts val="0"/>
              </a:spcAft>
              <a:buNone/>
            </a:pPr>
            <a:r>
              <a:rPr lang="en-US" dirty="0"/>
              <a:t>2: Fresh waster, salt intrusion, ID of your site</a:t>
            </a:r>
            <a:endParaRPr dirty="0"/>
          </a:p>
          <a:p>
            <a:pPr marL="0" lvl="0" indent="0" algn="l" rtl="0">
              <a:spcBef>
                <a:spcPts val="1000"/>
              </a:spcBef>
              <a:spcAft>
                <a:spcPts val="0"/>
              </a:spcAft>
              <a:buNone/>
            </a:pPr>
            <a:r>
              <a:rPr lang="en-US" dirty="0"/>
              <a:t>3: Gap filled data</a:t>
            </a:r>
            <a:endParaRPr dirty="0"/>
          </a:p>
          <a:p>
            <a:pPr marL="0" lvl="0" indent="0" algn="l" rtl="0">
              <a:spcBef>
                <a:spcPts val="1000"/>
              </a:spcBef>
              <a:spcAft>
                <a:spcPts val="0"/>
              </a:spcAft>
              <a:buNone/>
            </a:pPr>
            <a:r>
              <a:rPr lang="en-US" dirty="0"/>
              <a:t>4: Salinity range or value</a:t>
            </a:r>
            <a:endParaRPr dirty="0"/>
          </a:p>
          <a:p>
            <a:pPr marL="0" lvl="0" indent="0" algn="l" rtl="0">
              <a:spcBef>
                <a:spcPts val="1000"/>
              </a:spcBef>
              <a:spcAft>
                <a:spcPts val="0"/>
              </a:spcAft>
              <a:buNone/>
            </a:pPr>
            <a:r>
              <a:rPr lang="en-US" dirty="0"/>
              <a:t>5: Any other site other than sites written above</a:t>
            </a:r>
            <a:endParaRPr dirty="0"/>
          </a:p>
          <a:p>
            <a:pPr marL="0" lvl="0" indent="0" algn="l" rtl="0">
              <a:spcBef>
                <a:spcPts val="1000"/>
              </a:spcBef>
              <a:spcAft>
                <a:spcPts val="0"/>
              </a:spcAft>
              <a:buNone/>
            </a:pPr>
            <a:r>
              <a:rPr lang="en-US" dirty="0"/>
              <a:t>Email all PI, In intro write names of all sites</a:t>
            </a:r>
            <a:endParaRPr dirty="0"/>
          </a:p>
          <a:p>
            <a:pPr marL="0" lvl="0" indent="0" algn="l" rtl="0">
              <a:spcBef>
                <a:spcPts val="1000"/>
              </a:spcBef>
              <a:spcAft>
                <a:spcPts val="0"/>
              </a:spcAft>
              <a:buNone/>
            </a:pPr>
            <a:r>
              <a:rPr lang="en-US" dirty="0"/>
              <a:t>should </a:t>
            </a:r>
            <a:r>
              <a:rPr lang="en-US" dirty="0" err="1"/>
              <a:t>i</a:t>
            </a:r>
            <a:r>
              <a:rPr lang="en-US" dirty="0"/>
              <a:t> use </a:t>
            </a:r>
            <a:r>
              <a:rPr lang="en-US" dirty="0" err="1"/>
              <a:t>xgboost</a:t>
            </a:r>
            <a:r>
              <a:rPr lang="en-US" dirty="0"/>
              <a:t> for all sites for consistency </a:t>
            </a:r>
            <a:endParaRPr dirty="0"/>
          </a:p>
          <a:p>
            <a:pPr marL="0" lvl="0" indent="0" algn="l" rtl="0">
              <a:spcBef>
                <a:spcPts val="1000"/>
              </a:spcBef>
              <a:spcAft>
                <a:spcPts val="0"/>
              </a:spcAft>
              <a:buNone/>
            </a:pPr>
            <a:r>
              <a:rPr lang="en-US" dirty="0"/>
              <a:t>GPP? </a:t>
            </a:r>
            <a:endParaRPr dirty="0"/>
          </a:p>
          <a:p>
            <a:pPr marL="0" lvl="0" indent="0" algn="l" rtl="0">
              <a:spcBef>
                <a:spcPts val="1000"/>
              </a:spcBef>
              <a:spcAft>
                <a:spcPts val="0"/>
              </a:spcAft>
              <a:buNone/>
            </a:pPr>
            <a:r>
              <a:rPr lang="en-US" dirty="0"/>
              <a:t>email </a:t>
            </a:r>
            <a:r>
              <a:rPr lang="en-US" dirty="0" err="1"/>
              <a:t>ameriflux</a:t>
            </a:r>
            <a:endParaRPr dirty="0"/>
          </a:p>
        </p:txBody>
      </p:sp>
    </p:spTree>
    <p:extLst>
      <p:ext uri="{BB962C8B-B14F-4D97-AF65-F5344CB8AC3E}">
        <p14:creationId xmlns:p14="http://schemas.microsoft.com/office/powerpoint/2010/main" val="37488622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EDAEAE-A0EA-E307-64AF-FC3FB67652DC}"/>
              </a:ext>
            </a:extLst>
          </p:cNvPr>
          <p:cNvSpPr>
            <a:spLocks noGrp="1"/>
          </p:cNvSpPr>
          <p:nvPr>
            <p:ph idx="1"/>
          </p:nvPr>
        </p:nvSpPr>
        <p:spPr>
          <a:xfrm>
            <a:off x="838200" y="282813"/>
            <a:ext cx="10515600" cy="6292373"/>
          </a:xfrm>
        </p:spPr>
        <p:txBody>
          <a:bodyPr/>
          <a:lstStyle/>
          <a:p>
            <a:r>
              <a:rPr lang="en-US" dirty="0"/>
              <a:t>Do across sites, growing season (May-sept) temp cut off for growing season</a:t>
            </a:r>
          </a:p>
          <a:p>
            <a:r>
              <a:rPr lang="en-US" dirty="0"/>
              <a:t>Filter data by temp. above 5 degree Celsius , height of growing season. For warmest month what is WUE. What is maximum WUE</a:t>
            </a:r>
          </a:p>
          <a:p>
            <a:r>
              <a:rPr lang="en-US" dirty="0"/>
              <a:t>July warmest month</a:t>
            </a:r>
          </a:p>
          <a:p>
            <a:r>
              <a:rPr lang="en-US" dirty="0"/>
              <a:t>Height of growing season and WUE for those time.</a:t>
            </a:r>
          </a:p>
          <a:p>
            <a:r>
              <a:rPr lang="en-US" dirty="0"/>
              <a:t>There are other ways to calculate WUE, if </a:t>
            </a:r>
            <a:r>
              <a:rPr lang="en-US" dirty="0" err="1"/>
              <a:t>dont</a:t>
            </a:r>
            <a:r>
              <a:rPr lang="en-US" dirty="0"/>
              <a:t> want to use GPP.  </a:t>
            </a:r>
          </a:p>
          <a:p>
            <a:r>
              <a:rPr lang="en-US" dirty="0"/>
              <a:t>NEE can be use used as NEP. Can I calculate </a:t>
            </a:r>
          </a:p>
          <a:p>
            <a:r>
              <a:rPr lang="en-US" dirty="0"/>
              <a:t>Look for conditions, multiple years WUE, relative moisture condition. Is it because of precip , drought, moisture index. Climate change or salinity</a:t>
            </a:r>
          </a:p>
          <a:p>
            <a:r>
              <a:rPr lang="en-US" dirty="0"/>
              <a:t>Growing season WUE. How many years , conditions of those site</a:t>
            </a:r>
          </a:p>
          <a:p>
            <a:r>
              <a:rPr lang="en-US" dirty="0"/>
              <a:t>Scale: day</a:t>
            </a:r>
            <a:r>
              <a:rPr lang="en-US"/>
              <a:t>, month </a:t>
            </a:r>
            <a:endParaRPr lang="en-US" dirty="0"/>
          </a:p>
        </p:txBody>
      </p:sp>
      <p:sp>
        <p:nvSpPr>
          <p:cNvPr id="4" name="TextBox 3">
            <a:extLst>
              <a:ext uri="{FF2B5EF4-FFF2-40B4-BE49-F238E27FC236}">
                <a16:creationId xmlns:a16="http://schemas.microsoft.com/office/drawing/2014/main" id="{2395CC5B-038F-440C-3AEC-3342EB6132F9}"/>
              </a:ext>
            </a:extLst>
          </p:cNvPr>
          <p:cNvSpPr txBox="1"/>
          <p:nvPr/>
        </p:nvSpPr>
        <p:spPr>
          <a:xfrm>
            <a:off x="3047427" y="3246053"/>
            <a:ext cx="6094854" cy="369332"/>
          </a:xfrm>
          <a:prstGeom prst="rect">
            <a:avLst/>
          </a:prstGeom>
          <a:noFill/>
        </p:spPr>
        <p:txBody>
          <a:bodyPr wrap="square">
            <a:spAutoFit/>
          </a:bodyPr>
          <a:lstStyle/>
          <a:p>
            <a:r>
              <a:rPr lang="en-US" b="0" dirty="0">
                <a:effectLst/>
              </a:rPr>
              <a:t> </a:t>
            </a:r>
            <a:endParaRPr lang="en-US" dirty="0"/>
          </a:p>
        </p:txBody>
      </p:sp>
    </p:spTree>
    <p:extLst>
      <p:ext uri="{BB962C8B-B14F-4D97-AF65-F5344CB8AC3E}">
        <p14:creationId xmlns:p14="http://schemas.microsoft.com/office/powerpoint/2010/main" val="27213036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AE3FB-E18E-1173-358A-239481C9E387}"/>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956789D5-6BD2-E2F7-E92D-E4854E4778FD}"/>
              </a:ext>
            </a:extLst>
          </p:cNvPr>
          <p:cNvPicPr>
            <a:picLocks noChangeAspect="1"/>
          </p:cNvPicPr>
          <p:nvPr/>
        </p:nvPicPr>
        <p:blipFill>
          <a:blip r:embed="rId2"/>
          <a:stretch>
            <a:fillRect/>
          </a:stretch>
        </p:blipFill>
        <p:spPr>
          <a:xfrm>
            <a:off x="714124" y="-54045"/>
            <a:ext cx="9760452" cy="2724290"/>
          </a:xfrm>
          <a:prstGeom prst="rect">
            <a:avLst/>
          </a:prstGeom>
        </p:spPr>
      </p:pic>
      <p:pic>
        <p:nvPicPr>
          <p:cNvPr id="7" name="Picture 6">
            <a:extLst>
              <a:ext uri="{FF2B5EF4-FFF2-40B4-BE49-F238E27FC236}">
                <a16:creationId xmlns:a16="http://schemas.microsoft.com/office/drawing/2014/main" id="{2A17EE68-4A7C-5B8B-26C4-10A30B4A311E}"/>
              </a:ext>
            </a:extLst>
          </p:cNvPr>
          <p:cNvPicPr>
            <a:picLocks noChangeAspect="1"/>
          </p:cNvPicPr>
          <p:nvPr/>
        </p:nvPicPr>
        <p:blipFill>
          <a:blip r:embed="rId3"/>
          <a:stretch>
            <a:fillRect/>
          </a:stretch>
        </p:blipFill>
        <p:spPr>
          <a:xfrm>
            <a:off x="564877" y="3800426"/>
            <a:ext cx="10630446" cy="1911448"/>
          </a:xfrm>
          <a:prstGeom prst="rect">
            <a:avLst/>
          </a:prstGeom>
        </p:spPr>
      </p:pic>
    </p:spTree>
    <p:extLst>
      <p:ext uri="{BB962C8B-B14F-4D97-AF65-F5344CB8AC3E}">
        <p14:creationId xmlns:p14="http://schemas.microsoft.com/office/powerpoint/2010/main" val="39026703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5E3FA-9610-D8C4-4123-4D10F6901C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291F09F-1E5B-5685-C53D-23D80271E890}"/>
              </a:ext>
            </a:extLst>
          </p:cNvPr>
          <p:cNvSpPr>
            <a:spLocks noGrp="1"/>
          </p:cNvSpPr>
          <p:nvPr>
            <p:ph idx="1"/>
          </p:nvPr>
        </p:nvSpPr>
        <p:spPr/>
        <p:txBody>
          <a:bodyPr/>
          <a:lstStyle/>
          <a:p>
            <a:r>
              <a:rPr lang="en-US" dirty="0"/>
              <a:t>32 sites</a:t>
            </a:r>
          </a:p>
          <a:p>
            <a:r>
              <a:rPr lang="en-US" dirty="0"/>
              <a:t>10 sites short term gap filled (</a:t>
            </a:r>
            <a:r>
              <a:rPr lang="en-US" dirty="0" err="1"/>
              <a:t>fluxnet</a:t>
            </a:r>
            <a:r>
              <a:rPr lang="en-US" dirty="0"/>
              <a:t> data)</a:t>
            </a:r>
          </a:p>
          <a:p>
            <a:r>
              <a:rPr lang="en-US" dirty="0"/>
              <a:t>17 sites with long term data</a:t>
            </a:r>
          </a:p>
          <a:p>
            <a:r>
              <a:rPr lang="en-US" dirty="0"/>
              <a:t>1 site with gap filled short term</a:t>
            </a:r>
          </a:p>
          <a:p>
            <a:r>
              <a:rPr lang="en-US" dirty="0"/>
              <a:t>14 sites missing data</a:t>
            </a:r>
          </a:p>
          <a:p>
            <a:endParaRPr lang="en-US" dirty="0"/>
          </a:p>
          <a:p>
            <a:endParaRPr lang="en-US" dirty="0"/>
          </a:p>
          <a:p>
            <a:endParaRPr lang="en-US" dirty="0"/>
          </a:p>
        </p:txBody>
      </p:sp>
    </p:spTree>
    <p:extLst>
      <p:ext uri="{BB962C8B-B14F-4D97-AF65-F5344CB8AC3E}">
        <p14:creationId xmlns:p14="http://schemas.microsoft.com/office/powerpoint/2010/main" val="7894026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00493-62BC-9F91-8A0F-54A50A6CBB65}"/>
              </a:ext>
            </a:extLst>
          </p:cNvPr>
          <p:cNvSpPr>
            <a:spLocks noGrp="1"/>
          </p:cNvSpPr>
          <p:nvPr>
            <p:ph type="title"/>
          </p:nvPr>
        </p:nvSpPr>
        <p:spPr/>
        <p:txBody>
          <a:bodyPr/>
          <a:lstStyle/>
          <a:p>
            <a:r>
              <a:rPr lang="en-US" dirty="0"/>
              <a:t>10 </a:t>
            </a:r>
            <a:r>
              <a:rPr lang="en-US" dirty="0" err="1"/>
              <a:t>ameriflux</a:t>
            </a:r>
            <a:r>
              <a:rPr lang="en-US" dirty="0"/>
              <a:t> site </a:t>
            </a:r>
          </a:p>
        </p:txBody>
      </p:sp>
      <p:sp>
        <p:nvSpPr>
          <p:cNvPr id="3" name="Content Placeholder 2">
            <a:extLst>
              <a:ext uri="{FF2B5EF4-FFF2-40B4-BE49-F238E27FC236}">
                <a16:creationId xmlns:a16="http://schemas.microsoft.com/office/drawing/2014/main" id="{5826075E-D511-DD33-DB9B-BB29A11FAFEF}"/>
              </a:ext>
            </a:extLst>
          </p:cNvPr>
          <p:cNvSpPr>
            <a:spLocks noGrp="1"/>
          </p:cNvSpPr>
          <p:nvPr>
            <p:ph idx="1"/>
          </p:nvPr>
        </p:nvSpPr>
        <p:spPr/>
        <p:txBody>
          <a:bodyPr>
            <a:normAutofit lnSpcReduction="10000"/>
          </a:bodyPr>
          <a:lstStyle/>
          <a:p>
            <a:pPr>
              <a:lnSpc>
                <a:spcPct val="100000"/>
              </a:lnSpc>
              <a:spcBef>
                <a:spcPts val="0"/>
              </a:spcBef>
              <a:defRPr/>
            </a:pPr>
            <a:r>
              <a:rPr lang="en-US" i="0" dirty="0">
                <a:solidFill>
                  <a:srgbClr val="333333"/>
                </a:solidFill>
                <a:effectLst/>
                <a:latin typeface="proxima-nova-condensed"/>
              </a:rPr>
              <a:t>US-EDN</a:t>
            </a:r>
          </a:p>
          <a:p>
            <a:pPr>
              <a:lnSpc>
                <a:spcPct val="100000"/>
              </a:lnSpc>
              <a:spcBef>
                <a:spcPts val="0"/>
              </a:spcBef>
              <a:defRPr/>
            </a:pPr>
            <a:r>
              <a:rPr lang="en-US" i="0" dirty="0">
                <a:solidFill>
                  <a:srgbClr val="333333"/>
                </a:solidFill>
                <a:effectLst/>
                <a:latin typeface="proxima-nova-condensed"/>
              </a:rPr>
              <a:t>US-NGB</a:t>
            </a:r>
          </a:p>
          <a:p>
            <a:pPr>
              <a:lnSpc>
                <a:spcPct val="100000"/>
              </a:lnSpc>
              <a:spcBef>
                <a:spcPts val="0"/>
              </a:spcBef>
              <a:defRPr/>
            </a:pPr>
            <a:r>
              <a:rPr lang="en-US" i="0" dirty="0">
                <a:solidFill>
                  <a:srgbClr val="333333"/>
                </a:solidFill>
                <a:effectLst/>
                <a:latin typeface="proxima-nova-condensed"/>
              </a:rPr>
              <a:t>US-ASH</a:t>
            </a:r>
          </a:p>
          <a:p>
            <a:pPr>
              <a:lnSpc>
                <a:spcPct val="100000"/>
              </a:lnSpc>
              <a:spcBef>
                <a:spcPts val="0"/>
              </a:spcBef>
              <a:defRPr/>
            </a:pPr>
            <a:r>
              <a:rPr lang="en-US" i="0" dirty="0">
                <a:solidFill>
                  <a:srgbClr val="333333"/>
                </a:solidFill>
                <a:effectLst/>
                <a:latin typeface="proxima-nova-condensed"/>
              </a:rPr>
              <a:t>US-</a:t>
            </a:r>
            <a:r>
              <a:rPr lang="en-US" i="0" dirty="0" err="1">
                <a:solidFill>
                  <a:srgbClr val="333333"/>
                </a:solidFill>
                <a:effectLst/>
                <a:latin typeface="proxima-nova-condensed"/>
              </a:rPr>
              <a:t>Srr</a:t>
            </a:r>
            <a:endParaRPr lang="en-US" i="0" dirty="0">
              <a:solidFill>
                <a:srgbClr val="333333"/>
              </a:solidFill>
              <a:effectLst/>
              <a:latin typeface="proxima-nova-condensed"/>
            </a:endParaRPr>
          </a:p>
          <a:p>
            <a:pPr>
              <a:lnSpc>
                <a:spcPct val="100000"/>
              </a:lnSpc>
              <a:spcBef>
                <a:spcPts val="0"/>
              </a:spcBef>
              <a:defRPr/>
            </a:pPr>
            <a:r>
              <a:rPr lang="en-US" i="0" dirty="0">
                <a:solidFill>
                  <a:srgbClr val="333333"/>
                </a:solidFill>
                <a:effectLst/>
                <a:latin typeface="proxima-nova-condensed"/>
              </a:rPr>
              <a:t>US-ASM</a:t>
            </a:r>
          </a:p>
          <a:p>
            <a:pPr>
              <a:lnSpc>
                <a:spcPct val="100000"/>
              </a:lnSpc>
              <a:spcBef>
                <a:spcPts val="0"/>
              </a:spcBef>
              <a:defRPr/>
            </a:pPr>
            <a:r>
              <a:rPr lang="en-US" i="0" dirty="0">
                <a:solidFill>
                  <a:srgbClr val="333333"/>
                </a:solidFill>
                <a:effectLst/>
                <a:latin typeface="proxima-nova-condensed"/>
              </a:rPr>
              <a:t>US-PSH</a:t>
            </a:r>
          </a:p>
          <a:p>
            <a:r>
              <a:rPr lang="en-US" dirty="0"/>
              <a:t>US-PSL</a:t>
            </a:r>
          </a:p>
          <a:p>
            <a:r>
              <a:rPr lang="en-US" dirty="0"/>
              <a:t>US-HB1</a:t>
            </a:r>
          </a:p>
          <a:p>
            <a:r>
              <a:rPr lang="en-US" dirty="0"/>
              <a:t>US-KS3</a:t>
            </a:r>
          </a:p>
          <a:p>
            <a:r>
              <a:rPr lang="en-US" dirty="0"/>
              <a:t>US-</a:t>
            </a:r>
            <a:r>
              <a:rPr lang="en-US" dirty="0" err="1"/>
              <a:t>StJ</a:t>
            </a:r>
            <a:endParaRPr lang="en-US" dirty="0"/>
          </a:p>
          <a:p>
            <a:endParaRPr lang="en-US" dirty="0"/>
          </a:p>
        </p:txBody>
      </p:sp>
    </p:spTree>
    <p:extLst>
      <p:ext uri="{BB962C8B-B14F-4D97-AF65-F5344CB8AC3E}">
        <p14:creationId xmlns:p14="http://schemas.microsoft.com/office/powerpoint/2010/main" val="19540605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Data</a:t>
            </a:r>
            <a:endParaRPr/>
          </a:p>
        </p:txBody>
      </p:sp>
      <p:sp>
        <p:nvSpPr>
          <p:cNvPr id="92" name="Google Shape;92;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0"/>
              </a:spcBef>
              <a:spcAft>
                <a:spcPts val="0"/>
              </a:spcAft>
              <a:buClr>
                <a:schemeClr val="dk1"/>
              </a:buClr>
              <a:buSzPts val="1100"/>
              <a:buFont typeface="Arial"/>
              <a:buNone/>
            </a:pPr>
            <a:r>
              <a:rPr lang="en-US" sz="2000" b="1" dirty="0">
                <a:solidFill>
                  <a:srgbClr val="333333"/>
                </a:solidFill>
              </a:rPr>
              <a:t>Total 32 sites</a:t>
            </a:r>
            <a:endParaRPr sz="2000" b="1" dirty="0">
              <a:solidFill>
                <a:srgbClr val="333333"/>
              </a:solidFill>
            </a:endParaRPr>
          </a:p>
          <a:p>
            <a:pPr marL="0" lvl="0" indent="0" algn="l" rtl="0">
              <a:lnSpc>
                <a:spcPct val="115000"/>
              </a:lnSpc>
              <a:spcBef>
                <a:spcPts val="0"/>
              </a:spcBef>
              <a:spcAft>
                <a:spcPts val="0"/>
              </a:spcAft>
              <a:buClr>
                <a:schemeClr val="dk1"/>
              </a:buClr>
              <a:buSzPts val="1100"/>
              <a:buFont typeface="Arial"/>
              <a:buNone/>
            </a:pPr>
            <a:endParaRPr sz="2000" b="1" dirty="0">
              <a:solidFill>
                <a:srgbClr val="333333"/>
              </a:solidFill>
            </a:endParaRPr>
          </a:p>
          <a:p>
            <a:pPr marL="457200" lvl="0" indent="-355600" algn="l" rtl="0">
              <a:lnSpc>
                <a:spcPct val="115000"/>
              </a:lnSpc>
              <a:spcBef>
                <a:spcPts val="0"/>
              </a:spcBef>
              <a:spcAft>
                <a:spcPts val="0"/>
              </a:spcAft>
              <a:buClr>
                <a:srgbClr val="333333"/>
              </a:buClr>
              <a:buSzPts val="2000"/>
              <a:buChar char="●"/>
            </a:pPr>
            <a:r>
              <a:rPr lang="en-US" sz="2000" b="1" dirty="0">
                <a:solidFill>
                  <a:srgbClr val="333333"/>
                </a:solidFill>
              </a:rPr>
              <a:t>19, Wetlands</a:t>
            </a:r>
            <a:endParaRPr sz="2000" b="1" dirty="0">
              <a:solidFill>
                <a:srgbClr val="333333"/>
              </a:solidFill>
            </a:endParaRPr>
          </a:p>
          <a:p>
            <a:pPr marL="457200" lvl="0" indent="-355600" algn="l" rtl="0">
              <a:lnSpc>
                <a:spcPct val="115000"/>
              </a:lnSpc>
              <a:spcBef>
                <a:spcPts val="0"/>
              </a:spcBef>
              <a:spcAft>
                <a:spcPts val="0"/>
              </a:spcAft>
              <a:buClr>
                <a:srgbClr val="333333"/>
              </a:buClr>
              <a:buSzPts val="2000"/>
              <a:buChar char="●"/>
            </a:pPr>
            <a:r>
              <a:rPr lang="en-US" sz="2000" b="1" dirty="0">
                <a:solidFill>
                  <a:srgbClr val="333333"/>
                </a:solidFill>
              </a:rPr>
              <a:t>5, forest</a:t>
            </a:r>
            <a:endParaRPr sz="2000" b="1" dirty="0">
              <a:solidFill>
                <a:srgbClr val="333333"/>
              </a:solidFill>
            </a:endParaRPr>
          </a:p>
          <a:p>
            <a:pPr marL="457200" lvl="0" indent="-355600" algn="l" rtl="0">
              <a:lnSpc>
                <a:spcPct val="115000"/>
              </a:lnSpc>
              <a:spcBef>
                <a:spcPts val="0"/>
              </a:spcBef>
              <a:spcAft>
                <a:spcPts val="0"/>
              </a:spcAft>
              <a:buClr>
                <a:srgbClr val="333333"/>
              </a:buClr>
              <a:buSzPts val="2000"/>
              <a:buChar char="●"/>
            </a:pPr>
            <a:r>
              <a:rPr lang="en-US" sz="2000" b="1" dirty="0">
                <a:solidFill>
                  <a:srgbClr val="333333"/>
                </a:solidFill>
              </a:rPr>
              <a:t>4, Tundra</a:t>
            </a:r>
            <a:endParaRPr sz="2000" b="1" dirty="0">
              <a:solidFill>
                <a:srgbClr val="333333"/>
              </a:solidFill>
            </a:endParaRPr>
          </a:p>
          <a:p>
            <a:pPr marL="457200" lvl="0" indent="-355600" algn="l" rtl="0">
              <a:lnSpc>
                <a:spcPct val="115000"/>
              </a:lnSpc>
              <a:spcBef>
                <a:spcPts val="0"/>
              </a:spcBef>
              <a:spcAft>
                <a:spcPts val="0"/>
              </a:spcAft>
              <a:buClr>
                <a:srgbClr val="333333"/>
              </a:buClr>
              <a:buSzPts val="2000"/>
              <a:buChar char="●"/>
            </a:pPr>
            <a:r>
              <a:rPr lang="en-US" sz="2000" b="1" dirty="0">
                <a:solidFill>
                  <a:srgbClr val="333333"/>
                </a:solidFill>
              </a:rPr>
              <a:t>3,  Marsh </a:t>
            </a:r>
            <a:endParaRPr sz="2000" b="1" dirty="0">
              <a:solidFill>
                <a:srgbClr val="333333"/>
              </a:solidFill>
            </a:endParaRPr>
          </a:p>
          <a:p>
            <a:pPr marL="457200" lvl="0" indent="-355600" algn="l" rtl="0">
              <a:lnSpc>
                <a:spcPct val="115000"/>
              </a:lnSpc>
              <a:spcBef>
                <a:spcPts val="0"/>
              </a:spcBef>
              <a:spcAft>
                <a:spcPts val="0"/>
              </a:spcAft>
              <a:buClr>
                <a:srgbClr val="333333"/>
              </a:buClr>
              <a:buSzPts val="2000"/>
              <a:buChar char="●"/>
            </a:pPr>
            <a:r>
              <a:rPr lang="en-US" sz="2000" b="1" dirty="0">
                <a:solidFill>
                  <a:srgbClr val="333333"/>
                </a:solidFill>
              </a:rPr>
              <a:t>1, Desert</a:t>
            </a:r>
            <a:endParaRPr sz="2000" b="1" dirty="0">
              <a:solidFill>
                <a:srgbClr val="333333"/>
              </a:solidFill>
            </a:endParaRPr>
          </a:p>
          <a:p>
            <a:pPr marL="0" lvl="0" indent="0" algn="l" rtl="0">
              <a:lnSpc>
                <a:spcPct val="115000"/>
              </a:lnSpc>
              <a:spcBef>
                <a:spcPts val="0"/>
              </a:spcBef>
              <a:spcAft>
                <a:spcPts val="0"/>
              </a:spcAft>
              <a:buClr>
                <a:schemeClr val="dk1"/>
              </a:buClr>
              <a:buSzPts val="1100"/>
              <a:buFont typeface="Arial"/>
              <a:buNone/>
            </a:pPr>
            <a:endParaRPr sz="2000" b="1" dirty="0">
              <a:solidFill>
                <a:srgbClr val="333333"/>
              </a:solidFill>
            </a:endParaRPr>
          </a:p>
          <a:p>
            <a:pPr marL="228600" lvl="0" indent="-50800" algn="l" rtl="0">
              <a:lnSpc>
                <a:spcPct val="90000"/>
              </a:lnSpc>
              <a:spcBef>
                <a:spcPts val="0"/>
              </a:spcBef>
              <a:spcAft>
                <a:spcPts val="0"/>
              </a:spcAft>
              <a:buClr>
                <a:schemeClr val="dk1"/>
              </a:buClr>
              <a:buSzPts val="2800"/>
              <a:buNone/>
            </a:pPr>
            <a:endParaRPr dirty="0"/>
          </a:p>
        </p:txBody>
      </p:sp>
      <p:pic>
        <p:nvPicPr>
          <p:cNvPr id="93" name="Google Shape;93;p2"/>
          <p:cNvPicPr preferRelativeResize="0"/>
          <p:nvPr/>
        </p:nvPicPr>
        <p:blipFill>
          <a:blip r:embed="rId3">
            <a:alphaModFix/>
          </a:blip>
          <a:stretch>
            <a:fillRect/>
          </a:stretch>
        </p:blipFill>
        <p:spPr>
          <a:xfrm>
            <a:off x="4153800" y="938225"/>
            <a:ext cx="7581900" cy="52387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g30ec6305b9b_0_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99" name="Google Shape;99;g30ec6305b9b_0_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pic>
        <p:nvPicPr>
          <p:cNvPr id="100" name="Google Shape;100;g30ec6305b9b_0_2"/>
          <p:cNvPicPr preferRelativeResize="0"/>
          <p:nvPr/>
        </p:nvPicPr>
        <p:blipFill>
          <a:blip r:embed="rId3">
            <a:alphaModFix/>
          </a:blip>
          <a:stretch>
            <a:fillRect/>
          </a:stretch>
        </p:blipFill>
        <p:spPr>
          <a:xfrm>
            <a:off x="105650" y="1361175"/>
            <a:ext cx="11248148" cy="3815487"/>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A1641-13EC-3A89-7A1D-17CA7089E79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D1EE430-4598-8CAC-817A-EB7943F4698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5BED3D1-0479-4390-EBC6-C3F289B27989}"/>
              </a:ext>
            </a:extLst>
          </p:cNvPr>
          <p:cNvPicPr>
            <a:picLocks noChangeAspect="1"/>
          </p:cNvPicPr>
          <p:nvPr/>
        </p:nvPicPr>
        <p:blipFill>
          <a:blip r:embed="rId2"/>
          <a:stretch>
            <a:fillRect/>
          </a:stretch>
        </p:blipFill>
        <p:spPr>
          <a:xfrm>
            <a:off x="775623" y="2376911"/>
            <a:ext cx="4838095" cy="3149206"/>
          </a:xfrm>
          <a:prstGeom prst="rect">
            <a:avLst/>
          </a:prstGeom>
        </p:spPr>
      </p:pic>
      <p:sp>
        <p:nvSpPr>
          <p:cNvPr id="6" name="TextBox 5">
            <a:extLst>
              <a:ext uri="{FF2B5EF4-FFF2-40B4-BE49-F238E27FC236}">
                <a16:creationId xmlns:a16="http://schemas.microsoft.com/office/drawing/2014/main" id="{A4D4D230-FD1A-2A00-47F1-7120770C5B20}"/>
              </a:ext>
            </a:extLst>
          </p:cNvPr>
          <p:cNvSpPr txBox="1"/>
          <p:nvPr/>
        </p:nvSpPr>
        <p:spPr>
          <a:xfrm>
            <a:off x="1485040" y="2612571"/>
            <a:ext cx="1739995" cy="369332"/>
          </a:xfrm>
          <a:prstGeom prst="rect">
            <a:avLst/>
          </a:prstGeom>
          <a:noFill/>
        </p:spPr>
        <p:txBody>
          <a:bodyPr wrap="square" rtlCol="0">
            <a:spAutoFit/>
          </a:bodyPr>
          <a:lstStyle/>
          <a:p>
            <a:r>
              <a:rPr lang="en-US" dirty="0"/>
              <a:t>Daily GPP</a:t>
            </a:r>
          </a:p>
        </p:txBody>
      </p:sp>
    </p:spTree>
    <p:extLst>
      <p:ext uri="{BB962C8B-B14F-4D97-AF65-F5344CB8AC3E}">
        <p14:creationId xmlns:p14="http://schemas.microsoft.com/office/powerpoint/2010/main" val="3811125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83DB9-C8CC-44C5-FB6F-290661D87A4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E544FF-582A-1FCE-7BCB-111A8E17BCFD}"/>
              </a:ext>
            </a:extLst>
          </p:cNvPr>
          <p:cNvSpPr>
            <a:spLocks noGrp="1"/>
          </p:cNvSpPr>
          <p:nvPr>
            <p:ph idx="1"/>
          </p:nvPr>
        </p:nvSpPr>
        <p:spPr/>
        <p:txBody>
          <a:bodyPr/>
          <a:lstStyle/>
          <a:p>
            <a:r>
              <a:rPr lang="en-US" dirty="0"/>
              <a:t>Do another filter by using wetlands, marsh </a:t>
            </a:r>
          </a:p>
          <a:p>
            <a:endParaRPr lang="en-US" dirty="0"/>
          </a:p>
        </p:txBody>
      </p:sp>
    </p:spTree>
    <p:extLst>
      <p:ext uri="{BB962C8B-B14F-4D97-AF65-F5344CB8AC3E}">
        <p14:creationId xmlns:p14="http://schemas.microsoft.com/office/powerpoint/2010/main" val="34726721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75508-5DA8-6D11-F8C0-D58A12B6718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DE64AF-2FFE-55A6-2965-62D70A76902A}"/>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47A6C1B7-8786-23F0-646C-6855681A39BD}"/>
              </a:ext>
            </a:extLst>
          </p:cNvPr>
          <p:cNvPicPr>
            <a:picLocks noChangeAspect="1"/>
          </p:cNvPicPr>
          <p:nvPr/>
        </p:nvPicPr>
        <p:blipFill>
          <a:blip r:embed="rId2"/>
          <a:stretch>
            <a:fillRect/>
          </a:stretch>
        </p:blipFill>
        <p:spPr>
          <a:xfrm>
            <a:off x="1078771" y="2341155"/>
            <a:ext cx="3664138" cy="3486329"/>
          </a:xfrm>
          <a:prstGeom prst="rect">
            <a:avLst/>
          </a:prstGeom>
        </p:spPr>
      </p:pic>
      <p:pic>
        <p:nvPicPr>
          <p:cNvPr id="12" name="Picture 11">
            <a:extLst>
              <a:ext uri="{FF2B5EF4-FFF2-40B4-BE49-F238E27FC236}">
                <a16:creationId xmlns:a16="http://schemas.microsoft.com/office/drawing/2014/main" id="{5662C593-4747-99A5-9B99-DBEEE5FDCA7B}"/>
              </a:ext>
            </a:extLst>
          </p:cNvPr>
          <p:cNvPicPr>
            <a:picLocks noChangeAspect="1"/>
          </p:cNvPicPr>
          <p:nvPr/>
        </p:nvPicPr>
        <p:blipFill>
          <a:blip r:embed="rId3"/>
          <a:stretch>
            <a:fillRect/>
          </a:stretch>
        </p:blipFill>
        <p:spPr>
          <a:xfrm>
            <a:off x="5269063" y="2754729"/>
            <a:ext cx="4521432" cy="3016405"/>
          </a:xfrm>
          <a:prstGeom prst="rect">
            <a:avLst/>
          </a:prstGeom>
        </p:spPr>
      </p:pic>
      <p:sp>
        <p:nvSpPr>
          <p:cNvPr id="13" name="TextBox 12">
            <a:extLst>
              <a:ext uri="{FF2B5EF4-FFF2-40B4-BE49-F238E27FC236}">
                <a16:creationId xmlns:a16="http://schemas.microsoft.com/office/drawing/2014/main" id="{644CD054-0213-FEE4-7C8E-40489D5A3708}"/>
              </a:ext>
            </a:extLst>
          </p:cNvPr>
          <p:cNvSpPr txBox="1"/>
          <p:nvPr/>
        </p:nvSpPr>
        <p:spPr>
          <a:xfrm>
            <a:off x="5568181" y="3429000"/>
            <a:ext cx="1410519" cy="369332"/>
          </a:xfrm>
          <a:prstGeom prst="rect">
            <a:avLst/>
          </a:prstGeom>
          <a:noFill/>
        </p:spPr>
        <p:txBody>
          <a:bodyPr wrap="square" rtlCol="0">
            <a:spAutoFit/>
          </a:bodyPr>
          <a:lstStyle/>
          <a:p>
            <a:r>
              <a:rPr lang="en-US" dirty="0"/>
              <a:t>US-LA2</a:t>
            </a:r>
          </a:p>
        </p:txBody>
      </p:sp>
    </p:spTree>
    <p:extLst>
      <p:ext uri="{BB962C8B-B14F-4D97-AF65-F5344CB8AC3E}">
        <p14:creationId xmlns:p14="http://schemas.microsoft.com/office/powerpoint/2010/main" val="13152983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E10BF-7A6C-E30B-7D45-AE747540B84B}"/>
              </a:ext>
            </a:extLst>
          </p:cNvPr>
          <p:cNvSpPr>
            <a:spLocks noGrp="1"/>
          </p:cNvSpPr>
          <p:nvPr>
            <p:ph type="title"/>
          </p:nvPr>
        </p:nvSpPr>
        <p:spPr>
          <a:xfrm>
            <a:off x="571245" y="530572"/>
            <a:ext cx="10515600" cy="1325563"/>
          </a:xfrm>
        </p:spPr>
        <p:txBody>
          <a:bodyPr/>
          <a:lstStyle/>
          <a:p>
            <a:r>
              <a:rPr lang="en-US" dirty="0"/>
              <a:t>WUE: Coastal Sites</a:t>
            </a:r>
          </a:p>
        </p:txBody>
      </p:sp>
      <p:sp>
        <p:nvSpPr>
          <p:cNvPr id="3" name="Content Placeholder 2">
            <a:extLst>
              <a:ext uri="{FF2B5EF4-FFF2-40B4-BE49-F238E27FC236}">
                <a16:creationId xmlns:a16="http://schemas.microsoft.com/office/drawing/2014/main" id="{A9133170-A397-84CB-3FC0-4805C0D7AAC9}"/>
              </a:ext>
            </a:extLst>
          </p:cNvPr>
          <p:cNvSpPr>
            <a:spLocks noGrp="1"/>
          </p:cNvSpPr>
          <p:nvPr>
            <p:ph idx="1"/>
          </p:nvPr>
        </p:nvSpPr>
        <p:spPr>
          <a:xfrm>
            <a:off x="515586" y="1512749"/>
            <a:ext cx="10515600" cy="4351338"/>
          </a:xfrm>
        </p:spPr>
        <p:txBody>
          <a:bodyPr/>
          <a:lstStyle/>
          <a:p>
            <a:r>
              <a:rPr lang="en-US" sz="1800" i="0" dirty="0">
                <a:effectLst/>
                <a:latin typeface="Times New Roman" panose="02020603050405020304" pitchFamily="18" charset="0"/>
                <a:cs typeface="Times New Roman" panose="02020603050405020304" pitchFamily="18" charset="0"/>
              </a:rPr>
              <a:t>US-</a:t>
            </a:r>
            <a:r>
              <a:rPr lang="en-US" sz="1800" i="0" dirty="0" err="1">
                <a:effectLst/>
                <a:latin typeface="Times New Roman" panose="02020603050405020304" pitchFamily="18" charset="0"/>
                <a:cs typeface="Times New Roman" panose="02020603050405020304" pitchFamily="18" charset="0"/>
              </a:rPr>
              <a:t>Skr</a:t>
            </a:r>
            <a:r>
              <a:rPr lang="en-US" sz="1800" i="0" dirty="0">
                <a:effectLst/>
                <a:latin typeface="Times New Roman" panose="02020603050405020304" pitchFamily="18" charset="0"/>
                <a:cs typeface="Times New Roman" panose="02020603050405020304" pitchFamily="18" charset="0"/>
              </a:rPr>
              <a:t>: Shark River Slough (Tower SRS-6) Everglades: 2004-present, EBF (Evergreen Broadleaf Forests:, Station SREF1 - Shark River, FL, normal salinity condition</a:t>
            </a:r>
          </a:p>
          <a:p>
            <a:r>
              <a:rPr lang="en-US" sz="1800" i="0" dirty="0">
                <a:effectLst/>
                <a:latin typeface="Times New Roman" panose="02020603050405020304" pitchFamily="18" charset="0"/>
                <a:cs typeface="Times New Roman" panose="02020603050405020304" pitchFamily="18" charset="0"/>
              </a:rPr>
              <a:t>US-</a:t>
            </a:r>
            <a:r>
              <a:rPr lang="en-US" sz="1800" i="0" dirty="0" err="1">
                <a:effectLst/>
                <a:latin typeface="Times New Roman" panose="02020603050405020304" pitchFamily="18" charset="0"/>
                <a:cs typeface="Times New Roman" panose="02020603050405020304" pitchFamily="18" charset="0"/>
              </a:rPr>
              <a:t>EvM</a:t>
            </a:r>
            <a:r>
              <a:rPr lang="en-US" sz="1800" i="0" dirty="0">
                <a:effectLst/>
                <a:latin typeface="Times New Roman" panose="02020603050405020304" pitchFamily="18" charset="0"/>
                <a:cs typeface="Times New Roman" panose="02020603050405020304" pitchFamily="18" charset="0"/>
              </a:rPr>
              <a:t>: Everglades Saltwater intrusion marsh, 2020-present, wetland. No salinity data. Near cooling canals </a:t>
            </a:r>
          </a:p>
          <a:p>
            <a:r>
              <a:rPr lang="en-US" sz="1800" i="0" dirty="0">
                <a:solidFill>
                  <a:srgbClr val="333333"/>
                </a:solidFill>
                <a:effectLst/>
                <a:latin typeface="Times New Roman" panose="02020603050405020304" pitchFamily="18" charset="0"/>
                <a:cs typeface="Times New Roman" panose="02020603050405020304" pitchFamily="18" charset="0"/>
              </a:rPr>
              <a:t>US-KS4: Kennedy Space Center (Spartina marsh) wetlands, 2017-present, no salinity data</a:t>
            </a:r>
          </a:p>
          <a:p>
            <a:r>
              <a:rPr lang="en-US" sz="1800" i="0" dirty="0">
                <a:solidFill>
                  <a:srgbClr val="333333"/>
                </a:solidFill>
                <a:effectLst/>
                <a:latin typeface="Times New Roman" panose="02020603050405020304" pitchFamily="18" charset="0"/>
                <a:cs typeface="Times New Roman" panose="02020603050405020304" pitchFamily="18" charset="0"/>
              </a:rPr>
              <a:t>US-</a:t>
            </a:r>
            <a:r>
              <a:rPr lang="en-US" sz="1800" i="0" dirty="0" err="1">
                <a:solidFill>
                  <a:srgbClr val="333333"/>
                </a:solidFill>
                <a:effectLst/>
                <a:latin typeface="Times New Roman" panose="02020603050405020304" pitchFamily="18" charset="0"/>
                <a:cs typeface="Times New Roman" panose="02020603050405020304" pitchFamily="18" charset="0"/>
              </a:rPr>
              <a:t>StS</a:t>
            </a:r>
            <a:r>
              <a:rPr lang="en-US" sz="1800" i="0" dirty="0">
                <a:solidFill>
                  <a:srgbClr val="333333"/>
                </a:solidFill>
                <a:effectLst/>
                <a:latin typeface="Times New Roman" panose="02020603050405020304" pitchFamily="18" charset="0"/>
                <a:cs typeface="Times New Roman" panose="02020603050405020304" pitchFamily="18" charset="0"/>
              </a:rPr>
              <a:t>: Strawberry Swamp: 2015-2016,  normal</a:t>
            </a:r>
          </a:p>
          <a:p>
            <a:r>
              <a:rPr lang="en-US" sz="1800" i="0" dirty="0">
                <a:solidFill>
                  <a:srgbClr val="333333"/>
                </a:solidFill>
                <a:effectLst/>
                <a:latin typeface="Times New Roman" panose="02020603050405020304" pitchFamily="18" charset="0"/>
                <a:cs typeface="Times New Roman" panose="02020603050405020304" pitchFamily="18" charset="0"/>
              </a:rPr>
              <a:t>US-HB2: Hobcaw Barony Mature Longleaf Pine, 2018-present, normal salinity </a:t>
            </a:r>
          </a:p>
          <a:p>
            <a:r>
              <a:rPr lang="en-US" sz="1800" i="0" dirty="0">
                <a:solidFill>
                  <a:srgbClr val="333333"/>
                </a:solidFill>
                <a:effectLst/>
                <a:latin typeface="Times New Roman" panose="02020603050405020304" pitchFamily="18" charset="0"/>
                <a:cs typeface="Times New Roman" panose="02020603050405020304" pitchFamily="18" charset="0"/>
              </a:rPr>
              <a:t>US-HB3: Hobcaw Barony Mature Longleaf Pine, 2019-present, normal salinity </a:t>
            </a:r>
          </a:p>
          <a:p>
            <a:r>
              <a:rPr lang="en-US" sz="1800" i="0" dirty="0">
                <a:solidFill>
                  <a:srgbClr val="333333"/>
                </a:solidFill>
                <a:effectLst/>
                <a:latin typeface="Times New Roman" panose="02020603050405020304" pitchFamily="18" charset="0"/>
                <a:cs typeface="Times New Roman" panose="02020603050405020304" pitchFamily="18" charset="0"/>
              </a:rPr>
              <a:t>US-HB1: North Inlet Crab Haul Creek, 2017-present,  normal salinity </a:t>
            </a:r>
            <a:endParaRPr lang="en-US" sz="1800" dirty="0">
              <a:solidFill>
                <a:srgbClr val="333333"/>
              </a:solidFill>
              <a:latin typeface="Times New Roman" panose="02020603050405020304" pitchFamily="18" charset="0"/>
              <a:cs typeface="Times New Roman" panose="02020603050405020304" pitchFamily="18" charset="0"/>
            </a:endParaRPr>
          </a:p>
          <a:p>
            <a:endParaRPr lang="en-US" sz="1800" i="0" dirty="0">
              <a:solidFill>
                <a:srgbClr val="333333"/>
              </a:solidFill>
              <a:effectLst/>
              <a:latin typeface="Times New Roman" panose="02020603050405020304" pitchFamily="18" charset="0"/>
              <a:cs typeface="Times New Roman" panose="02020603050405020304" pitchFamily="18" charset="0"/>
            </a:endParaRPr>
          </a:p>
          <a:p>
            <a:endParaRPr lang="en-US" sz="1600" i="0" dirty="0">
              <a:solidFill>
                <a:srgbClr val="333333"/>
              </a:solidFill>
              <a:effectLst/>
              <a:latin typeface="Times New Roman" panose="02020603050405020304" pitchFamily="18" charset="0"/>
              <a:cs typeface="Times New Roman" panose="02020603050405020304" pitchFamily="18" charset="0"/>
            </a:endParaRPr>
          </a:p>
          <a:p>
            <a:endParaRPr lang="en-US" sz="2000" i="0" dirty="0">
              <a:solidFill>
                <a:srgbClr val="333333"/>
              </a:solidFill>
              <a:effectLst/>
              <a:latin typeface="Times New Roman" panose="02020603050405020304" pitchFamily="18" charset="0"/>
              <a:cs typeface="Times New Roman" panose="02020603050405020304" pitchFamily="18" charset="0"/>
            </a:endParaRPr>
          </a:p>
          <a:p>
            <a:pPr marL="0" indent="0">
              <a:buNone/>
            </a:pPr>
            <a:endParaRPr lang="en-US" sz="2000" i="0" dirty="0">
              <a:solidFill>
                <a:srgbClr val="333333"/>
              </a:solidFill>
              <a:effectLst/>
              <a:latin typeface="Times New Roman" panose="02020603050405020304" pitchFamily="18" charset="0"/>
              <a:cs typeface="Times New Roman" panose="02020603050405020304" pitchFamily="18" charset="0"/>
            </a:endParaRPr>
          </a:p>
          <a:p>
            <a:pPr marL="0" indent="0">
              <a:buNone/>
            </a:pPr>
            <a:endParaRPr lang="en-US" sz="1200" i="0" dirty="0">
              <a:effectLst/>
              <a:latin typeface="Times New Roman" panose="02020603050405020304" pitchFamily="18" charset="0"/>
              <a:cs typeface="Times New Roman" panose="02020603050405020304" pitchFamily="18" charset="0"/>
            </a:endParaRPr>
          </a:p>
          <a:p>
            <a:pPr marL="0" indent="0">
              <a:buNone/>
            </a:pPr>
            <a:endParaRPr lang="en-US" sz="1200" i="0" dirty="0">
              <a:solidFill>
                <a:srgbClr val="333333"/>
              </a:solidFill>
              <a:effectLst/>
              <a:latin typeface="Times New Roman" panose="02020603050405020304" pitchFamily="18" charset="0"/>
              <a:cs typeface="Times New Roman" panose="02020603050405020304" pitchFamily="18" charset="0"/>
            </a:endParaRPr>
          </a:p>
          <a:p>
            <a:pPr marL="0" indent="0">
              <a:buNone/>
            </a:pPr>
            <a:endParaRPr lang="en-US" sz="1200" i="0" dirty="0">
              <a:solidFill>
                <a:srgbClr val="333333"/>
              </a:solidFill>
              <a:effectLst/>
              <a:latin typeface="Times New Roman" panose="02020603050405020304" pitchFamily="18" charset="0"/>
              <a:cs typeface="Times New Roman" panose="02020603050405020304" pitchFamily="18" charset="0"/>
            </a:endParaRPr>
          </a:p>
          <a:p>
            <a:endParaRPr lang="en-US" sz="800" b="1" i="0" dirty="0">
              <a:solidFill>
                <a:srgbClr val="333333"/>
              </a:solidFill>
              <a:effectLst/>
              <a:latin typeface="proxima-nova-condensed"/>
            </a:endParaRPr>
          </a:p>
          <a:p>
            <a:pPr marL="0" indent="0">
              <a:buNone/>
            </a:pPr>
            <a:endParaRPr lang="en-US" sz="1000" b="1" i="0" dirty="0">
              <a:solidFill>
                <a:srgbClr val="333333"/>
              </a:solidFill>
              <a:effectLst/>
              <a:latin typeface="proxima-nova-condensed"/>
            </a:endParaRPr>
          </a:p>
          <a:p>
            <a:endParaRPr lang="en-US" sz="1200" i="0" dirty="0">
              <a:effectLst/>
              <a:latin typeface="Times New Roman" panose="02020603050405020304" pitchFamily="18" charset="0"/>
              <a:cs typeface="Times New Roman" panose="02020603050405020304" pitchFamily="18" charset="0"/>
            </a:endParaRPr>
          </a:p>
          <a:p>
            <a:pPr marL="0" indent="0">
              <a:buNone/>
            </a:pPr>
            <a:endParaRPr lang="en-US" sz="1200" b="1" i="0" dirty="0">
              <a:solidFill>
                <a:srgbClr val="333333"/>
              </a:solidFill>
              <a:effectLst/>
              <a:latin typeface="Times New Roman" panose="02020603050405020304" pitchFamily="18" charset="0"/>
              <a:cs typeface="Times New Roman" panose="02020603050405020304" pitchFamily="18" charset="0"/>
            </a:endParaRPr>
          </a:p>
          <a:p>
            <a:endParaRPr lang="en-US" sz="1050" b="1" i="0" dirty="0">
              <a:solidFill>
                <a:srgbClr val="000000"/>
              </a:solidFill>
              <a:effectLst/>
              <a:latin typeface="system-ui"/>
            </a:endParaRPr>
          </a:p>
          <a:p>
            <a:endParaRPr lang="en-US" sz="1400" b="1" i="0" dirty="0">
              <a:solidFill>
                <a:srgbClr val="333333"/>
              </a:solidFill>
              <a:effectLst/>
              <a:latin typeface="proxima-nova-condensed"/>
            </a:endParaRPr>
          </a:p>
          <a:p>
            <a:pPr marL="0" indent="0">
              <a:buNone/>
            </a:pPr>
            <a:endParaRPr lang="en-US" dirty="0"/>
          </a:p>
        </p:txBody>
      </p:sp>
      <p:sp>
        <p:nvSpPr>
          <p:cNvPr id="4" name="TextBox 3">
            <a:extLst>
              <a:ext uri="{FF2B5EF4-FFF2-40B4-BE49-F238E27FC236}">
                <a16:creationId xmlns:a16="http://schemas.microsoft.com/office/drawing/2014/main" id="{BDF71674-D00B-FDEC-1922-185067382A05}"/>
              </a:ext>
            </a:extLst>
          </p:cNvPr>
          <p:cNvSpPr txBox="1"/>
          <p:nvPr/>
        </p:nvSpPr>
        <p:spPr>
          <a:xfrm>
            <a:off x="7513983" y="771277"/>
            <a:ext cx="3753015" cy="369332"/>
          </a:xfrm>
          <a:prstGeom prst="rect">
            <a:avLst/>
          </a:prstGeom>
          <a:noFill/>
        </p:spPr>
        <p:txBody>
          <a:bodyPr wrap="square" rtlCol="0">
            <a:spAutoFit/>
          </a:bodyPr>
          <a:lstStyle/>
          <a:p>
            <a:r>
              <a:rPr lang="en-US" dirty="0"/>
              <a:t>Project Meeting: 10-07-2024</a:t>
            </a:r>
          </a:p>
        </p:txBody>
      </p:sp>
    </p:spTree>
    <p:extLst>
      <p:ext uri="{BB962C8B-B14F-4D97-AF65-F5344CB8AC3E}">
        <p14:creationId xmlns:p14="http://schemas.microsoft.com/office/powerpoint/2010/main" val="5508128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67A9A-1621-C372-9440-3C24ED4D2B83}"/>
              </a:ext>
            </a:extLst>
          </p:cNvPr>
          <p:cNvSpPr>
            <a:spLocks noGrp="1"/>
          </p:cNvSpPr>
          <p:nvPr>
            <p:ph type="title"/>
          </p:nvPr>
        </p:nvSpPr>
        <p:spPr/>
        <p:txBody>
          <a:bodyPr/>
          <a:lstStyle/>
          <a:p>
            <a:r>
              <a:rPr lang="en-US" dirty="0"/>
              <a:t>Salt, salinity , coast</a:t>
            </a:r>
          </a:p>
        </p:txBody>
      </p:sp>
      <p:sp>
        <p:nvSpPr>
          <p:cNvPr id="3" name="Content Placeholder 2">
            <a:extLst>
              <a:ext uri="{FF2B5EF4-FFF2-40B4-BE49-F238E27FC236}">
                <a16:creationId xmlns:a16="http://schemas.microsoft.com/office/drawing/2014/main" id="{29CD2576-8C1B-831B-C828-BC9F3EEEC37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558774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256E12-1E4A-5A2C-ED1E-0E7BBD059ACA}"/>
              </a:ext>
            </a:extLst>
          </p:cNvPr>
          <p:cNvSpPr>
            <a:spLocks noGrp="1"/>
          </p:cNvSpPr>
          <p:nvPr>
            <p:ph idx="1"/>
          </p:nvPr>
        </p:nvSpPr>
        <p:spPr>
          <a:xfrm>
            <a:off x="361950" y="215901"/>
            <a:ext cx="11769616" cy="6460796"/>
          </a:xfrm>
        </p:spPr>
        <p:txBody>
          <a:bodyPr>
            <a:normAutofit fontScale="47500" lnSpcReduction="20000"/>
          </a:bodyPr>
          <a:lstStyle/>
          <a:p>
            <a:pPr marL="342900" indent="-342900">
              <a:lnSpc>
                <a:spcPct val="115000"/>
              </a:lnSpc>
              <a:spcBef>
                <a:spcPts val="0"/>
              </a:spcBef>
              <a:spcAft>
                <a:spcPts val="800"/>
              </a:spcAft>
              <a:buFont typeface="+mj-lt"/>
              <a:buAutoNum type="arabicPeriod"/>
              <a:tabLst>
                <a:tab pos="457200" algn="l"/>
              </a:tabLst>
            </a:pP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US-A03: ARM-AMF3-Oliktok. Alaska </a:t>
            </a:r>
            <a:r>
              <a:rPr lang="en-US" sz="2500" kern="100" dirty="0" err="1">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tunda</a:t>
            </a: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 BSV (Barren Sparse Vegetation:  2014-present (Alaska)</a:t>
            </a:r>
          </a:p>
          <a:p>
            <a:pPr marL="342900" indent="-342900">
              <a:lnSpc>
                <a:spcPct val="115000"/>
              </a:lnSpc>
              <a:spcBef>
                <a:spcPts val="0"/>
              </a:spcBef>
              <a:spcAft>
                <a:spcPts val="800"/>
              </a:spcAft>
              <a:buFont typeface="+mj-lt"/>
              <a:buAutoNum type="arabicPeriod"/>
              <a:tabLst>
                <a:tab pos="457200" algn="l"/>
              </a:tabLst>
            </a:pP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US-A10: ARM-NSA-Barrow, 2012-present (Barren sparse vegetation), Tundra (Alaska)</a:t>
            </a:r>
          </a:p>
          <a:p>
            <a:pPr marL="342900" marR="0" lvl="0" indent="-342900">
              <a:lnSpc>
                <a:spcPct val="115000"/>
              </a:lnSpc>
              <a:spcBef>
                <a:spcPts val="0"/>
              </a:spcBef>
              <a:spcAft>
                <a:spcPts val="800"/>
              </a:spcAft>
              <a:buFont typeface="+mj-lt"/>
              <a:buAutoNum type="arabicPeriod"/>
              <a:tabLst>
                <a:tab pos="457200" algn="l"/>
              </a:tabLst>
            </a:pP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US-</a:t>
            </a:r>
            <a:r>
              <a:rPr lang="en-US" sz="2500" kern="100" dirty="0" err="1">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Atq</a:t>
            </a: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500" kern="100" dirty="0" err="1">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Atqasuk</a:t>
            </a: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500" kern="100" dirty="0">
                <a:solidFill>
                  <a:schemeClr val="accent3"/>
                </a:solidFill>
                <a:latin typeface="Times New Roman" panose="02020603050405020304" pitchFamily="18" charset="0"/>
                <a:ea typeface="Aptos" panose="020B0004020202020204" pitchFamily="34" charset="0"/>
                <a:cs typeface="Times New Roman" panose="02020603050405020304" pitchFamily="18" charset="0"/>
              </a:rPr>
              <a:t>wetland</a:t>
            </a: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 1999-present, Tundra (Alaska)</a:t>
            </a:r>
          </a:p>
          <a:p>
            <a:pPr marL="342900" indent="-342900">
              <a:lnSpc>
                <a:spcPct val="115000"/>
              </a:lnSpc>
              <a:spcBef>
                <a:spcPts val="0"/>
              </a:spcBef>
              <a:spcAft>
                <a:spcPts val="800"/>
              </a:spcAft>
              <a:buFont typeface="+mj-lt"/>
              <a:buAutoNum type="arabicPeriod"/>
              <a:tabLst>
                <a:tab pos="457200" algn="l"/>
              </a:tabLst>
            </a:pP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US-NGB: NGEE Arctic Barrow, 2012-2023, Tundra, </a:t>
            </a:r>
            <a:r>
              <a:rPr lang="en-US" sz="2500" kern="100" dirty="0" err="1">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fluxnet</a:t>
            </a: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 wetland (Alaska), </a:t>
            </a:r>
            <a:r>
              <a:rPr lang="en-US" sz="2500" kern="100" dirty="0" err="1">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fluxnet</a:t>
            </a:r>
            <a:endPar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800"/>
              </a:spcAft>
              <a:buFont typeface="+mj-lt"/>
              <a:buAutoNum type="arabicPeriod"/>
              <a:tabLst>
                <a:tab pos="457200" algn="l"/>
              </a:tabLst>
            </a:pPr>
            <a:r>
              <a:rPr lang="en-US" sz="25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US-EDN: Eden Landing Ecological Reserve, 2018-present, wetland , 30–35 ppt, mean 34 ppt (26-46 range), </a:t>
            </a:r>
            <a:r>
              <a:rPr lang="en-US" sz="2500" kern="100" dirty="0" err="1">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fluxnet</a:t>
            </a:r>
            <a:r>
              <a:rPr lang="en-US" sz="25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 (California), </a:t>
            </a:r>
            <a:r>
              <a:rPr lang="en-US" sz="2500" kern="100" dirty="0" err="1">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fluxnet</a:t>
            </a:r>
            <a:r>
              <a:rPr lang="en-US" sz="25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indent="-342900">
              <a:lnSpc>
                <a:spcPct val="115000"/>
              </a:lnSpc>
              <a:spcBef>
                <a:spcPts val="0"/>
              </a:spcBef>
              <a:spcAft>
                <a:spcPts val="800"/>
              </a:spcAft>
              <a:buFont typeface="+mj-lt"/>
              <a:buAutoNum type="arabicPeriod"/>
              <a:tabLst>
                <a:tab pos="457200" algn="l"/>
              </a:tabLst>
            </a:pPr>
            <a:r>
              <a:rPr lang="en-US" sz="2500" kern="18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US-ASL: USSL San Joaquin Valley Almond Low Salinity, 2016-present, salinity (0.65-0.964), </a:t>
            </a:r>
            <a:r>
              <a:rPr lang="en-US" sz="2500" b="0" i="0" dirty="0">
                <a:effectLst/>
                <a:latin typeface="proxima-nova"/>
              </a:rPr>
              <a:t>Deciduous Broadleaf Forests, California,</a:t>
            </a:r>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 inland salinity, </a:t>
            </a:r>
            <a:endParaRPr lang="en-US" sz="2500" b="0" i="0" dirty="0">
              <a:effectLst/>
              <a:latin typeface="proxima-nova"/>
            </a:endParaRPr>
          </a:p>
          <a:p>
            <a:pPr marL="342900" indent="-342900">
              <a:lnSpc>
                <a:spcPct val="115000"/>
              </a:lnSpc>
              <a:spcBef>
                <a:spcPts val="0"/>
              </a:spcBef>
              <a:spcAft>
                <a:spcPts val="800"/>
              </a:spcAft>
              <a:buFont typeface="+mj-lt"/>
              <a:buAutoNum type="arabicPeriod"/>
              <a:tabLst>
                <a:tab pos="457200" algn="l"/>
              </a:tabLst>
            </a:pP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US-PSL: USSL San Joaquin Valley Pistachio Low, 2016-present, salinity (0.545-1.07),</a:t>
            </a:r>
            <a:r>
              <a:rPr lang="en-US" sz="2500" b="0" i="0" dirty="0">
                <a:effectLst/>
                <a:latin typeface="proxima-nova"/>
              </a:rPr>
              <a:t> Deciduous Broadleaf Forests, California, </a:t>
            </a:r>
            <a:r>
              <a:rPr lang="en-US" sz="2500" b="0" i="0" dirty="0" err="1">
                <a:effectLst/>
                <a:latin typeface="proxima-nova"/>
              </a:rPr>
              <a:t>fluxnet</a:t>
            </a:r>
            <a:r>
              <a:rPr lang="en-US" sz="2500" b="0" i="0" dirty="0">
                <a:effectLst/>
                <a:latin typeface="proxima-nova"/>
              </a:rPr>
              <a:t> (2016), </a:t>
            </a:r>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inland salinity</a:t>
            </a:r>
            <a:endParaRPr lang="en-US" sz="2500" b="0" i="0" dirty="0">
              <a:effectLst/>
              <a:latin typeface="proxima-nova"/>
            </a:endParaRPr>
          </a:p>
          <a:p>
            <a:pPr marL="342900" marR="0" lvl="0" indent="-342900">
              <a:lnSpc>
                <a:spcPct val="115000"/>
              </a:lnSpc>
              <a:spcBef>
                <a:spcPts val="0"/>
              </a:spcBef>
              <a:spcAft>
                <a:spcPts val="1500"/>
              </a:spcAft>
              <a:buFont typeface="+mj-lt"/>
              <a:buAutoNum type="arabicPeriod"/>
              <a:tabLst>
                <a:tab pos="457200" algn="l"/>
              </a:tabLst>
            </a:pP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US-ASH: USSL San Joaquin Valley Almond High Salinity, 2016-present (0.648-0.964), desert  </a:t>
            </a:r>
            <a:r>
              <a:rPr lang="en-US" sz="2500" kern="1800" dirty="0" err="1">
                <a:effectLst/>
                <a:latin typeface="Times New Roman" panose="02020603050405020304" pitchFamily="18" charset="0"/>
                <a:ea typeface="Times New Roman" panose="02020603050405020304" pitchFamily="18" charset="0"/>
                <a:cs typeface="Times New Roman" panose="02020603050405020304" pitchFamily="18" charset="0"/>
              </a:rPr>
              <a:t>fluxnet</a:t>
            </a: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 (California), </a:t>
            </a:r>
            <a:r>
              <a:rPr lang="en-US" sz="2500" kern="1800" dirty="0" err="1">
                <a:effectLst/>
                <a:latin typeface="Times New Roman" panose="02020603050405020304" pitchFamily="18" charset="0"/>
                <a:ea typeface="Times New Roman" panose="02020603050405020304" pitchFamily="18" charset="0"/>
                <a:cs typeface="Times New Roman" panose="02020603050405020304" pitchFamily="18" charset="0"/>
              </a:rPr>
              <a:t>fluxnet</a:t>
            </a: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inland salinity</a:t>
            </a:r>
            <a:endPar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9. US-ASM: USSL San Joaquin Valley Almond Medium Salinity, 2016-present, salinity (0.91- 1.835), </a:t>
            </a:r>
            <a:r>
              <a:rPr lang="en-US" sz="2500" b="0" i="0" dirty="0">
                <a:effectLst/>
                <a:latin typeface="proxima-nova"/>
              </a:rPr>
              <a:t>Deciduous Broadleaf Forests, California, </a:t>
            </a:r>
            <a:r>
              <a:rPr lang="en-US" sz="2500" b="0" i="0" dirty="0" err="1">
                <a:effectLst/>
                <a:latin typeface="proxima-nova"/>
              </a:rPr>
              <a:t>fluxnet</a:t>
            </a:r>
            <a:r>
              <a:rPr lang="en-US" sz="2500" dirty="0">
                <a:latin typeface="proxima-nova"/>
              </a:rPr>
              <a:t> (2016), </a:t>
            </a:r>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inland salinity</a:t>
            </a:r>
            <a:endParaRPr lang="en-US" sz="2500" kern="100" dirty="0">
              <a:latin typeface="Aptos" panose="020B0004020202020204" pitchFamily="34" charset="0"/>
              <a:ea typeface="Times New Roman" panose="02020603050405020304" pitchFamily="18"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2500" kern="100" dirty="0">
                <a:effectLst/>
                <a:latin typeface="Aptos" panose="020B0004020202020204" pitchFamily="34" charset="0"/>
                <a:ea typeface="Times New Roman" panose="02020603050405020304" pitchFamily="18" charset="0"/>
                <a:cs typeface="Times New Roman" panose="02020603050405020304" pitchFamily="18" charset="0"/>
              </a:rPr>
              <a:t>10. </a:t>
            </a: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US-PSH: USSL San Joaquin Valley Pistachio High, 2016-present, salinity (1.18-2.509), </a:t>
            </a:r>
            <a:r>
              <a:rPr lang="en-US" sz="2500" b="0" i="0" dirty="0">
                <a:effectLst/>
                <a:latin typeface="proxima-nova"/>
              </a:rPr>
              <a:t>Deciduous Broadleaf Forests, California </a:t>
            </a:r>
            <a:r>
              <a:rPr lang="en-US" sz="2500" b="0" i="0" dirty="0" err="1">
                <a:effectLst/>
                <a:latin typeface="proxima-nova"/>
              </a:rPr>
              <a:t>fluxnet</a:t>
            </a:r>
            <a:r>
              <a:rPr lang="en-US" sz="2500" b="0" i="0" dirty="0">
                <a:effectLst/>
                <a:latin typeface="proxima-nova"/>
              </a:rPr>
              <a:t> (2016),</a:t>
            </a:r>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 inland salinity</a:t>
            </a:r>
            <a:endParaRPr lang="en-US" sz="2500" b="0" i="0" dirty="0">
              <a:effectLst/>
              <a:latin typeface="proxima-nova"/>
            </a:endParaRPr>
          </a:p>
          <a:p>
            <a:pPr marL="0" marR="0" lvl="0" indent="0">
              <a:lnSpc>
                <a:spcPct val="115000"/>
              </a:lnSpc>
              <a:spcBef>
                <a:spcPts val="0"/>
              </a:spcBef>
              <a:spcAft>
                <a:spcPts val="1500"/>
              </a:spcAft>
              <a:buNone/>
              <a:tabLst>
                <a:tab pos="457200" algn="l"/>
              </a:tabLst>
            </a:pPr>
            <a:r>
              <a:rPr lang="en-US" sz="2500" kern="1800" dirty="0">
                <a:latin typeface="Times New Roman" panose="02020603050405020304" pitchFamily="18" charset="0"/>
                <a:ea typeface="Times New Roman" panose="02020603050405020304" pitchFamily="18" charset="0"/>
                <a:cs typeface="Times New Roman" panose="02020603050405020304" pitchFamily="18" charset="0"/>
              </a:rPr>
              <a:t>11. </a:t>
            </a: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 US-</a:t>
            </a:r>
            <a:r>
              <a:rPr lang="en-US" sz="2500" kern="1800" dirty="0" err="1">
                <a:effectLst/>
                <a:latin typeface="Times New Roman" panose="02020603050405020304" pitchFamily="18" charset="0"/>
                <a:ea typeface="Times New Roman" panose="02020603050405020304" pitchFamily="18" charset="0"/>
                <a:cs typeface="Times New Roman" panose="02020603050405020304" pitchFamily="18" charset="0"/>
              </a:rPr>
              <a:t>Nrf</a:t>
            </a: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 Nisqually reference, 2017-present, wetlands. </a:t>
            </a:r>
            <a:r>
              <a:rPr lang="en-US" sz="2500" b="0" i="0" dirty="0">
                <a:effectLst/>
                <a:latin typeface="Lato" panose="020F0502020204030203" pitchFamily="34" charset="0"/>
              </a:rPr>
              <a:t>0.0-7.0 </a:t>
            </a:r>
            <a:r>
              <a:rPr lang="en-US" sz="2500" b="0" i="0" dirty="0" err="1">
                <a:effectLst/>
                <a:latin typeface="Lato" panose="020F0502020204030203" pitchFamily="34" charset="0"/>
              </a:rPr>
              <a:t>psu</a:t>
            </a:r>
            <a:r>
              <a:rPr lang="en-US" sz="2500" b="0" i="0" dirty="0">
                <a:effectLst/>
                <a:latin typeface="Lato" panose="020F0502020204030203" pitchFamily="34" charset="0"/>
              </a:rPr>
              <a:t>, Washington , inland salinity </a:t>
            </a:r>
            <a:endParaRPr lang="en-US" sz="25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12. US-</a:t>
            </a:r>
            <a:r>
              <a:rPr lang="en-US" sz="2500" kern="1800" dirty="0" err="1">
                <a:effectLst/>
                <a:latin typeface="Times New Roman" panose="02020603050405020304" pitchFamily="18" charset="0"/>
                <a:ea typeface="Times New Roman" panose="02020603050405020304" pitchFamily="18" charset="0"/>
                <a:cs typeface="Times New Roman" panose="02020603050405020304" pitchFamily="18" charset="0"/>
              </a:rPr>
              <a:t>Nrs</a:t>
            </a: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 Nisqually restoring, 2017-present, wetlands, 5-30 </a:t>
            </a:r>
            <a:r>
              <a:rPr lang="en-US" sz="2500" kern="1800" dirty="0" err="1">
                <a:effectLst/>
                <a:latin typeface="Times New Roman" panose="02020603050405020304" pitchFamily="18" charset="0"/>
                <a:ea typeface="Times New Roman" panose="02020603050405020304" pitchFamily="18" charset="0"/>
                <a:cs typeface="Times New Roman" panose="02020603050405020304" pitchFamily="18" charset="0"/>
              </a:rPr>
              <a:t>psu</a:t>
            </a: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 Washington, inland salinity  </a:t>
            </a:r>
            <a:endParaRPr lang="en-US" sz="2500" dirty="0">
              <a:latin typeface="proxima-nova"/>
            </a:endParaRPr>
          </a:p>
          <a:p>
            <a:pPr marL="0" marR="0" lvl="0" indent="0">
              <a:lnSpc>
                <a:spcPct val="115000"/>
              </a:lnSpc>
              <a:spcBef>
                <a:spcPts val="0"/>
              </a:spcBef>
              <a:spcAft>
                <a:spcPts val="1500"/>
              </a:spcAft>
              <a:buNone/>
              <a:tabLst>
                <a:tab pos="457200" algn="l"/>
              </a:tabLst>
            </a:pPr>
            <a:r>
              <a:rPr lang="en-US" sz="2500" kern="100" dirty="0">
                <a:solidFill>
                  <a:srgbClr val="00B050"/>
                </a:solidFill>
                <a:latin typeface="Times New Roman" panose="02020603050405020304" pitchFamily="18" charset="0"/>
                <a:ea typeface="Aptos" panose="020B0004020202020204" pitchFamily="34" charset="0"/>
                <a:cs typeface="Times New Roman" panose="02020603050405020304" pitchFamily="18" charset="0"/>
              </a:rPr>
              <a:t>13. </a:t>
            </a:r>
            <a:r>
              <a:rPr lang="en-US" sz="25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US-</a:t>
            </a:r>
            <a:r>
              <a:rPr lang="en-US" sz="2500" kern="100" dirty="0" err="1">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Skr</a:t>
            </a:r>
            <a:r>
              <a:rPr lang="en-US" sz="25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 Shark River Slough (Tower SRS-6) Everglades, 2004-present, </a:t>
            </a:r>
            <a:r>
              <a:rPr lang="en-US" sz="2500" b="0" i="0" dirty="0">
                <a:solidFill>
                  <a:srgbClr val="00B050"/>
                </a:solidFill>
                <a:effectLst/>
                <a:latin typeface="Times New Roman" panose="02020603050405020304" pitchFamily="18" charset="0"/>
                <a:cs typeface="Times New Roman" panose="02020603050405020304" pitchFamily="18" charset="0"/>
              </a:rPr>
              <a:t>Evergreen Broadleaf Forests</a:t>
            </a:r>
            <a:r>
              <a:rPr lang="en-US" sz="2500" b="0" i="0" kern="100" dirty="0">
                <a:solidFill>
                  <a:srgbClr val="00B050"/>
                </a:solidFill>
                <a:latin typeface="Times New Roman" panose="02020603050405020304" pitchFamily="18" charset="0"/>
                <a:cs typeface="Times New Roman" panose="02020603050405020304" pitchFamily="18" charset="0"/>
              </a:rPr>
              <a:t>, salinity range </a:t>
            </a:r>
            <a:r>
              <a:rPr lang="en-US" sz="25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(20-30), Florida</a:t>
            </a:r>
          </a:p>
          <a:p>
            <a:pPr marL="0" indent="0">
              <a:lnSpc>
                <a:spcPct val="115000"/>
              </a:lnSpc>
              <a:spcBef>
                <a:spcPts val="0"/>
              </a:spcBef>
              <a:spcAft>
                <a:spcPts val="800"/>
              </a:spcAft>
              <a:buNone/>
              <a:tabLst>
                <a:tab pos="457200" algn="l"/>
              </a:tabLst>
            </a:pPr>
            <a:r>
              <a:rPr lang="en-US" sz="2500" kern="1800" dirty="0">
                <a:solidFill>
                  <a:srgbClr val="00B050"/>
                </a:solidFill>
                <a:latin typeface="Times New Roman" panose="02020603050405020304" pitchFamily="18" charset="0"/>
                <a:ea typeface="Times New Roman" panose="02020603050405020304" pitchFamily="18" charset="0"/>
                <a:cs typeface="Times New Roman" panose="02020603050405020304" pitchFamily="18" charset="0"/>
              </a:rPr>
              <a:t>14. US-Tas </a:t>
            </a:r>
            <a:r>
              <a:rPr lang="en-US" sz="2500" i="0" dirty="0">
                <a:solidFill>
                  <a:srgbClr val="00B050"/>
                </a:solidFill>
                <a:effectLst/>
                <a:latin typeface="Times New Roman" panose="02020603050405020304" pitchFamily="18" charset="0"/>
                <a:cs typeface="Times New Roman" panose="02020603050405020304" pitchFamily="18" charset="0"/>
              </a:rPr>
              <a:t>Taylor Slough/Panhandle.</a:t>
            </a:r>
            <a:r>
              <a:rPr lang="en-US" sz="2500" dirty="0">
                <a:solidFill>
                  <a:srgbClr val="00B050"/>
                </a:solidFill>
                <a:latin typeface="Times New Roman" panose="02020603050405020304" pitchFamily="18" charset="0"/>
                <a:cs typeface="Times New Roman" panose="02020603050405020304" pitchFamily="18" charset="0"/>
              </a:rPr>
              <a:t> 2016-2021, wetland (Florida)</a:t>
            </a:r>
          </a:p>
          <a:p>
            <a:pPr marL="0" indent="0">
              <a:lnSpc>
                <a:spcPct val="115000"/>
              </a:lnSpc>
              <a:spcBef>
                <a:spcPts val="0"/>
              </a:spcBef>
              <a:spcAft>
                <a:spcPts val="800"/>
              </a:spcAft>
              <a:buNone/>
              <a:tabLst>
                <a:tab pos="457200" algn="l"/>
              </a:tabLst>
            </a:pPr>
            <a:r>
              <a:rPr lang="en-US" sz="25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15. US-</a:t>
            </a:r>
            <a:r>
              <a:rPr lang="en-US" sz="2500" kern="1800" dirty="0" err="1">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EvM</a:t>
            </a:r>
            <a:r>
              <a:rPr lang="en-US" sz="25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 Everglades Saltwater intrusion marsh, 2020-present, wetland  (salinity &gt;18 </a:t>
            </a:r>
            <a:r>
              <a:rPr lang="en-US" sz="2500" kern="1800" dirty="0" err="1">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psu</a:t>
            </a:r>
            <a:r>
              <a:rPr lang="en-US" sz="25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 Florida</a:t>
            </a:r>
          </a:p>
          <a:p>
            <a:pPr marL="0" indent="0">
              <a:lnSpc>
                <a:spcPct val="115000"/>
              </a:lnSpc>
              <a:spcBef>
                <a:spcPts val="0"/>
              </a:spcBef>
              <a:spcAft>
                <a:spcPts val="800"/>
              </a:spcAft>
              <a:buNone/>
              <a:tabLst>
                <a:tab pos="457200" algn="l"/>
              </a:tabLst>
            </a:pPr>
            <a:r>
              <a:rPr lang="en-US" sz="25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16. US-KS3: Kennedy Space Center (salt marsh), 2017-2020, wetlands  (salinity&lt;6 ppt, &gt; 6 ppt) </a:t>
            </a:r>
            <a:r>
              <a:rPr lang="en-US" sz="2500" kern="1800" dirty="0" err="1">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fluxnet</a:t>
            </a:r>
            <a:r>
              <a:rPr lang="en-US" sz="25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 (2018), Florida</a:t>
            </a:r>
          </a:p>
          <a:p>
            <a:pPr marL="0" indent="0">
              <a:lnSpc>
                <a:spcPct val="115000"/>
              </a:lnSpc>
              <a:spcBef>
                <a:spcPts val="0"/>
              </a:spcBef>
              <a:spcAft>
                <a:spcPts val="800"/>
              </a:spcAft>
              <a:buNone/>
              <a:tabLst>
                <a:tab pos="457200" algn="l"/>
              </a:tabLst>
            </a:pPr>
            <a:r>
              <a:rPr lang="en-US" sz="25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17. US-KS4: Kennedy Space Center (Spartina marsh), 2017-present (~ 6 ppt), wetlands, Florida</a:t>
            </a:r>
          </a:p>
          <a:p>
            <a:pPr marL="0" indent="0">
              <a:lnSpc>
                <a:spcPct val="115000"/>
              </a:lnSpc>
              <a:spcBef>
                <a:spcPts val="0"/>
              </a:spcBef>
              <a:spcAft>
                <a:spcPts val="800"/>
              </a:spcAft>
              <a:buNone/>
              <a:tabLst>
                <a:tab pos="457200" algn="l"/>
              </a:tabLst>
            </a:pPr>
            <a:r>
              <a:rPr lang="en-US" sz="2500" dirty="0">
                <a:solidFill>
                  <a:srgbClr val="00B050"/>
                </a:solidFill>
                <a:latin typeface="Times New Roman" panose="02020603050405020304" pitchFamily="18" charset="0"/>
                <a:cs typeface="Times New Roman" panose="02020603050405020304" pitchFamily="18" charset="0"/>
              </a:rPr>
              <a:t>18</a:t>
            </a:r>
            <a:r>
              <a:rPr lang="en-US" sz="2500" i="0" dirty="0">
                <a:solidFill>
                  <a:srgbClr val="00B050"/>
                </a:solidFill>
                <a:effectLst/>
                <a:latin typeface="Times New Roman" panose="02020603050405020304" pitchFamily="18" charset="0"/>
                <a:cs typeface="Times New Roman" panose="02020603050405020304" pitchFamily="18" charset="0"/>
              </a:rPr>
              <a:t>. US-LA1: Pointe-aux-Chenes Brackish Marsh</a:t>
            </a:r>
            <a:r>
              <a:rPr lang="en-US" sz="2500" b="1" i="0" dirty="0">
                <a:solidFill>
                  <a:srgbClr val="00B050"/>
                </a:solidFill>
                <a:effectLst/>
                <a:latin typeface="Times New Roman" panose="02020603050405020304" pitchFamily="18" charset="0"/>
                <a:cs typeface="Times New Roman" panose="02020603050405020304" pitchFamily="18" charset="0"/>
              </a:rPr>
              <a:t>,</a:t>
            </a:r>
            <a:r>
              <a:rPr lang="es-ES" sz="25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 </a:t>
            </a:r>
            <a:r>
              <a:rPr lang="es-ES" sz="2500" kern="100" dirty="0" err="1">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wetland</a:t>
            </a:r>
            <a:r>
              <a:rPr lang="es-ES" sz="25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500" b="0" i="0" dirty="0">
                <a:solidFill>
                  <a:srgbClr val="00B050"/>
                </a:solidFill>
                <a:effectLst/>
                <a:latin typeface="Times New Roman" panose="02020603050405020304" pitchFamily="18" charset="0"/>
                <a:cs typeface="Times New Roman" panose="02020603050405020304" pitchFamily="18" charset="0"/>
              </a:rPr>
              <a:t>Louisiana), 2011-2012</a:t>
            </a:r>
          </a:p>
          <a:p>
            <a:pPr marL="0" indent="0">
              <a:lnSpc>
                <a:spcPct val="115000"/>
              </a:lnSpc>
              <a:spcBef>
                <a:spcPts val="0"/>
              </a:spcBef>
              <a:spcAft>
                <a:spcPts val="800"/>
              </a:spcAft>
              <a:buNone/>
              <a:tabLst>
                <a:tab pos="457200" algn="l"/>
              </a:tabLst>
            </a:pPr>
            <a:r>
              <a:rPr lang="es-ES" sz="2500" b="1" dirty="0">
                <a:solidFill>
                  <a:srgbClr val="00B050"/>
                </a:solidFill>
                <a:latin typeface="proxima-nova-condensed"/>
              </a:rPr>
              <a:t>19</a:t>
            </a:r>
            <a:r>
              <a:rPr lang="es-ES" sz="2500" b="1" i="0" dirty="0">
                <a:solidFill>
                  <a:srgbClr val="00B050"/>
                </a:solidFill>
                <a:effectLst/>
                <a:latin typeface="proxima-nova-condensed"/>
              </a:rPr>
              <a:t>. US-LA2: Salvador WMA </a:t>
            </a:r>
            <a:r>
              <a:rPr lang="es-ES" sz="2500" b="1" i="0" dirty="0" err="1">
                <a:solidFill>
                  <a:srgbClr val="00B050"/>
                </a:solidFill>
                <a:effectLst/>
                <a:latin typeface="proxima-nova-condensed"/>
              </a:rPr>
              <a:t>Freshwater</a:t>
            </a:r>
            <a:r>
              <a:rPr lang="es-ES" sz="2500" b="1" i="0" dirty="0">
                <a:solidFill>
                  <a:srgbClr val="00B050"/>
                </a:solidFill>
                <a:effectLst/>
                <a:latin typeface="proxima-nova-condensed"/>
              </a:rPr>
              <a:t> Marsh,  2011, 2022, </a:t>
            </a:r>
            <a:r>
              <a:rPr lang="es-ES" sz="2500" b="1" i="0" dirty="0" err="1">
                <a:solidFill>
                  <a:srgbClr val="00B050"/>
                </a:solidFill>
                <a:effectLst/>
                <a:latin typeface="proxima-nova-condensed"/>
              </a:rPr>
              <a:t>wetland</a:t>
            </a:r>
            <a:r>
              <a:rPr lang="es-ES" sz="2500" b="1" i="0" dirty="0">
                <a:solidFill>
                  <a:srgbClr val="00B050"/>
                </a:solidFill>
                <a:effectLst/>
                <a:latin typeface="proxima-nova-condensed"/>
              </a:rPr>
              <a:t> </a:t>
            </a:r>
            <a:r>
              <a:rPr lang="en-US" sz="2500" b="0" i="0" dirty="0">
                <a:solidFill>
                  <a:srgbClr val="00B050"/>
                </a:solidFill>
                <a:effectLst/>
                <a:latin typeface="Times New Roman" panose="02020603050405020304" pitchFamily="18" charset="0"/>
                <a:cs typeface="Times New Roman" panose="02020603050405020304" pitchFamily="18" charset="0"/>
              </a:rPr>
              <a:t>Louisiana</a:t>
            </a:r>
            <a:endParaRPr lang="en-US" sz="2500" kern="100" dirty="0">
              <a:solidFill>
                <a:srgbClr val="00B050"/>
              </a:solidFill>
              <a:latin typeface="Times New Roman" panose="02020603050405020304" pitchFamily="18"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tabLst>
                <a:tab pos="457200" algn="l"/>
              </a:tabLst>
            </a:pPr>
            <a:r>
              <a:rPr lang="it-IT" sz="2500" b="1" i="0" dirty="0">
                <a:solidFill>
                  <a:srgbClr val="00B050"/>
                </a:solidFill>
                <a:effectLst/>
                <a:latin typeface="proxima-nova-condensed"/>
              </a:rPr>
              <a:t>20. US-LA3: Barataria Bay Saline Marsh, 2019-2022, wetkand Louisiana </a:t>
            </a:r>
          </a:p>
          <a:p>
            <a:pPr marL="0" indent="0">
              <a:lnSpc>
                <a:spcPct val="115000"/>
              </a:lnSpc>
              <a:spcBef>
                <a:spcPts val="0"/>
              </a:spcBef>
              <a:spcAft>
                <a:spcPts val="800"/>
              </a:spcAft>
              <a:buNone/>
              <a:tabLst>
                <a:tab pos="457200" algn="l"/>
              </a:tabLst>
            </a:pPr>
            <a:endParaRPr lang="en-US" sz="20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1500"/>
              </a:spcAft>
              <a:buFont typeface="+mj-lt"/>
              <a:buAutoNum type="arabicPeriod"/>
              <a:tabLst>
                <a:tab pos="457200" algn="l"/>
              </a:tabLst>
            </a:pPr>
            <a:endParaRPr lang="en-US" sz="21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b="1" i="0" dirty="0">
              <a:effectLst/>
              <a:latin typeface="proxima-nova-condensed"/>
            </a:endParaRPr>
          </a:p>
          <a:p>
            <a:endParaRPr lang="en-US" dirty="0"/>
          </a:p>
        </p:txBody>
      </p:sp>
    </p:spTree>
    <p:extLst>
      <p:ext uri="{BB962C8B-B14F-4D97-AF65-F5344CB8AC3E}">
        <p14:creationId xmlns:p14="http://schemas.microsoft.com/office/powerpoint/2010/main" val="4908083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8F0A40-3A07-6E0A-68C7-D8ABA0014F34}"/>
              </a:ext>
            </a:extLst>
          </p:cNvPr>
          <p:cNvSpPr>
            <a:spLocks noGrp="1"/>
          </p:cNvSpPr>
          <p:nvPr>
            <p:ph idx="1"/>
          </p:nvPr>
        </p:nvSpPr>
        <p:spPr>
          <a:xfrm>
            <a:off x="184297" y="-1"/>
            <a:ext cx="12567683" cy="6563833"/>
          </a:xfrm>
        </p:spPr>
        <p:txBody>
          <a:bodyPr>
            <a:normAutofit fontScale="25000" lnSpcReduction="20000"/>
          </a:bodyPr>
          <a:lstStyle/>
          <a:p>
            <a:pPr marL="0" marR="0" lvl="0" indent="0">
              <a:lnSpc>
                <a:spcPct val="115000"/>
              </a:lnSpc>
              <a:spcBef>
                <a:spcPts val="0"/>
              </a:spcBef>
              <a:spcAft>
                <a:spcPts val="1500"/>
              </a:spcAft>
              <a:buNone/>
              <a:tabLst>
                <a:tab pos="457200" algn="l"/>
              </a:tabLst>
            </a:pP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21. US-MRM. Tidal marsh, salinity (1-10 ppt), 2009-2019, wetlands (New Jersey) </a:t>
            </a:r>
            <a:r>
              <a:rPr lang="en-US" sz="6600" kern="1800" dirty="0">
                <a:solidFill>
                  <a:srgbClr val="00B050"/>
                </a:solidFill>
                <a:latin typeface="Times New Roman" panose="02020603050405020304" pitchFamily="18" charset="0"/>
                <a:ea typeface="Times New Roman" panose="02020603050405020304" pitchFamily="18" charset="0"/>
                <a:cs typeface="Times New Roman" panose="02020603050405020304" pitchFamily="18" charset="0"/>
              </a:rPr>
              <a:t>river near bay</a:t>
            </a: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 salinity</a:t>
            </a:r>
          </a:p>
          <a:p>
            <a:pPr marL="0" marR="0" lvl="0" indent="0">
              <a:lnSpc>
                <a:spcPct val="115000"/>
              </a:lnSpc>
              <a:spcBef>
                <a:spcPts val="0"/>
              </a:spcBef>
              <a:spcAft>
                <a:spcPts val="1500"/>
              </a:spcAft>
              <a:buNone/>
              <a:tabLst>
                <a:tab pos="457200" algn="l"/>
              </a:tabLst>
            </a:pPr>
            <a:r>
              <a:rPr lang="en-US" sz="6600" kern="1800" dirty="0">
                <a:latin typeface="Times New Roman" panose="02020603050405020304" pitchFamily="18" charset="0"/>
                <a:ea typeface="Times New Roman" panose="02020603050405020304" pitchFamily="18" charset="0"/>
                <a:cs typeface="Times New Roman" panose="02020603050405020304" pitchFamily="18" charset="0"/>
              </a:rPr>
              <a:t>22. </a:t>
            </a:r>
            <a:r>
              <a:rPr lang="en-US" sz="6600" kern="1800" dirty="0">
                <a:solidFill>
                  <a:srgbClr val="00B050"/>
                </a:solidFill>
                <a:latin typeface="Times New Roman" panose="02020603050405020304" pitchFamily="18" charset="0"/>
                <a:ea typeface="Times New Roman" panose="02020603050405020304" pitchFamily="18" charset="0"/>
                <a:cs typeface="Times New Roman" panose="02020603050405020304" pitchFamily="18" charset="0"/>
              </a:rPr>
              <a:t>US-</a:t>
            </a:r>
            <a:r>
              <a:rPr lang="en-US" sz="6600" kern="1800" dirty="0" err="1">
                <a:solidFill>
                  <a:srgbClr val="00B050"/>
                </a:solidFill>
                <a:latin typeface="Times New Roman" panose="02020603050405020304" pitchFamily="18" charset="0"/>
                <a:ea typeface="Times New Roman" panose="02020603050405020304" pitchFamily="18" charset="0"/>
                <a:cs typeface="Times New Roman" panose="02020603050405020304" pitchFamily="18" charset="0"/>
              </a:rPr>
              <a:t>Srr</a:t>
            </a:r>
            <a:r>
              <a:rPr lang="en-US" sz="6600" kern="1800" dirty="0">
                <a:solidFill>
                  <a:srgbClr val="00B05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6600" b="1" i="0" dirty="0">
                <a:solidFill>
                  <a:srgbClr val="00B050"/>
                </a:solidFill>
                <a:effectLst/>
                <a:latin typeface="proxima-nova-condensed"/>
              </a:rPr>
              <a:t>Suisun marsh - Rush Ranch</a:t>
            </a:r>
            <a:r>
              <a:rPr lang="en-US" sz="8800" dirty="0">
                <a:solidFill>
                  <a:srgbClr val="00B050"/>
                </a:solidFill>
                <a:latin typeface="Times New Roman" panose="02020603050405020304" pitchFamily="18" charset="0"/>
                <a:cs typeface="Times New Roman" panose="02020603050405020304" pitchFamily="18" charset="0"/>
              </a:rPr>
              <a:t>, salinity </a:t>
            </a:r>
            <a:r>
              <a:rPr lang="en-US" sz="6600" b="0" i="0" dirty="0">
                <a:solidFill>
                  <a:srgbClr val="00B050"/>
                </a:solidFill>
                <a:effectLst/>
                <a:latin typeface="Times New Roman" panose="02020603050405020304" pitchFamily="18" charset="0"/>
                <a:cs typeface="Times New Roman" panose="02020603050405020304" pitchFamily="18" charset="0"/>
              </a:rPr>
              <a:t>4.6 (0.25–12.3), 2014-present, wetlands </a:t>
            </a:r>
            <a:r>
              <a:rPr lang="en-US" sz="6600" b="0" i="0" dirty="0" err="1">
                <a:solidFill>
                  <a:srgbClr val="00B050"/>
                </a:solidFill>
                <a:effectLst/>
                <a:latin typeface="Times New Roman" panose="02020603050405020304" pitchFamily="18" charset="0"/>
                <a:cs typeface="Times New Roman" panose="02020603050405020304" pitchFamily="18" charset="0"/>
              </a:rPr>
              <a:t>fluxnet</a:t>
            </a:r>
            <a:r>
              <a:rPr lang="en-US" sz="6600" dirty="0">
                <a:solidFill>
                  <a:srgbClr val="00B050"/>
                </a:solidFill>
                <a:latin typeface="Times New Roman" panose="02020603050405020304" pitchFamily="18" charset="0"/>
                <a:cs typeface="Times New Roman" panose="02020603050405020304" pitchFamily="18" charset="0"/>
              </a:rPr>
              <a:t> (2014-2017), </a:t>
            </a: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wetlands (California) </a:t>
            </a:r>
            <a:r>
              <a:rPr lang="en-US" sz="6600" kern="1800" dirty="0" err="1">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fluxnet</a:t>
            </a: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a:lnSpc>
                <a:spcPct val="115000"/>
              </a:lnSpc>
              <a:spcBef>
                <a:spcPts val="0"/>
              </a:spcBef>
              <a:spcAft>
                <a:spcPts val="1500"/>
              </a:spcAft>
              <a:buNone/>
              <a:tabLst>
                <a:tab pos="457200" algn="l"/>
              </a:tabLst>
            </a:pPr>
            <a:r>
              <a:rPr lang="en-US" sz="6600" kern="1800" dirty="0">
                <a:latin typeface="Times New Roman" panose="02020603050405020304" pitchFamily="18" charset="0"/>
                <a:ea typeface="Aptos" panose="020B0004020202020204" pitchFamily="34" charset="0"/>
                <a:cs typeface="Times New Roman" panose="02020603050405020304" pitchFamily="18" charset="0"/>
              </a:rPr>
              <a:t>23. US-HPY,</a:t>
            </a:r>
            <a:r>
              <a:rPr lang="en-US" sz="4800" b="1" i="0" dirty="0">
                <a:effectLst/>
                <a:latin typeface="proxima-nova-condensed"/>
              </a:rPr>
              <a:t> Hawk Property, </a:t>
            </a:r>
            <a:r>
              <a:rPr lang="en-US" sz="6600" kern="1800" dirty="0">
                <a:latin typeface="Times New Roman" panose="02020603050405020304" pitchFamily="18" charset="0"/>
                <a:ea typeface="Aptos" panose="020B0004020202020204" pitchFamily="34" charset="0"/>
                <a:cs typeface="Times New Roman" panose="02020603050405020304" pitchFamily="18" charset="0"/>
              </a:rPr>
              <a:t> 2012-2019, wetland, urban tidal, New Jersey, river near bay</a:t>
            </a:r>
            <a:endParaRPr lang="en-US" sz="6600" kern="1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15000"/>
              </a:lnSpc>
              <a:spcBef>
                <a:spcPts val="0"/>
              </a:spcBef>
              <a:spcAft>
                <a:spcPts val="1500"/>
              </a:spcAft>
              <a:buNone/>
              <a:tabLst>
                <a:tab pos="457200" algn="l"/>
              </a:tabLst>
            </a:pPr>
            <a:r>
              <a:rPr lang="en-US" sz="66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24. US-HRP: Herring River Phragmites, wetland, 2017-present, wetland, salinity </a:t>
            </a:r>
            <a:r>
              <a:rPr lang="en-US" sz="6600" b="0" i="0" dirty="0">
                <a:solidFill>
                  <a:srgbClr val="00B050"/>
                </a:solidFill>
                <a:effectLst/>
                <a:latin typeface="Times New Roman" panose="02020603050405020304" pitchFamily="18" charset="0"/>
                <a:cs typeface="Times New Roman" panose="02020603050405020304" pitchFamily="18" charset="0"/>
              </a:rPr>
              <a:t>4–25 </a:t>
            </a:r>
            <a:r>
              <a:rPr lang="en-US" sz="6600" b="0" i="0" dirty="0" err="1">
                <a:solidFill>
                  <a:srgbClr val="00B050"/>
                </a:solidFill>
                <a:effectLst/>
                <a:latin typeface="Times New Roman" panose="02020603050405020304" pitchFamily="18" charset="0"/>
                <a:cs typeface="Times New Roman" panose="02020603050405020304" pitchFamily="18" charset="0"/>
              </a:rPr>
              <a:t>psu</a:t>
            </a:r>
            <a:r>
              <a:rPr lang="en-US" sz="6600" b="0" i="0" dirty="0">
                <a:solidFill>
                  <a:srgbClr val="00B050"/>
                </a:solidFill>
                <a:effectLst/>
                <a:latin typeface="Times New Roman" panose="02020603050405020304" pitchFamily="18" charset="0"/>
                <a:cs typeface="Times New Roman" panose="02020603050405020304" pitchFamily="18" charset="0"/>
              </a:rPr>
              <a:t>, (</a:t>
            </a:r>
            <a:r>
              <a:rPr lang="en-US" sz="66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Cape Cod, Massachusetts)</a:t>
            </a:r>
            <a:endPar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25. US-BSM: Barnstable Great Marsh, 2017-present, wetlands, cape code, Massachusetts </a:t>
            </a:r>
          </a:p>
          <a:p>
            <a:pPr marL="0" marR="0" lvl="0" indent="0">
              <a:lnSpc>
                <a:spcPct val="115000"/>
              </a:lnSpc>
              <a:spcBef>
                <a:spcPts val="0"/>
              </a:spcBef>
              <a:spcAft>
                <a:spcPts val="1500"/>
              </a:spcAft>
              <a:buNone/>
              <a:tabLst>
                <a:tab pos="457200" algn="l"/>
              </a:tabLst>
            </a:pP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26. US-PHM: Plum Island High Marsh, 2013-present, salt marsh, wetland, Massachusetts </a:t>
            </a:r>
          </a:p>
          <a:p>
            <a:pPr marL="0" indent="0">
              <a:lnSpc>
                <a:spcPct val="115000"/>
              </a:lnSpc>
              <a:spcBef>
                <a:spcPts val="0"/>
              </a:spcBef>
              <a:spcAft>
                <a:spcPts val="1500"/>
              </a:spcAft>
              <a:buNone/>
              <a:tabLst>
                <a:tab pos="457200" algn="l"/>
              </a:tabLst>
            </a:pPr>
            <a:r>
              <a:rPr lang="en-US" sz="88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27. US-PLM: Plum Island Low Marsh, 2015-present, </a:t>
            </a:r>
            <a:r>
              <a:rPr lang="en-US" sz="6600" b="0" i="0" dirty="0">
                <a:solidFill>
                  <a:srgbClr val="00B050"/>
                </a:solidFill>
                <a:effectLst/>
                <a:latin typeface="Open Sans" panose="020B0606030504020204" pitchFamily="34" charset="0"/>
              </a:rPr>
              <a:t>29.1 (25–33), mean (range), wetlands</a:t>
            </a:r>
            <a:r>
              <a:rPr lang="en-US" sz="6600" dirty="0">
                <a:solidFill>
                  <a:srgbClr val="00B050"/>
                </a:solidFill>
                <a:latin typeface="Open Sans" panose="020B0606030504020204" pitchFamily="34" charset="0"/>
              </a:rPr>
              <a:t>, Massachusetts </a:t>
            </a:r>
            <a:endParaRPr lang="en-US" sz="6600" kern="100" dirty="0">
              <a:solidFill>
                <a:srgbClr val="00B050"/>
              </a:solidFill>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28. US-HB1: North Inlet Crab Haul Creek, 2017-present, wetland, salinity </a:t>
            </a:r>
            <a:r>
              <a:rPr lang="en-US" sz="4800" b="0" i="0" dirty="0">
                <a:solidFill>
                  <a:srgbClr val="00B050"/>
                </a:solidFill>
                <a:effectLst/>
                <a:latin typeface="Arial" panose="020B0604020202020204" pitchFamily="34" charset="0"/>
              </a:rPr>
              <a:t>32 PSU, </a:t>
            </a:r>
            <a:r>
              <a:rPr lang="en-US" sz="4800" b="0" i="0" dirty="0" err="1">
                <a:solidFill>
                  <a:srgbClr val="00B050"/>
                </a:solidFill>
                <a:effectLst/>
                <a:latin typeface="Arial" panose="020B0604020202020204" pitchFamily="34" charset="0"/>
              </a:rPr>
              <a:t>fluxnet</a:t>
            </a:r>
            <a:r>
              <a:rPr lang="en-US" sz="4800" b="0" i="0" dirty="0">
                <a:solidFill>
                  <a:srgbClr val="00B050"/>
                </a:solidFill>
                <a:effectLst/>
                <a:latin typeface="Arial" panose="020B0604020202020204" pitchFamily="34" charset="0"/>
              </a:rPr>
              <a:t> (2019), South Carolina</a:t>
            </a:r>
            <a:endParaRPr lang="en-US" sz="4800" dirty="0">
              <a:solidFill>
                <a:srgbClr val="00B050"/>
              </a:solidFill>
              <a:latin typeface="Arial" panose="020B0604020202020204" pitchFamily="34" charset="0"/>
            </a:endParaRPr>
          </a:p>
          <a:p>
            <a:pPr marL="0" marR="0" lvl="0" indent="0">
              <a:lnSpc>
                <a:spcPct val="115000"/>
              </a:lnSpc>
              <a:spcBef>
                <a:spcPts val="0"/>
              </a:spcBef>
              <a:spcAft>
                <a:spcPts val="1500"/>
              </a:spcAft>
              <a:buNone/>
              <a:tabLst>
                <a:tab pos="457200" algn="l"/>
              </a:tabLst>
            </a:pPr>
            <a:r>
              <a:rPr lang="en-US" sz="4800" b="1" i="0" dirty="0">
                <a:solidFill>
                  <a:srgbClr val="00B050"/>
                </a:solidFill>
                <a:effectLst/>
                <a:latin typeface="Arial" panose="020B0604020202020204" pitchFamily="34" charset="0"/>
              </a:rPr>
              <a:t>29. </a:t>
            </a:r>
            <a:r>
              <a:rPr lang="en-US" sz="4800" b="1" i="0" dirty="0">
                <a:solidFill>
                  <a:srgbClr val="00B050"/>
                </a:solidFill>
                <a:effectLst/>
                <a:latin typeface="proxima-nova-condensed"/>
              </a:rPr>
              <a:t>US-HB2: Hobcaw Barony Mature Longleaf Pine, 2018 present </a:t>
            </a:r>
            <a:r>
              <a:rPr lang="en-US" sz="6600" b="0" i="0" dirty="0">
                <a:solidFill>
                  <a:srgbClr val="00B050"/>
                </a:solidFill>
                <a:effectLst/>
                <a:latin typeface="Arial" panose="020B0604020202020204" pitchFamily="34" charset="0"/>
              </a:rPr>
              <a:t>South Carolina, close to coast</a:t>
            </a:r>
          </a:p>
          <a:p>
            <a:pPr marL="0" indent="0" algn="l">
              <a:spcAft>
                <a:spcPts val="1500"/>
              </a:spcAft>
              <a:buNone/>
            </a:pPr>
            <a:r>
              <a:rPr lang="en-US" sz="4800" b="1" i="0" dirty="0">
                <a:solidFill>
                  <a:srgbClr val="00B050"/>
                </a:solidFill>
                <a:effectLst/>
                <a:latin typeface="proxima-nova-condensed"/>
              </a:rPr>
              <a:t>30. US-HB3: Hobcaw Barony Longleaf Pine Restoration, 2019-present south Carolina, close to coast </a:t>
            </a:r>
            <a:endParaRPr lang="en-US" sz="6600" kern="100" dirty="0">
              <a:solidFill>
                <a:srgbClr val="00B050"/>
              </a:solidFill>
              <a:latin typeface="Aptos" panose="020B0004020202020204" pitchFamily="34" charset="0"/>
              <a:ea typeface="Times New Roman" panose="02020603050405020304" pitchFamily="18"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6600" kern="100" dirty="0">
                <a:solidFill>
                  <a:srgbClr val="00B050"/>
                </a:solidFill>
                <a:effectLst/>
                <a:latin typeface="Aptos" panose="020B0004020202020204" pitchFamily="34" charset="0"/>
                <a:ea typeface="Times New Roman" panose="02020603050405020304" pitchFamily="18" charset="0"/>
                <a:cs typeface="Times New Roman" panose="02020603050405020304" pitchFamily="18" charset="0"/>
              </a:rPr>
              <a:t>28. </a:t>
            </a: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US-</a:t>
            </a:r>
            <a:r>
              <a:rPr lang="en-US" sz="6600" kern="1800" dirty="0" err="1">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StJ</a:t>
            </a: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 St Jones Reserve, 2015-present, tidal, </a:t>
            </a:r>
            <a:r>
              <a:rPr lang="en-US" sz="4800" b="0" i="0" dirty="0">
                <a:solidFill>
                  <a:srgbClr val="00B050"/>
                </a:solidFill>
                <a:effectLst/>
                <a:latin typeface="Open Sans" panose="020B0606030504020204" pitchFamily="34" charset="0"/>
              </a:rPr>
              <a:t>10 (0.3–23) mean and range, wetlands</a:t>
            </a:r>
            <a:r>
              <a:rPr lang="en-US" sz="4800" dirty="0">
                <a:solidFill>
                  <a:srgbClr val="00B050"/>
                </a:solidFill>
                <a:latin typeface="Open Sans" panose="020B0606030504020204" pitchFamily="34" charset="0"/>
              </a:rPr>
              <a:t>, </a:t>
            </a:r>
            <a:r>
              <a:rPr lang="en-US" sz="4800" dirty="0" err="1">
                <a:solidFill>
                  <a:srgbClr val="00B050"/>
                </a:solidFill>
                <a:latin typeface="Open Sans" panose="020B0606030504020204" pitchFamily="34" charset="0"/>
              </a:rPr>
              <a:t>fluxnet</a:t>
            </a:r>
            <a:r>
              <a:rPr lang="en-US" sz="4800" dirty="0">
                <a:solidFill>
                  <a:srgbClr val="00B050"/>
                </a:solidFill>
                <a:latin typeface="Open Sans" panose="020B0606030504020204" pitchFamily="34" charset="0"/>
              </a:rPr>
              <a:t>, long  (2015-2017), </a:t>
            </a:r>
            <a:r>
              <a:rPr lang="en-US" sz="4800" b="0" i="0" dirty="0">
                <a:solidFill>
                  <a:srgbClr val="00B050"/>
                </a:solidFill>
                <a:effectLst/>
                <a:latin typeface="Roboto" panose="02000000000000000000" pitchFamily="2" charset="0"/>
              </a:rPr>
              <a:t>Delaware</a:t>
            </a:r>
            <a:endParaRPr lang="en-US" sz="6600" kern="100" dirty="0">
              <a:solidFill>
                <a:srgbClr val="00B050"/>
              </a:solidFill>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en-US" sz="66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29. US-VFP, 2014-present, salt marsh, wetland (Virginia)</a:t>
            </a:r>
          </a:p>
          <a:p>
            <a:pPr marL="0" indent="0">
              <a:buNone/>
            </a:pPr>
            <a:endParaRPr lang="en-US" sz="6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32. US-Tx9: Sargent Unit Salt Marsh, 2017-present, wetlands, Texas  </a:t>
            </a:r>
          </a:p>
          <a:p>
            <a:pPr marL="0" indent="0">
              <a:buNone/>
            </a:pPr>
            <a:endParaRPr lang="en-US" sz="6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indent="0">
              <a:buNone/>
            </a:pPr>
            <a:endParaRPr lang="en-US" sz="6600" i="0" dirty="0">
              <a:effectLst/>
              <a:latin typeface="proxima-nova-condensed"/>
            </a:endParaRPr>
          </a:p>
          <a:p>
            <a:pPr marL="0" indent="0">
              <a:lnSpc>
                <a:spcPct val="115000"/>
              </a:lnSpc>
              <a:spcBef>
                <a:spcPts val="0"/>
              </a:spcBef>
              <a:spcAft>
                <a:spcPts val="1500"/>
              </a:spcAft>
              <a:buNone/>
              <a:tabLst>
                <a:tab pos="457200" algn="l"/>
              </a:tabLst>
            </a:pPr>
            <a:endParaRPr lang="en-US" sz="66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endParaRPr lang="en-US" sz="6600" kern="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951941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551F9C-2AA9-DF91-BB37-E2F120ABA8CD}"/>
              </a:ext>
            </a:extLst>
          </p:cNvPr>
          <p:cNvSpPr>
            <a:spLocks noGrp="1"/>
          </p:cNvSpPr>
          <p:nvPr>
            <p:ph idx="1"/>
          </p:nvPr>
        </p:nvSpPr>
        <p:spPr>
          <a:xfrm>
            <a:off x="453223" y="413468"/>
            <a:ext cx="10405607" cy="5772647"/>
          </a:xfrm>
        </p:spPr>
        <p:txBody>
          <a:bodyPr>
            <a:normAutofit fontScale="25000" lnSpcReduction="20000"/>
          </a:bodyPr>
          <a:lstStyle/>
          <a:p>
            <a:pPr marL="0" indent="0" algn="l">
              <a:spcAft>
                <a:spcPts val="1500"/>
              </a:spcAft>
              <a:buNone/>
            </a:pPr>
            <a:r>
              <a:rPr lang="en-US" sz="8000" i="0" dirty="0">
                <a:solidFill>
                  <a:srgbClr val="00B050"/>
                </a:solidFill>
                <a:effectLst/>
                <a:latin typeface="Times New Roman" panose="02020603050405020304" pitchFamily="18" charset="0"/>
                <a:cs typeface="Times New Roman" panose="02020603050405020304" pitchFamily="18" charset="0"/>
              </a:rPr>
              <a:t>US-Dmg: Dutch Slough Marsh Gilbert Tract, wetl</a:t>
            </a:r>
            <a:r>
              <a:rPr lang="en-US" sz="8000" dirty="0">
                <a:solidFill>
                  <a:srgbClr val="00B050"/>
                </a:solidFill>
                <a:latin typeface="Times New Roman" panose="02020603050405020304" pitchFamily="18" charset="0"/>
                <a:cs typeface="Times New Roman" panose="02020603050405020304" pitchFamily="18" charset="0"/>
              </a:rPr>
              <a:t>and 2021-present, California</a:t>
            </a:r>
          </a:p>
          <a:p>
            <a:pPr marL="0" indent="0">
              <a:spcAft>
                <a:spcPts val="1500"/>
              </a:spcAft>
              <a:buNone/>
            </a:pPr>
            <a:r>
              <a:rPr lang="en-US" sz="8000" i="0" dirty="0">
                <a:solidFill>
                  <a:srgbClr val="00B050"/>
                </a:solidFill>
                <a:effectLst/>
                <a:latin typeface="Times New Roman" panose="02020603050405020304" pitchFamily="18" charset="0"/>
                <a:cs typeface="Times New Roman" panose="02020603050405020304" pitchFamily="18" charset="0"/>
              </a:rPr>
              <a:t>US-MCP: Moro </a:t>
            </a:r>
            <a:r>
              <a:rPr lang="en-US" sz="8000" i="0" dirty="0" err="1">
                <a:solidFill>
                  <a:srgbClr val="00B050"/>
                </a:solidFill>
                <a:effectLst/>
                <a:latin typeface="Times New Roman" panose="02020603050405020304" pitchFamily="18" charset="0"/>
                <a:cs typeface="Times New Roman" panose="02020603050405020304" pitchFamily="18" charset="0"/>
              </a:rPr>
              <a:t>Cojo</a:t>
            </a:r>
            <a:r>
              <a:rPr lang="en-US" sz="8000" i="0" dirty="0">
                <a:solidFill>
                  <a:srgbClr val="00B050"/>
                </a:solidFill>
                <a:effectLst/>
                <a:latin typeface="Times New Roman" panose="02020603050405020304" pitchFamily="18" charset="0"/>
                <a:cs typeface="Times New Roman" panose="02020603050405020304" pitchFamily="18" charset="0"/>
              </a:rPr>
              <a:t> Slough, PG&amp;E Treatment Wetland, 2023-present, wetlands California </a:t>
            </a:r>
          </a:p>
          <a:p>
            <a:pPr marL="0" indent="0">
              <a:spcAft>
                <a:spcPts val="1500"/>
              </a:spcAft>
              <a:buNone/>
            </a:pPr>
            <a:r>
              <a:rPr lang="en-US" sz="8000" i="0" dirty="0">
                <a:solidFill>
                  <a:srgbClr val="00B050"/>
                </a:solidFill>
                <a:effectLst/>
                <a:latin typeface="Times New Roman" panose="02020603050405020304" pitchFamily="18" charset="0"/>
                <a:cs typeface="Times New Roman" panose="02020603050405020304" pitchFamily="18" charset="0"/>
              </a:rPr>
              <a:t>US-</a:t>
            </a:r>
            <a:r>
              <a:rPr lang="en-US" sz="8000" i="0" dirty="0" err="1">
                <a:solidFill>
                  <a:srgbClr val="00B050"/>
                </a:solidFill>
                <a:effectLst/>
                <a:latin typeface="Times New Roman" panose="02020603050405020304" pitchFamily="18" charset="0"/>
                <a:cs typeface="Times New Roman" panose="02020603050405020304" pitchFamily="18" charset="0"/>
              </a:rPr>
              <a:t>StS</a:t>
            </a:r>
            <a:r>
              <a:rPr lang="en-US" sz="8000" i="0" dirty="0">
                <a:solidFill>
                  <a:srgbClr val="00B050"/>
                </a:solidFill>
                <a:effectLst/>
                <a:latin typeface="Times New Roman" panose="02020603050405020304" pitchFamily="18" charset="0"/>
                <a:cs typeface="Times New Roman" panose="02020603050405020304" pitchFamily="18" charset="0"/>
              </a:rPr>
              <a:t>: Strawberry Swamp, 2015-2016, wetland, south Carolina </a:t>
            </a:r>
          </a:p>
          <a:p>
            <a:pPr marL="0" indent="0">
              <a:spcAft>
                <a:spcPts val="1500"/>
              </a:spcAft>
              <a:buNone/>
            </a:pPr>
            <a:r>
              <a:rPr lang="en-US" sz="8000" i="0" dirty="0">
                <a:solidFill>
                  <a:srgbClr val="00B050"/>
                </a:solidFill>
                <a:effectLst/>
                <a:latin typeface="Times New Roman" panose="02020603050405020304" pitchFamily="18" charset="0"/>
                <a:cs typeface="Times New Roman" panose="02020603050405020304" pitchFamily="18" charset="0"/>
              </a:rPr>
              <a:t>US-EKY: Elkhorn Slough Yampah Marsh, wetland 2022-present, California</a:t>
            </a:r>
          </a:p>
          <a:p>
            <a:pPr marL="0" indent="0">
              <a:spcAft>
                <a:spcPts val="1500"/>
              </a:spcAft>
              <a:buNone/>
            </a:pPr>
            <a:r>
              <a:rPr lang="en-US" sz="8000" i="0" dirty="0">
                <a:solidFill>
                  <a:srgbClr val="00B050"/>
                </a:solidFill>
                <a:effectLst/>
                <a:latin typeface="Times New Roman" panose="02020603050405020304" pitchFamily="18" charset="0"/>
                <a:cs typeface="Times New Roman" panose="02020603050405020304" pitchFamily="18" charset="0"/>
              </a:rPr>
              <a:t>US-EKH: Elkhorn Slough Hester Marsh, wetland, 2022-present, California </a:t>
            </a:r>
          </a:p>
          <a:p>
            <a:pPr marL="0" indent="0">
              <a:spcAft>
                <a:spcPts val="1500"/>
              </a:spcAft>
              <a:buNone/>
            </a:pPr>
            <a:r>
              <a:rPr lang="en-US" sz="8000" i="0" dirty="0">
                <a:solidFill>
                  <a:srgbClr val="00B050"/>
                </a:solidFill>
                <a:effectLst/>
                <a:latin typeface="Times New Roman" panose="02020603050405020304" pitchFamily="18" charset="0"/>
                <a:cs typeface="Times New Roman" panose="02020603050405020304" pitchFamily="18" charset="0"/>
              </a:rPr>
              <a:t>US-EKP: Elkhorn Slough Porter Marsh, wetlands, 2022-present, California </a:t>
            </a:r>
          </a:p>
          <a:p>
            <a:pPr marL="0" indent="0">
              <a:spcAft>
                <a:spcPts val="1500"/>
              </a:spcAft>
              <a:buNone/>
            </a:pPr>
            <a:r>
              <a:rPr lang="en-US" sz="8000" i="0" dirty="0">
                <a:solidFill>
                  <a:srgbClr val="00B050"/>
                </a:solidFill>
                <a:effectLst/>
                <a:latin typeface="Times New Roman" panose="02020603050405020304" pitchFamily="18" charset="0"/>
                <a:cs typeface="Times New Roman" panose="02020603050405020304" pitchFamily="18" charset="0"/>
              </a:rPr>
              <a:t>US-EKN: Elkhorn Slough North Marsh, 2023-present, 2023 </a:t>
            </a:r>
          </a:p>
          <a:p>
            <a:pPr marL="0" indent="0">
              <a:spcAft>
                <a:spcPts val="1500"/>
              </a:spcAft>
              <a:buNone/>
            </a:pPr>
            <a:r>
              <a:rPr lang="en-US" sz="8000" i="0" dirty="0">
                <a:solidFill>
                  <a:srgbClr val="00B050"/>
                </a:solidFill>
                <a:effectLst/>
                <a:latin typeface="Times New Roman" panose="02020603050405020304" pitchFamily="18" charset="0"/>
                <a:cs typeface="Times New Roman" panose="02020603050405020304" pitchFamily="18" charset="0"/>
              </a:rPr>
              <a:t>US-</a:t>
            </a:r>
            <a:r>
              <a:rPr lang="en-US" sz="8000" i="0" dirty="0" err="1">
                <a:solidFill>
                  <a:srgbClr val="00B050"/>
                </a:solidFill>
                <a:effectLst/>
                <a:latin typeface="Times New Roman" panose="02020603050405020304" pitchFamily="18" charset="0"/>
                <a:cs typeface="Times New Roman" panose="02020603050405020304" pitchFamily="18" charset="0"/>
              </a:rPr>
              <a:t>PLo</a:t>
            </a:r>
            <a:r>
              <a:rPr lang="en-US" sz="8000" i="0" dirty="0">
                <a:solidFill>
                  <a:srgbClr val="00B050"/>
                </a:solidFill>
                <a:effectLst/>
                <a:latin typeface="Times New Roman" panose="02020603050405020304" pitchFamily="18" charset="0"/>
                <a:cs typeface="Times New Roman" panose="02020603050405020304" pitchFamily="18" charset="0"/>
              </a:rPr>
              <a:t>: Plum Island Oligohaline Marsh, 2022-present , wetland MA</a:t>
            </a:r>
          </a:p>
          <a:p>
            <a:pPr marL="0" indent="0">
              <a:spcAft>
                <a:spcPts val="1500"/>
              </a:spcAft>
              <a:buNone/>
            </a:pPr>
            <a:endParaRPr lang="en-US" sz="11200" b="1" dirty="0">
              <a:solidFill>
                <a:srgbClr val="00B050"/>
              </a:solidFill>
              <a:latin typeface="Times New Roman" panose="02020603050405020304" pitchFamily="18" charset="0"/>
              <a:cs typeface="Times New Roman" panose="02020603050405020304" pitchFamily="18" charset="0"/>
            </a:endParaRPr>
          </a:p>
          <a:p>
            <a:pPr marL="0" indent="0">
              <a:spcAft>
                <a:spcPts val="1500"/>
              </a:spcAft>
              <a:buNone/>
            </a:pPr>
            <a:r>
              <a:rPr lang="en-US" sz="11200" b="1" i="0" dirty="0">
                <a:solidFill>
                  <a:srgbClr val="333333"/>
                </a:solidFill>
                <a:effectLst/>
                <a:latin typeface="Times New Roman" panose="02020603050405020304" pitchFamily="18" charset="0"/>
                <a:cs typeface="Times New Roman" panose="02020603050405020304" pitchFamily="18" charset="0"/>
              </a:rPr>
              <a:t>Key words for</a:t>
            </a:r>
            <a:r>
              <a:rPr lang="en-US" sz="11200" b="1" dirty="0">
                <a:solidFill>
                  <a:srgbClr val="333333"/>
                </a:solidFill>
                <a:latin typeface="Times New Roman" panose="02020603050405020304" pitchFamily="18" charset="0"/>
                <a:cs typeface="Times New Roman" panose="02020603050405020304" pitchFamily="18" charset="0"/>
              </a:rPr>
              <a:t> </a:t>
            </a:r>
            <a:r>
              <a:rPr lang="en-US" sz="11200" b="1" i="0" dirty="0">
                <a:solidFill>
                  <a:srgbClr val="333333"/>
                </a:solidFill>
                <a:effectLst/>
                <a:latin typeface="Times New Roman" panose="02020603050405020304" pitchFamily="18" charset="0"/>
                <a:cs typeface="Times New Roman" panose="02020603050405020304" pitchFamily="18" charset="0"/>
              </a:rPr>
              <a:t>salt, salinity , estuary, coastal, </a:t>
            </a:r>
            <a:r>
              <a:rPr lang="en-US" sz="9600" b="1" i="0" dirty="0">
                <a:solidFill>
                  <a:srgbClr val="333333"/>
                </a:solidFill>
                <a:effectLst/>
                <a:latin typeface="Times New Roman" panose="02020603050405020304" pitchFamily="18" charset="0"/>
                <a:cs typeface="Times New Roman" panose="02020603050405020304" pitchFamily="18" charset="0"/>
              </a:rPr>
              <a:t>island, brackish  </a:t>
            </a:r>
            <a:endParaRPr lang="en-US" b="1" i="0" dirty="0">
              <a:solidFill>
                <a:srgbClr val="333333"/>
              </a:solidFill>
              <a:effectLst/>
              <a:latin typeface="proxima-nova-condensed"/>
            </a:endParaRPr>
          </a:p>
          <a:p>
            <a:pPr marL="0" indent="0">
              <a:spcAft>
                <a:spcPts val="1500"/>
              </a:spcAft>
              <a:buNone/>
            </a:pPr>
            <a:endParaRPr lang="en-US" b="1" i="0" dirty="0">
              <a:solidFill>
                <a:srgbClr val="333333"/>
              </a:solidFill>
              <a:effectLst/>
              <a:latin typeface="proxima-nova-condensed"/>
            </a:endParaRPr>
          </a:p>
          <a:p>
            <a:pPr marL="0" indent="0">
              <a:spcAft>
                <a:spcPts val="1500"/>
              </a:spcAft>
              <a:buNone/>
            </a:pPr>
            <a:endParaRPr lang="en-US" b="1" i="0" dirty="0">
              <a:solidFill>
                <a:srgbClr val="333333"/>
              </a:solidFill>
              <a:effectLst/>
              <a:latin typeface="proxima-nova-condensed"/>
            </a:endParaRPr>
          </a:p>
          <a:p>
            <a:pPr marL="0" indent="0" algn="l">
              <a:spcAft>
                <a:spcPts val="1500"/>
              </a:spcAft>
              <a:buNone/>
            </a:pPr>
            <a:r>
              <a:rPr lang="en-US" b="1" dirty="0">
                <a:solidFill>
                  <a:srgbClr val="333333"/>
                </a:solidFill>
                <a:latin typeface="proxima-nova-condensed"/>
              </a:rPr>
              <a:t> </a:t>
            </a:r>
            <a:endParaRPr lang="en-US" b="1" i="0" dirty="0">
              <a:solidFill>
                <a:srgbClr val="333333"/>
              </a:solidFill>
              <a:effectLst/>
              <a:latin typeface="proxima-nova-condensed"/>
            </a:endParaRPr>
          </a:p>
        </p:txBody>
      </p:sp>
    </p:spTree>
    <p:extLst>
      <p:ext uri="{BB962C8B-B14F-4D97-AF65-F5344CB8AC3E}">
        <p14:creationId xmlns:p14="http://schemas.microsoft.com/office/powerpoint/2010/main" val="4648053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C0612-FA87-D292-52F4-80BF3A3EDFF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22B5004-2CF7-544E-4AEA-9A4B01665DD5}"/>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97AD68FA-2C25-ABEA-4CED-8139FE476562}"/>
              </a:ext>
            </a:extLst>
          </p:cNvPr>
          <p:cNvPicPr>
            <a:picLocks noChangeAspect="1"/>
          </p:cNvPicPr>
          <p:nvPr/>
        </p:nvPicPr>
        <p:blipFill>
          <a:blip r:embed="rId3"/>
          <a:stretch>
            <a:fillRect/>
          </a:stretch>
        </p:blipFill>
        <p:spPr>
          <a:xfrm>
            <a:off x="348057" y="24956"/>
            <a:ext cx="5226126" cy="6467919"/>
          </a:xfrm>
          <a:prstGeom prst="rect">
            <a:avLst/>
          </a:prstGeom>
        </p:spPr>
      </p:pic>
      <p:sp>
        <p:nvSpPr>
          <p:cNvPr id="7" name="TextBox 6">
            <a:extLst>
              <a:ext uri="{FF2B5EF4-FFF2-40B4-BE49-F238E27FC236}">
                <a16:creationId xmlns:a16="http://schemas.microsoft.com/office/drawing/2014/main" id="{16AC31B6-83DB-DEC7-FA36-531AD5331667}"/>
              </a:ext>
            </a:extLst>
          </p:cNvPr>
          <p:cNvSpPr txBox="1"/>
          <p:nvPr/>
        </p:nvSpPr>
        <p:spPr>
          <a:xfrm>
            <a:off x="1242910" y="3601531"/>
            <a:ext cx="1148486" cy="253916"/>
          </a:xfrm>
          <a:prstGeom prst="rect">
            <a:avLst/>
          </a:prstGeom>
          <a:noFill/>
        </p:spPr>
        <p:txBody>
          <a:bodyPr wrap="square" rtlCol="0">
            <a:spAutoFit/>
          </a:bodyPr>
          <a:lstStyle/>
          <a:p>
            <a:r>
              <a:rPr lang="en-US" sz="1050" dirty="0">
                <a:solidFill>
                  <a:schemeClr val="accent5">
                    <a:lumMod val="60000"/>
                    <a:lumOff val="40000"/>
                  </a:schemeClr>
                </a:solidFill>
              </a:rPr>
              <a:t>US-SKR</a:t>
            </a:r>
          </a:p>
        </p:txBody>
      </p:sp>
      <p:pic>
        <p:nvPicPr>
          <p:cNvPr id="9" name="Picture 8">
            <a:extLst>
              <a:ext uri="{FF2B5EF4-FFF2-40B4-BE49-F238E27FC236}">
                <a16:creationId xmlns:a16="http://schemas.microsoft.com/office/drawing/2014/main" id="{1453B9F9-2546-EC8F-E90E-09DC890D496C}"/>
              </a:ext>
            </a:extLst>
          </p:cNvPr>
          <p:cNvPicPr>
            <a:picLocks noChangeAspect="1"/>
          </p:cNvPicPr>
          <p:nvPr/>
        </p:nvPicPr>
        <p:blipFill>
          <a:blip r:embed="rId4"/>
          <a:stretch>
            <a:fillRect/>
          </a:stretch>
        </p:blipFill>
        <p:spPr>
          <a:xfrm>
            <a:off x="5946920" y="417482"/>
            <a:ext cx="4248368" cy="5378726"/>
          </a:xfrm>
          <a:prstGeom prst="rect">
            <a:avLst/>
          </a:prstGeom>
        </p:spPr>
      </p:pic>
      <p:sp>
        <p:nvSpPr>
          <p:cNvPr id="10" name="TextBox 9">
            <a:extLst>
              <a:ext uri="{FF2B5EF4-FFF2-40B4-BE49-F238E27FC236}">
                <a16:creationId xmlns:a16="http://schemas.microsoft.com/office/drawing/2014/main" id="{E37FA78F-3A8D-AA63-8315-56E7C670648D}"/>
              </a:ext>
            </a:extLst>
          </p:cNvPr>
          <p:cNvSpPr txBox="1"/>
          <p:nvPr/>
        </p:nvSpPr>
        <p:spPr>
          <a:xfrm>
            <a:off x="1116250" y="3782571"/>
            <a:ext cx="1236268" cy="230832"/>
          </a:xfrm>
          <a:prstGeom prst="rect">
            <a:avLst/>
          </a:prstGeom>
          <a:noFill/>
        </p:spPr>
        <p:txBody>
          <a:bodyPr wrap="square" rtlCol="0">
            <a:spAutoFit/>
          </a:bodyPr>
          <a:lstStyle/>
          <a:p>
            <a:r>
              <a:rPr lang="en-US" sz="900" dirty="0">
                <a:solidFill>
                  <a:schemeClr val="accent5">
                    <a:lumMod val="60000"/>
                    <a:lumOff val="40000"/>
                  </a:schemeClr>
                </a:solidFill>
              </a:rPr>
              <a:t>normal</a:t>
            </a:r>
          </a:p>
        </p:txBody>
      </p:sp>
      <p:sp>
        <p:nvSpPr>
          <p:cNvPr id="11" name="TextBox 10">
            <a:extLst>
              <a:ext uri="{FF2B5EF4-FFF2-40B4-BE49-F238E27FC236}">
                <a16:creationId xmlns:a16="http://schemas.microsoft.com/office/drawing/2014/main" id="{C0EFF79A-A373-AB2C-6981-920DFE513F6A}"/>
              </a:ext>
            </a:extLst>
          </p:cNvPr>
          <p:cNvSpPr txBox="1"/>
          <p:nvPr/>
        </p:nvSpPr>
        <p:spPr>
          <a:xfrm>
            <a:off x="3408546" y="3655613"/>
            <a:ext cx="1148486" cy="253916"/>
          </a:xfrm>
          <a:prstGeom prst="rect">
            <a:avLst/>
          </a:prstGeom>
          <a:noFill/>
        </p:spPr>
        <p:txBody>
          <a:bodyPr wrap="square" rtlCol="0">
            <a:spAutoFit/>
          </a:bodyPr>
          <a:lstStyle/>
          <a:p>
            <a:r>
              <a:rPr lang="en-US" sz="1050" dirty="0">
                <a:solidFill>
                  <a:schemeClr val="accent5">
                    <a:lumMod val="60000"/>
                    <a:lumOff val="40000"/>
                  </a:schemeClr>
                </a:solidFill>
              </a:rPr>
              <a:t>US-EVM:</a:t>
            </a:r>
          </a:p>
        </p:txBody>
      </p:sp>
      <p:sp>
        <p:nvSpPr>
          <p:cNvPr id="12" name="TextBox 11">
            <a:extLst>
              <a:ext uri="{FF2B5EF4-FFF2-40B4-BE49-F238E27FC236}">
                <a16:creationId xmlns:a16="http://schemas.microsoft.com/office/drawing/2014/main" id="{CAB7B338-5638-6631-6057-853BB3F0E72C}"/>
              </a:ext>
            </a:extLst>
          </p:cNvPr>
          <p:cNvSpPr txBox="1"/>
          <p:nvPr/>
        </p:nvSpPr>
        <p:spPr>
          <a:xfrm>
            <a:off x="1473282" y="2049502"/>
            <a:ext cx="1148486" cy="253916"/>
          </a:xfrm>
          <a:prstGeom prst="rect">
            <a:avLst/>
          </a:prstGeom>
          <a:noFill/>
        </p:spPr>
        <p:txBody>
          <a:bodyPr wrap="square" rtlCol="0">
            <a:spAutoFit/>
          </a:bodyPr>
          <a:lstStyle/>
          <a:p>
            <a:r>
              <a:rPr lang="en-US" sz="1050" dirty="0">
                <a:solidFill>
                  <a:schemeClr val="accent5">
                    <a:lumMod val="60000"/>
                    <a:lumOff val="40000"/>
                  </a:schemeClr>
                </a:solidFill>
              </a:rPr>
              <a:t>US-TCS</a:t>
            </a:r>
          </a:p>
        </p:txBody>
      </p:sp>
      <p:sp>
        <p:nvSpPr>
          <p:cNvPr id="13" name="TextBox 12">
            <a:extLst>
              <a:ext uri="{FF2B5EF4-FFF2-40B4-BE49-F238E27FC236}">
                <a16:creationId xmlns:a16="http://schemas.microsoft.com/office/drawing/2014/main" id="{E65B3B3A-5AB3-9601-DD45-EC3E5EC486F8}"/>
              </a:ext>
            </a:extLst>
          </p:cNvPr>
          <p:cNvSpPr txBox="1"/>
          <p:nvPr/>
        </p:nvSpPr>
        <p:spPr>
          <a:xfrm>
            <a:off x="1846019" y="2212786"/>
            <a:ext cx="1148486" cy="253916"/>
          </a:xfrm>
          <a:prstGeom prst="rect">
            <a:avLst/>
          </a:prstGeom>
          <a:noFill/>
        </p:spPr>
        <p:txBody>
          <a:bodyPr wrap="square" rtlCol="0">
            <a:spAutoFit/>
          </a:bodyPr>
          <a:lstStyle/>
          <a:p>
            <a:r>
              <a:rPr lang="en-US" sz="1050" dirty="0">
                <a:solidFill>
                  <a:schemeClr val="accent5">
                    <a:lumMod val="60000"/>
                    <a:lumOff val="40000"/>
                  </a:schemeClr>
                </a:solidFill>
              </a:rPr>
              <a:t>US-DCS</a:t>
            </a:r>
          </a:p>
        </p:txBody>
      </p:sp>
      <p:sp>
        <p:nvSpPr>
          <p:cNvPr id="14" name="TextBox 13">
            <a:extLst>
              <a:ext uri="{FF2B5EF4-FFF2-40B4-BE49-F238E27FC236}">
                <a16:creationId xmlns:a16="http://schemas.microsoft.com/office/drawing/2014/main" id="{6ED69987-376C-6F85-0EDE-B02E14882CCD}"/>
              </a:ext>
            </a:extLst>
          </p:cNvPr>
          <p:cNvSpPr txBox="1"/>
          <p:nvPr/>
        </p:nvSpPr>
        <p:spPr>
          <a:xfrm>
            <a:off x="1783073" y="1332813"/>
            <a:ext cx="1148486" cy="253916"/>
          </a:xfrm>
          <a:prstGeom prst="rect">
            <a:avLst/>
          </a:prstGeom>
          <a:noFill/>
        </p:spPr>
        <p:txBody>
          <a:bodyPr wrap="square" rtlCol="0">
            <a:spAutoFit/>
          </a:bodyPr>
          <a:lstStyle/>
          <a:p>
            <a:pPr algn="l"/>
            <a:r>
              <a:rPr lang="en-US" sz="1050" i="0" dirty="0">
                <a:solidFill>
                  <a:schemeClr val="accent5">
                    <a:lumMod val="60000"/>
                    <a:lumOff val="40000"/>
                  </a:schemeClr>
                </a:solidFill>
                <a:effectLst/>
                <a:latin typeface="proxima-nova-condensed"/>
              </a:rPr>
              <a:t>US-</a:t>
            </a:r>
            <a:r>
              <a:rPr lang="en-US" sz="1050" i="0" dirty="0" err="1">
                <a:solidFill>
                  <a:schemeClr val="accent5">
                    <a:lumMod val="60000"/>
                    <a:lumOff val="40000"/>
                  </a:schemeClr>
                </a:solidFill>
                <a:effectLst/>
                <a:latin typeface="proxima-nova-condensed"/>
              </a:rPr>
              <a:t>PiU</a:t>
            </a:r>
            <a:endParaRPr lang="en-US" sz="1050" i="0" dirty="0">
              <a:solidFill>
                <a:schemeClr val="accent5">
                  <a:lumMod val="60000"/>
                  <a:lumOff val="40000"/>
                </a:schemeClr>
              </a:solidFill>
              <a:effectLst/>
              <a:latin typeface="proxima-nova-condensed"/>
            </a:endParaRPr>
          </a:p>
        </p:txBody>
      </p:sp>
    </p:spTree>
    <p:extLst>
      <p:ext uri="{BB962C8B-B14F-4D97-AF65-F5344CB8AC3E}">
        <p14:creationId xmlns:p14="http://schemas.microsoft.com/office/powerpoint/2010/main" val="35184447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16ECDB-1DE9-CDC0-83BC-A484FAA72DFE}"/>
              </a:ext>
            </a:extLst>
          </p:cNvPr>
          <p:cNvPicPr>
            <a:picLocks noChangeAspect="1"/>
          </p:cNvPicPr>
          <p:nvPr/>
        </p:nvPicPr>
        <p:blipFill>
          <a:blip r:embed="rId2"/>
          <a:stretch>
            <a:fillRect/>
          </a:stretch>
        </p:blipFill>
        <p:spPr>
          <a:xfrm>
            <a:off x="-148785" y="0"/>
            <a:ext cx="5103485" cy="6858000"/>
          </a:xfrm>
          <a:prstGeom prst="rect">
            <a:avLst/>
          </a:prstGeom>
        </p:spPr>
      </p:pic>
      <p:sp>
        <p:nvSpPr>
          <p:cNvPr id="6" name="TextBox 5">
            <a:extLst>
              <a:ext uri="{FF2B5EF4-FFF2-40B4-BE49-F238E27FC236}">
                <a16:creationId xmlns:a16="http://schemas.microsoft.com/office/drawing/2014/main" id="{32289DC5-D5DA-BC45-7957-1384D99DC117}"/>
              </a:ext>
            </a:extLst>
          </p:cNvPr>
          <p:cNvSpPr txBox="1"/>
          <p:nvPr/>
        </p:nvSpPr>
        <p:spPr>
          <a:xfrm>
            <a:off x="2937628" y="3302042"/>
            <a:ext cx="1148486" cy="253916"/>
          </a:xfrm>
          <a:prstGeom prst="rect">
            <a:avLst/>
          </a:prstGeom>
          <a:noFill/>
        </p:spPr>
        <p:txBody>
          <a:bodyPr wrap="square" rtlCol="0">
            <a:spAutoFit/>
          </a:bodyPr>
          <a:lstStyle/>
          <a:p>
            <a:r>
              <a:rPr lang="en-US" sz="1050" dirty="0">
                <a:solidFill>
                  <a:schemeClr val="accent5">
                    <a:lumMod val="60000"/>
                    <a:lumOff val="40000"/>
                  </a:schemeClr>
                </a:solidFill>
              </a:rPr>
              <a:t>US-IL1</a:t>
            </a:r>
          </a:p>
        </p:txBody>
      </p:sp>
      <p:pic>
        <p:nvPicPr>
          <p:cNvPr id="8" name="Picture 7">
            <a:extLst>
              <a:ext uri="{FF2B5EF4-FFF2-40B4-BE49-F238E27FC236}">
                <a16:creationId xmlns:a16="http://schemas.microsoft.com/office/drawing/2014/main" id="{741CEC94-FC75-D8CD-DA31-198524537037}"/>
              </a:ext>
            </a:extLst>
          </p:cNvPr>
          <p:cNvPicPr>
            <a:picLocks noChangeAspect="1"/>
          </p:cNvPicPr>
          <p:nvPr/>
        </p:nvPicPr>
        <p:blipFill>
          <a:blip r:embed="rId3"/>
          <a:stretch>
            <a:fillRect/>
          </a:stretch>
        </p:blipFill>
        <p:spPr>
          <a:xfrm>
            <a:off x="5660576" y="-126958"/>
            <a:ext cx="5166400" cy="6858000"/>
          </a:xfrm>
          <a:prstGeom prst="rect">
            <a:avLst/>
          </a:prstGeom>
        </p:spPr>
      </p:pic>
      <p:sp>
        <p:nvSpPr>
          <p:cNvPr id="9" name="TextBox 8">
            <a:extLst>
              <a:ext uri="{FF2B5EF4-FFF2-40B4-BE49-F238E27FC236}">
                <a16:creationId xmlns:a16="http://schemas.microsoft.com/office/drawing/2014/main" id="{8ED97C6D-3E34-94D1-E9AE-BEB542258022}"/>
              </a:ext>
            </a:extLst>
          </p:cNvPr>
          <p:cNvSpPr txBox="1"/>
          <p:nvPr/>
        </p:nvSpPr>
        <p:spPr>
          <a:xfrm>
            <a:off x="7825061" y="1866647"/>
            <a:ext cx="1148486" cy="253916"/>
          </a:xfrm>
          <a:prstGeom prst="rect">
            <a:avLst/>
          </a:prstGeom>
          <a:noFill/>
        </p:spPr>
        <p:txBody>
          <a:bodyPr wrap="square" rtlCol="0">
            <a:spAutoFit/>
          </a:bodyPr>
          <a:lstStyle/>
          <a:p>
            <a:r>
              <a:rPr lang="en-US" sz="1050" i="0" dirty="0">
                <a:solidFill>
                  <a:schemeClr val="accent5">
                    <a:lumMod val="60000"/>
                    <a:lumOff val="40000"/>
                  </a:schemeClr>
                </a:solidFill>
                <a:effectLst/>
                <a:latin typeface="proxima-nova-condensed"/>
              </a:rPr>
              <a:t>US-DPW</a:t>
            </a:r>
            <a:endParaRPr lang="en-US" sz="1050" dirty="0">
              <a:solidFill>
                <a:schemeClr val="accent5">
                  <a:lumMod val="60000"/>
                  <a:lumOff val="40000"/>
                </a:schemeClr>
              </a:solidFill>
            </a:endParaRPr>
          </a:p>
        </p:txBody>
      </p:sp>
      <p:sp>
        <p:nvSpPr>
          <p:cNvPr id="10" name="TextBox 9">
            <a:extLst>
              <a:ext uri="{FF2B5EF4-FFF2-40B4-BE49-F238E27FC236}">
                <a16:creationId xmlns:a16="http://schemas.microsoft.com/office/drawing/2014/main" id="{06754378-2D8A-C659-495C-52A2B700EC27}"/>
              </a:ext>
            </a:extLst>
          </p:cNvPr>
          <p:cNvSpPr txBox="1"/>
          <p:nvPr/>
        </p:nvSpPr>
        <p:spPr>
          <a:xfrm>
            <a:off x="7956196" y="1739689"/>
            <a:ext cx="1148486" cy="253916"/>
          </a:xfrm>
          <a:prstGeom prst="rect">
            <a:avLst/>
          </a:prstGeom>
          <a:noFill/>
        </p:spPr>
        <p:txBody>
          <a:bodyPr wrap="square" rtlCol="0">
            <a:spAutoFit/>
          </a:bodyPr>
          <a:lstStyle/>
          <a:p>
            <a:r>
              <a:rPr lang="en-US" sz="1050" i="0" dirty="0">
                <a:solidFill>
                  <a:schemeClr val="accent5">
                    <a:lumMod val="60000"/>
                    <a:lumOff val="40000"/>
                  </a:schemeClr>
                </a:solidFill>
                <a:effectLst/>
                <a:latin typeface="proxima-nova-condensed"/>
              </a:rPr>
              <a:t>US-DPP</a:t>
            </a:r>
            <a:endParaRPr lang="en-US" sz="1050" dirty="0">
              <a:solidFill>
                <a:schemeClr val="accent5">
                  <a:lumMod val="60000"/>
                  <a:lumOff val="40000"/>
                </a:schemeClr>
              </a:solidFill>
            </a:endParaRPr>
          </a:p>
        </p:txBody>
      </p:sp>
      <p:sp>
        <p:nvSpPr>
          <p:cNvPr id="11" name="TextBox 10">
            <a:extLst>
              <a:ext uri="{FF2B5EF4-FFF2-40B4-BE49-F238E27FC236}">
                <a16:creationId xmlns:a16="http://schemas.microsoft.com/office/drawing/2014/main" id="{9D68CD2A-6F8E-864A-B2A4-4E76FE8FBDF2}"/>
              </a:ext>
            </a:extLst>
          </p:cNvPr>
          <p:cNvSpPr txBox="1"/>
          <p:nvPr/>
        </p:nvSpPr>
        <p:spPr>
          <a:xfrm>
            <a:off x="8973547" y="2344251"/>
            <a:ext cx="1148486" cy="253916"/>
          </a:xfrm>
          <a:prstGeom prst="rect">
            <a:avLst/>
          </a:prstGeom>
          <a:noFill/>
        </p:spPr>
        <p:txBody>
          <a:bodyPr wrap="square" rtlCol="0">
            <a:spAutoFit/>
          </a:bodyPr>
          <a:lstStyle/>
          <a:p>
            <a:r>
              <a:rPr lang="en-US" sz="1050" i="0" dirty="0">
                <a:solidFill>
                  <a:schemeClr val="accent5">
                    <a:lumMod val="60000"/>
                    <a:lumOff val="40000"/>
                  </a:schemeClr>
                </a:solidFill>
                <a:effectLst/>
                <a:latin typeface="proxima-nova-condensed"/>
              </a:rPr>
              <a:t>US-BCM</a:t>
            </a:r>
            <a:endParaRPr lang="en-US" sz="1050" dirty="0">
              <a:solidFill>
                <a:schemeClr val="accent5">
                  <a:lumMod val="60000"/>
                  <a:lumOff val="40000"/>
                </a:schemeClr>
              </a:solidFill>
            </a:endParaRPr>
          </a:p>
        </p:txBody>
      </p:sp>
    </p:spTree>
    <p:extLst>
      <p:ext uri="{BB962C8B-B14F-4D97-AF65-F5344CB8AC3E}">
        <p14:creationId xmlns:p14="http://schemas.microsoft.com/office/powerpoint/2010/main" val="6754376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D423834-C36C-0C37-56A1-C9542E8ECA19}"/>
              </a:ext>
            </a:extLst>
          </p:cNvPr>
          <p:cNvPicPr>
            <a:picLocks noChangeAspect="1"/>
          </p:cNvPicPr>
          <p:nvPr/>
        </p:nvPicPr>
        <p:blipFill>
          <a:blip r:embed="rId3"/>
          <a:stretch>
            <a:fillRect/>
          </a:stretch>
        </p:blipFill>
        <p:spPr>
          <a:xfrm>
            <a:off x="334351" y="0"/>
            <a:ext cx="5384891" cy="6858000"/>
          </a:xfrm>
          <a:prstGeom prst="rect">
            <a:avLst/>
          </a:prstGeom>
        </p:spPr>
      </p:pic>
      <p:sp>
        <p:nvSpPr>
          <p:cNvPr id="6" name="TextBox 5">
            <a:extLst>
              <a:ext uri="{FF2B5EF4-FFF2-40B4-BE49-F238E27FC236}">
                <a16:creationId xmlns:a16="http://schemas.microsoft.com/office/drawing/2014/main" id="{C2D48994-A42C-53F1-6A69-6DAD53B1DECB}"/>
              </a:ext>
            </a:extLst>
          </p:cNvPr>
          <p:cNvSpPr txBox="1"/>
          <p:nvPr/>
        </p:nvSpPr>
        <p:spPr>
          <a:xfrm>
            <a:off x="4891855" y="3937946"/>
            <a:ext cx="1148486" cy="253916"/>
          </a:xfrm>
          <a:prstGeom prst="rect">
            <a:avLst/>
          </a:prstGeom>
          <a:noFill/>
        </p:spPr>
        <p:txBody>
          <a:bodyPr wrap="square" rtlCol="0">
            <a:spAutoFit/>
          </a:bodyPr>
          <a:lstStyle/>
          <a:p>
            <a:r>
              <a:rPr lang="en-US" sz="1050" i="0" dirty="0">
                <a:solidFill>
                  <a:schemeClr val="accent5">
                    <a:lumMod val="60000"/>
                    <a:lumOff val="40000"/>
                  </a:schemeClr>
                </a:solidFill>
                <a:effectLst/>
                <a:latin typeface="proxima-nova-condensed"/>
              </a:rPr>
              <a:t>US-KS4</a:t>
            </a:r>
            <a:endParaRPr lang="en-US" sz="1050" dirty="0">
              <a:solidFill>
                <a:schemeClr val="accent5">
                  <a:lumMod val="60000"/>
                  <a:lumOff val="40000"/>
                </a:schemeClr>
              </a:solidFill>
            </a:endParaRPr>
          </a:p>
        </p:txBody>
      </p:sp>
      <p:sp>
        <p:nvSpPr>
          <p:cNvPr id="8" name="TextBox 7">
            <a:extLst>
              <a:ext uri="{FF2B5EF4-FFF2-40B4-BE49-F238E27FC236}">
                <a16:creationId xmlns:a16="http://schemas.microsoft.com/office/drawing/2014/main" id="{08BF46A0-ACC1-8B97-0A5E-394CAFFAD8F9}"/>
              </a:ext>
            </a:extLst>
          </p:cNvPr>
          <p:cNvSpPr txBox="1"/>
          <p:nvPr/>
        </p:nvSpPr>
        <p:spPr>
          <a:xfrm>
            <a:off x="6040341" y="2542130"/>
            <a:ext cx="6094674" cy="815608"/>
          </a:xfrm>
          <a:prstGeom prst="rect">
            <a:avLst/>
          </a:prstGeom>
          <a:noFill/>
        </p:spPr>
        <p:txBody>
          <a:bodyPr wrap="square">
            <a:spAutoFit/>
          </a:bodyPr>
          <a:lstStyle/>
          <a:p>
            <a:r>
              <a:rPr lang="en-US" sz="1800" i="0" dirty="0">
                <a:solidFill>
                  <a:srgbClr val="333333"/>
                </a:solidFill>
                <a:effectLst/>
                <a:latin typeface="Times New Roman" panose="02020603050405020304" pitchFamily="18" charset="0"/>
                <a:cs typeface="Times New Roman" panose="02020603050405020304" pitchFamily="18" charset="0"/>
              </a:rPr>
              <a:t>US-KS4: Kennedy Space Center (Spartina marsh) wetlands, 2017-present </a:t>
            </a:r>
          </a:p>
          <a:p>
            <a:pPr marL="0" indent="0">
              <a:buNone/>
            </a:pPr>
            <a:endParaRPr lang="en-US" sz="11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55932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D19988-7B27-1D74-4639-068D095987E9}"/>
              </a:ext>
            </a:extLst>
          </p:cNvPr>
          <p:cNvPicPr>
            <a:picLocks noChangeAspect="1"/>
          </p:cNvPicPr>
          <p:nvPr/>
        </p:nvPicPr>
        <p:blipFill>
          <a:blip r:embed="rId2"/>
          <a:stretch>
            <a:fillRect/>
          </a:stretch>
        </p:blipFill>
        <p:spPr>
          <a:xfrm>
            <a:off x="78967" y="0"/>
            <a:ext cx="5370871" cy="6858000"/>
          </a:xfrm>
          <a:prstGeom prst="rect">
            <a:avLst/>
          </a:prstGeom>
        </p:spPr>
      </p:pic>
      <p:pic>
        <p:nvPicPr>
          <p:cNvPr id="7" name="Picture 6">
            <a:extLst>
              <a:ext uri="{FF2B5EF4-FFF2-40B4-BE49-F238E27FC236}">
                <a16:creationId xmlns:a16="http://schemas.microsoft.com/office/drawing/2014/main" id="{B46AD703-79D5-20B3-404C-66974F4D1838}"/>
              </a:ext>
            </a:extLst>
          </p:cNvPr>
          <p:cNvPicPr>
            <a:picLocks noChangeAspect="1"/>
          </p:cNvPicPr>
          <p:nvPr/>
        </p:nvPicPr>
        <p:blipFill>
          <a:blip r:embed="rId3"/>
          <a:stretch>
            <a:fillRect/>
          </a:stretch>
        </p:blipFill>
        <p:spPr>
          <a:xfrm>
            <a:off x="5603460" y="175817"/>
            <a:ext cx="4292821" cy="6236020"/>
          </a:xfrm>
          <a:prstGeom prst="rect">
            <a:avLst/>
          </a:prstGeom>
        </p:spPr>
      </p:pic>
      <p:sp>
        <p:nvSpPr>
          <p:cNvPr id="8" name="TextBox 7">
            <a:extLst>
              <a:ext uri="{FF2B5EF4-FFF2-40B4-BE49-F238E27FC236}">
                <a16:creationId xmlns:a16="http://schemas.microsoft.com/office/drawing/2014/main" id="{4F3268CB-8A39-B332-3940-25A99CBE369E}"/>
              </a:ext>
            </a:extLst>
          </p:cNvPr>
          <p:cNvSpPr txBox="1"/>
          <p:nvPr/>
        </p:nvSpPr>
        <p:spPr>
          <a:xfrm>
            <a:off x="2462252" y="3275111"/>
            <a:ext cx="1314618" cy="307777"/>
          </a:xfrm>
          <a:prstGeom prst="rect">
            <a:avLst/>
          </a:prstGeom>
          <a:noFill/>
        </p:spPr>
        <p:txBody>
          <a:bodyPr wrap="square" rtlCol="0">
            <a:spAutoFit/>
          </a:bodyPr>
          <a:lstStyle/>
          <a:p>
            <a:r>
              <a:rPr lang="en-US" sz="1400" b="1" dirty="0">
                <a:solidFill>
                  <a:schemeClr val="accent5">
                    <a:lumMod val="60000"/>
                    <a:lumOff val="40000"/>
                  </a:schemeClr>
                </a:solidFill>
              </a:rPr>
              <a:t>US-GCE</a:t>
            </a:r>
          </a:p>
        </p:txBody>
      </p:sp>
      <p:sp>
        <p:nvSpPr>
          <p:cNvPr id="9" name="TextBox 8">
            <a:extLst>
              <a:ext uri="{FF2B5EF4-FFF2-40B4-BE49-F238E27FC236}">
                <a16:creationId xmlns:a16="http://schemas.microsoft.com/office/drawing/2014/main" id="{1BEEB5BE-2954-0F09-61A3-77F713B2DAC2}"/>
              </a:ext>
            </a:extLst>
          </p:cNvPr>
          <p:cNvSpPr txBox="1"/>
          <p:nvPr/>
        </p:nvSpPr>
        <p:spPr>
          <a:xfrm>
            <a:off x="8563555" y="6066845"/>
            <a:ext cx="2099144" cy="369332"/>
          </a:xfrm>
          <a:prstGeom prst="rect">
            <a:avLst/>
          </a:prstGeom>
          <a:noFill/>
        </p:spPr>
        <p:txBody>
          <a:bodyPr wrap="square" rtlCol="0">
            <a:spAutoFit/>
          </a:bodyPr>
          <a:lstStyle/>
          <a:p>
            <a:r>
              <a:rPr lang="en-US" dirty="0"/>
              <a:t>No water data </a:t>
            </a:r>
          </a:p>
        </p:txBody>
      </p:sp>
    </p:spTree>
    <p:extLst>
      <p:ext uri="{BB962C8B-B14F-4D97-AF65-F5344CB8AC3E}">
        <p14:creationId xmlns:p14="http://schemas.microsoft.com/office/powerpoint/2010/main" val="16824625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199E58-CADD-B4D5-CEC1-0A07BD715DDC}"/>
              </a:ext>
            </a:extLst>
          </p:cNvPr>
          <p:cNvSpPr>
            <a:spLocks noGrp="1"/>
          </p:cNvSpPr>
          <p:nvPr>
            <p:ph idx="1"/>
          </p:nvPr>
        </p:nvSpPr>
        <p:spPr>
          <a:xfrm>
            <a:off x="6039981" y="290511"/>
            <a:ext cx="5529168" cy="699501"/>
          </a:xfrm>
        </p:spPr>
        <p:txBody>
          <a:bodyPr>
            <a:normAutofit fontScale="40000" lnSpcReduction="20000"/>
          </a:bodyPr>
          <a:lstStyle/>
          <a:p>
            <a:pPr marL="0" indent="0">
              <a:buNone/>
            </a:pPr>
            <a:r>
              <a:rPr lang="en-US" b="1" i="0" dirty="0">
                <a:solidFill>
                  <a:srgbClr val="333333"/>
                </a:solidFill>
                <a:effectLst/>
                <a:latin typeface="Arial" panose="020B0604020202020204" pitchFamily="34" charset="0"/>
                <a:cs typeface="Arial" panose="020B0604020202020204" pitchFamily="34" charset="0"/>
              </a:rPr>
              <a:t>US-</a:t>
            </a:r>
            <a:r>
              <a:rPr lang="en-US" b="1" i="0" dirty="0" err="1">
                <a:solidFill>
                  <a:srgbClr val="333333"/>
                </a:solidFill>
                <a:effectLst/>
                <a:latin typeface="Arial" panose="020B0604020202020204" pitchFamily="34" charset="0"/>
                <a:cs typeface="Arial" panose="020B0604020202020204" pitchFamily="34" charset="0"/>
              </a:rPr>
              <a:t>StS</a:t>
            </a:r>
            <a:r>
              <a:rPr lang="en-US" b="1" i="0" dirty="0">
                <a:solidFill>
                  <a:srgbClr val="333333"/>
                </a:solidFill>
                <a:effectLst/>
                <a:latin typeface="Arial" panose="020B0604020202020204" pitchFamily="34" charset="0"/>
                <a:cs typeface="Arial" panose="020B0604020202020204" pitchFamily="34" charset="0"/>
              </a:rPr>
              <a:t>: Strawberry Swamp</a:t>
            </a:r>
          </a:p>
          <a:p>
            <a:pPr marL="0" indent="0">
              <a:buNone/>
            </a:pPr>
            <a:r>
              <a:rPr lang="en-US" b="1" i="0" dirty="0">
                <a:solidFill>
                  <a:srgbClr val="333333"/>
                </a:solidFill>
                <a:effectLst/>
                <a:latin typeface="Arial" panose="020B0604020202020204" pitchFamily="34" charset="0"/>
                <a:cs typeface="Arial" panose="020B0604020202020204" pitchFamily="34" charset="0"/>
              </a:rPr>
              <a:t>US-HB2: Hobcaw Barony Longleaf Pine Restoration</a:t>
            </a:r>
          </a:p>
          <a:p>
            <a:pPr marL="0" indent="0">
              <a:buNone/>
            </a:pPr>
            <a:r>
              <a:rPr lang="en-US" b="1" i="0" dirty="0">
                <a:solidFill>
                  <a:srgbClr val="333333"/>
                </a:solidFill>
                <a:effectLst/>
                <a:latin typeface="Arial" panose="020B0604020202020204" pitchFamily="34" charset="0"/>
                <a:cs typeface="Arial" panose="020B0604020202020204" pitchFamily="34" charset="0"/>
              </a:rPr>
              <a:t>US-HB3: Hobcaw Barony Longleaf Pine Restoration</a:t>
            </a:r>
          </a:p>
          <a:p>
            <a:pPr marL="0" indent="0">
              <a:buNone/>
            </a:pPr>
            <a:endParaRPr lang="en-US" b="1" i="0" dirty="0">
              <a:solidFill>
                <a:srgbClr val="333333"/>
              </a:solidFill>
              <a:effectLst/>
              <a:latin typeface="Arial" panose="020B0604020202020204" pitchFamily="34" charset="0"/>
              <a:cs typeface="Arial" panose="020B0604020202020204" pitchFamily="34" charset="0"/>
            </a:endParaRPr>
          </a:p>
          <a:p>
            <a:endParaRPr lang="en-US" dirty="0"/>
          </a:p>
        </p:txBody>
      </p:sp>
      <p:pic>
        <p:nvPicPr>
          <p:cNvPr id="5" name="Picture 4">
            <a:extLst>
              <a:ext uri="{FF2B5EF4-FFF2-40B4-BE49-F238E27FC236}">
                <a16:creationId xmlns:a16="http://schemas.microsoft.com/office/drawing/2014/main" id="{014D2E86-9757-FF0F-081A-0D2D4E19FB26}"/>
              </a:ext>
            </a:extLst>
          </p:cNvPr>
          <p:cNvPicPr>
            <a:picLocks noChangeAspect="1"/>
          </p:cNvPicPr>
          <p:nvPr/>
        </p:nvPicPr>
        <p:blipFill>
          <a:blip r:embed="rId2"/>
          <a:stretch>
            <a:fillRect/>
          </a:stretch>
        </p:blipFill>
        <p:spPr>
          <a:xfrm>
            <a:off x="435362" y="0"/>
            <a:ext cx="5469116" cy="6858000"/>
          </a:xfrm>
          <a:prstGeom prst="rect">
            <a:avLst/>
          </a:prstGeom>
        </p:spPr>
      </p:pic>
      <p:sp>
        <p:nvSpPr>
          <p:cNvPr id="6" name="TextBox 5">
            <a:extLst>
              <a:ext uri="{FF2B5EF4-FFF2-40B4-BE49-F238E27FC236}">
                <a16:creationId xmlns:a16="http://schemas.microsoft.com/office/drawing/2014/main" id="{80691BEB-AF33-DC53-6F6E-F4513173387E}"/>
              </a:ext>
            </a:extLst>
          </p:cNvPr>
          <p:cNvSpPr txBox="1"/>
          <p:nvPr/>
        </p:nvSpPr>
        <p:spPr>
          <a:xfrm>
            <a:off x="2088540" y="3001750"/>
            <a:ext cx="1314618" cy="307777"/>
          </a:xfrm>
          <a:prstGeom prst="rect">
            <a:avLst/>
          </a:prstGeom>
          <a:noFill/>
        </p:spPr>
        <p:txBody>
          <a:bodyPr wrap="square" rtlCol="0">
            <a:spAutoFit/>
          </a:bodyPr>
          <a:lstStyle/>
          <a:p>
            <a:r>
              <a:rPr lang="en-US" sz="1400" b="1" dirty="0">
                <a:solidFill>
                  <a:schemeClr val="accent5">
                    <a:lumMod val="60000"/>
                    <a:lumOff val="40000"/>
                  </a:schemeClr>
                </a:solidFill>
              </a:rPr>
              <a:t>US-</a:t>
            </a:r>
            <a:r>
              <a:rPr lang="en-US" sz="1400" b="1" dirty="0" err="1">
                <a:solidFill>
                  <a:schemeClr val="accent5">
                    <a:lumMod val="60000"/>
                    <a:lumOff val="40000"/>
                  </a:schemeClr>
                </a:solidFill>
              </a:rPr>
              <a:t>StS</a:t>
            </a:r>
            <a:endParaRPr lang="en-US" sz="1400" b="1" dirty="0">
              <a:solidFill>
                <a:schemeClr val="accent5">
                  <a:lumMod val="60000"/>
                  <a:lumOff val="40000"/>
                </a:schemeClr>
              </a:solidFill>
            </a:endParaRPr>
          </a:p>
        </p:txBody>
      </p:sp>
      <p:sp>
        <p:nvSpPr>
          <p:cNvPr id="7" name="TextBox 6">
            <a:extLst>
              <a:ext uri="{FF2B5EF4-FFF2-40B4-BE49-F238E27FC236}">
                <a16:creationId xmlns:a16="http://schemas.microsoft.com/office/drawing/2014/main" id="{25E75CC7-5462-AD80-BB73-C4DEAEEF270A}"/>
              </a:ext>
            </a:extLst>
          </p:cNvPr>
          <p:cNvSpPr txBox="1"/>
          <p:nvPr/>
        </p:nvSpPr>
        <p:spPr>
          <a:xfrm>
            <a:off x="2544062" y="3155638"/>
            <a:ext cx="1314618" cy="307777"/>
          </a:xfrm>
          <a:prstGeom prst="rect">
            <a:avLst/>
          </a:prstGeom>
          <a:noFill/>
        </p:spPr>
        <p:txBody>
          <a:bodyPr wrap="square" rtlCol="0">
            <a:spAutoFit/>
          </a:bodyPr>
          <a:lstStyle/>
          <a:p>
            <a:r>
              <a:rPr lang="en-US" sz="1400" b="1" dirty="0">
                <a:solidFill>
                  <a:schemeClr val="accent5">
                    <a:lumMod val="60000"/>
                    <a:lumOff val="40000"/>
                  </a:schemeClr>
                </a:solidFill>
              </a:rPr>
              <a:t>US-HB2</a:t>
            </a:r>
          </a:p>
        </p:txBody>
      </p:sp>
      <p:pic>
        <p:nvPicPr>
          <p:cNvPr id="9" name="Picture 8">
            <a:extLst>
              <a:ext uri="{FF2B5EF4-FFF2-40B4-BE49-F238E27FC236}">
                <a16:creationId xmlns:a16="http://schemas.microsoft.com/office/drawing/2014/main" id="{21534D80-9AAA-3E32-070A-13D556939749}"/>
              </a:ext>
            </a:extLst>
          </p:cNvPr>
          <p:cNvPicPr>
            <a:picLocks noChangeAspect="1"/>
          </p:cNvPicPr>
          <p:nvPr/>
        </p:nvPicPr>
        <p:blipFill>
          <a:blip r:embed="rId3"/>
          <a:stretch>
            <a:fillRect/>
          </a:stretch>
        </p:blipFill>
        <p:spPr>
          <a:xfrm>
            <a:off x="6470059" y="1240403"/>
            <a:ext cx="3991209" cy="5327086"/>
          </a:xfrm>
          <a:prstGeom prst="rect">
            <a:avLst/>
          </a:prstGeom>
        </p:spPr>
      </p:pic>
      <p:sp>
        <p:nvSpPr>
          <p:cNvPr id="10" name="TextBox 9">
            <a:extLst>
              <a:ext uri="{FF2B5EF4-FFF2-40B4-BE49-F238E27FC236}">
                <a16:creationId xmlns:a16="http://schemas.microsoft.com/office/drawing/2014/main" id="{7038D4DD-F1B5-175B-F030-305473D9C56F}"/>
              </a:ext>
            </a:extLst>
          </p:cNvPr>
          <p:cNvSpPr txBox="1"/>
          <p:nvPr/>
        </p:nvSpPr>
        <p:spPr>
          <a:xfrm>
            <a:off x="2544062" y="2463141"/>
            <a:ext cx="1314618" cy="307777"/>
          </a:xfrm>
          <a:prstGeom prst="rect">
            <a:avLst/>
          </a:prstGeom>
          <a:noFill/>
        </p:spPr>
        <p:txBody>
          <a:bodyPr wrap="square" rtlCol="0">
            <a:spAutoFit/>
          </a:bodyPr>
          <a:lstStyle/>
          <a:p>
            <a:r>
              <a:rPr lang="en-US" sz="1400" b="1" dirty="0">
                <a:solidFill>
                  <a:schemeClr val="accent5">
                    <a:lumMod val="60000"/>
                    <a:lumOff val="40000"/>
                  </a:schemeClr>
                </a:solidFill>
              </a:rPr>
              <a:t>US-HB3</a:t>
            </a:r>
          </a:p>
        </p:txBody>
      </p:sp>
      <p:sp>
        <p:nvSpPr>
          <p:cNvPr id="11" name="TextBox 10">
            <a:extLst>
              <a:ext uri="{FF2B5EF4-FFF2-40B4-BE49-F238E27FC236}">
                <a16:creationId xmlns:a16="http://schemas.microsoft.com/office/drawing/2014/main" id="{C3BCFCC0-83FF-57C9-87CE-1EB1294AC727}"/>
              </a:ext>
            </a:extLst>
          </p:cNvPr>
          <p:cNvSpPr txBox="1"/>
          <p:nvPr/>
        </p:nvSpPr>
        <p:spPr>
          <a:xfrm>
            <a:off x="3403158" y="2386197"/>
            <a:ext cx="1314618" cy="307777"/>
          </a:xfrm>
          <a:prstGeom prst="rect">
            <a:avLst/>
          </a:prstGeom>
          <a:noFill/>
        </p:spPr>
        <p:txBody>
          <a:bodyPr wrap="square" rtlCol="0">
            <a:spAutoFit/>
          </a:bodyPr>
          <a:lstStyle/>
          <a:p>
            <a:r>
              <a:rPr lang="en-US" sz="1400" b="1" dirty="0">
                <a:solidFill>
                  <a:schemeClr val="accent5">
                    <a:lumMod val="60000"/>
                    <a:lumOff val="40000"/>
                  </a:schemeClr>
                </a:solidFill>
              </a:rPr>
              <a:t>US-HB1</a:t>
            </a:r>
          </a:p>
        </p:txBody>
      </p:sp>
      <p:sp>
        <p:nvSpPr>
          <p:cNvPr id="13" name="TextBox 12">
            <a:extLst>
              <a:ext uri="{FF2B5EF4-FFF2-40B4-BE49-F238E27FC236}">
                <a16:creationId xmlns:a16="http://schemas.microsoft.com/office/drawing/2014/main" id="{9DAECC2C-CF43-6A53-1A2A-26AB4FC68C18}"/>
              </a:ext>
            </a:extLst>
          </p:cNvPr>
          <p:cNvSpPr txBox="1"/>
          <p:nvPr/>
        </p:nvSpPr>
        <p:spPr>
          <a:xfrm>
            <a:off x="6039981" y="903116"/>
            <a:ext cx="6094674" cy="369332"/>
          </a:xfrm>
          <a:prstGeom prst="rect">
            <a:avLst/>
          </a:prstGeom>
          <a:noFill/>
        </p:spPr>
        <p:txBody>
          <a:bodyPr wrap="square">
            <a:spAutoFit/>
          </a:bodyPr>
          <a:lstStyle/>
          <a:p>
            <a:pPr algn="l"/>
            <a:r>
              <a:rPr lang="en-US" i="0" dirty="0">
                <a:solidFill>
                  <a:srgbClr val="333333"/>
                </a:solidFill>
                <a:effectLst/>
                <a:latin typeface="Times New Roman" panose="02020603050405020304" pitchFamily="18" charset="0"/>
                <a:cs typeface="Times New Roman" panose="02020603050405020304" pitchFamily="18" charset="0"/>
              </a:rPr>
              <a:t>US-HB1: North Inlet Crab Haul Creek</a:t>
            </a:r>
          </a:p>
        </p:txBody>
      </p:sp>
    </p:spTree>
    <p:extLst>
      <p:ext uri="{BB962C8B-B14F-4D97-AF65-F5344CB8AC3E}">
        <p14:creationId xmlns:p14="http://schemas.microsoft.com/office/powerpoint/2010/main" val="24832523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E87D0-E8E5-0B53-A326-B6432FA9341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FEC486F-9054-6A86-C5D3-215E17AF3F3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5299CDE-7459-8321-AE59-F70C89CA3F64}"/>
              </a:ext>
            </a:extLst>
          </p:cNvPr>
          <p:cNvPicPr>
            <a:picLocks noChangeAspect="1"/>
          </p:cNvPicPr>
          <p:nvPr/>
        </p:nvPicPr>
        <p:blipFill>
          <a:blip r:embed="rId2"/>
          <a:stretch>
            <a:fillRect/>
          </a:stretch>
        </p:blipFill>
        <p:spPr>
          <a:xfrm>
            <a:off x="838200" y="681037"/>
            <a:ext cx="6369377" cy="5340624"/>
          </a:xfrm>
          <a:prstGeom prst="rect">
            <a:avLst/>
          </a:prstGeom>
        </p:spPr>
      </p:pic>
      <p:sp>
        <p:nvSpPr>
          <p:cNvPr id="6" name="TextBox 5">
            <a:extLst>
              <a:ext uri="{FF2B5EF4-FFF2-40B4-BE49-F238E27FC236}">
                <a16:creationId xmlns:a16="http://schemas.microsoft.com/office/drawing/2014/main" id="{BA627ED3-8A35-FFE1-3F23-9C99709546FB}"/>
              </a:ext>
            </a:extLst>
          </p:cNvPr>
          <p:cNvSpPr txBox="1"/>
          <p:nvPr/>
        </p:nvSpPr>
        <p:spPr>
          <a:xfrm>
            <a:off x="3820633" y="2388781"/>
            <a:ext cx="559981" cy="432391"/>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30799167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674ED-123C-399D-814D-1EE871FB0F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79E36E-AB0D-41EE-32F1-F173D620DB6D}"/>
              </a:ext>
            </a:extLst>
          </p:cNvPr>
          <p:cNvSpPr>
            <a:spLocks noGrp="1"/>
          </p:cNvSpPr>
          <p:nvPr>
            <p:ph idx="1"/>
          </p:nvPr>
        </p:nvSpPr>
        <p:spPr/>
        <p:txBody>
          <a:bodyPr/>
          <a:lstStyle/>
          <a:p>
            <a:r>
              <a:rPr lang="en-US" dirty="0"/>
              <a:t>US-TCS: Tall Cypress Swamp, 2012-2020</a:t>
            </a:r>
          </a:p>
          <a:p>
            <a:r>
              <a:rPr lang="en-US" dirty="0"/>
              <a:t>US-DCS: Dwarf Cypress Swamp, 2012-2014</a:t>
            </a:r>
          </a:p>
          <a:p>
            <a:r>
              <a:rPr lang="en-US" dirty="0"/>
              <a:t>US-</a:t>
            </a:r>
            <a:r>
              <a:rPr lang="en-US" dirty="0" err="1"/>
              <a:t>PiU</a:t>
            </a:r>
            <a:r>
              <a:rPr lang="en-US" dirty="0"/>
              <a:t>: Pine Upland: 2012-2014 </a:t>
            </a:r>
          </a:p>
          <a:p>
            <a:r>
              <a:rPr lang="en-US" dirty="0"/>
              <a:t>US-IL1: 2013 present</a:t>
            </a:r>
          </a:p>
          <a:p>
            <a:r>
              <a:rPr lang="en-US" dirty="0"/>
              <a:t>US-DPW: Disney Wilderness Preserve Wetland, 2013-2017</a:t>
            </a:r>
          </a:p>
          <a:p>
            <a:r>
              <a:rPr lang="en-US" dirty="0"/>
              <a:t>US-DPP: Disney Wilderness Preserve Pine Flatwoods, 2010-2016</a:t>
            </a:r>
          </a:p>
          <a:p>
            <a:r>
              <a:rPr lang="en-US" dirty="0"/>
              <a:t>US-</a:t>
            </a:r>
            <a:r>
              <a:rPr lang="en-US" dirty="0" err="1"/>
              <a:t>xDS</a:t>
            </a:r>
            <a:r>
              <a:rPr lang="en-US" dirty="0"/>
              <a:t>: NEON Disney Wilderness Preserve (DSNY), 2017-present </a:t>
            </a:r>
          </a:p>
          <a:p>
            <a:r>
              <a:rPr lang="en-US" dirty="0"/>
              <a:t>US-BCM: Blue Cypress Marsh, 2009-2014</a:t>
            </a:r>
          </a:p>
          <a:p>
            <a:endParaRPr lang="en-US" dirty="0"/>
          </a:p>
        </p:txBody>
      </p:sp>
    </p:spTree>
    <p:extLst>
      <p:ext uri="{BB962C8B-B14F-4D97-AF65-F5344CB8AC3E}">
        <p14:creationId xmlns:p14="http://schemas.microsoft.com/office/powerpoint/2010/main" val="1396994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8119</TotalTime>
  <Words>4573</Words>
  <Application>Microsoft Office PowerPoint</Application>
  <PresentationFormat>Widescreen</PresentationFormat>
  <Paragraphs>565</Paragraphs>
  <Slides>63</Slides>
  <Notes>25</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63</vt:i4>
      </vt:variant>
    </vt:vector>
  </HeadingPairs>
  <TitlesOfParts>
    <vt:vector size="79" baseType="lpstr">
      <vt:lpstr>Aptos</vt:lpstr>
      <vt:lpstr>Aptos Display</vt:lpstr>
      <vt:lpstr>Arial</vt:lpstr>
      <vt:lpstr>frank-new</vt:lpstr>
      <vt:lpstr>Google Sans</vt:lpstr>
      <vt:lpstr>Lato</vt:lpstr>
      <vt:lpstr>Mallory</vt:lpstr>
      <vt:lpstr>Open Sans</vt:lpstr>
      <vt:lpstr>Play</vt:lpstr>
      <vt:lpstr>proxima-nova</vt:lpstr>
      <vt:lpstr>proxima-nova-condensed</vt:lpstr>
      <vt:lpstr>Roboto</vt:lpstr>
      <vt:lpstr>system-ui</vt:lpstr>
      <vt:lpstr>Times New Roman</vt:lpstr>
      <vt:lpstr>Wingdings</vt:lpstr>
      <vt:lpstr>Office Theme</vt:lpstr>
      <vt:lpstr>Water Use and carbon use efficiency</vt:lpstr>
      <vt:lpstr>Objectives</vt:lpstr>
      <vt:lpstr>Focused sites </vt:lpstr>
      <vt:lpstr>PowerPoint Presentation</vt:lpstr>
      <vt:lpstr>PowerPoint Presentation</vt:lpstr>
      <vt:lpstr>PowerPoint Presentation</vt:lpstr>
      <vt:lpstr>PowerPoint Presentation</vt:lpstr>
      <vt:lpstr>PowerPoint Presentation</vt:lpstr>
      <vt:lpstr>Monthly data how to deal gaps in only one year</vt:lpstr>
      <vt:lpstr>PowerPoint Presentation</vt:lpstr>
      <vt:lpstr>PowerPoint Presentation</vt:lpstr>
      <vt:lpstr>16 sites </vt:lpstr>
      <vt:lpstr>Next Steps</vt:lpstr>
      <vt:lpstr>PowerPoint Presentation</vt:lpstr>
      <vt:lpstr>PowerPoint Presentation</vt:lpstr>
      <vt:lpstr>automate</vt:lpstr>
      <vt:lpstr>Research talk</vt:lpstr>
      <vt:lpstr>PowerPoint Presentation</vt:lpstr>
      <vt:lpstr>PowerPoint Presentation</vt:lpstr>
      <vt:lpstr>PowerPoint Presentation</vt:lpstr>
      <vt:lpstr>Notes</vt:lpstr>
      <vt:lpstr>PowerPoint Presentation</vt:lpstr>
      <vt:lpstr>PowerPoint Presentation</vt:lpstr>
      <vt:lpstr>California Sites </vt:lpstr>
      <vt:lpstr>PowerPoint Presentation</vt:lpstr>
      <vt:lpstr>Maximum WUE: How will you calculate </vt:lpstr>
      <vt:lpstr>PowerPoint Presentation</vt:lpstr>
      <vt:lpstr>Slope or move to next reasonable value </vt:lpstr>
      <vt:lpstr>PowerPoint Presentation</vt:lpstr>
      <vt:lpstr>Background</vt:lpstr>
      <vt:lpstr>Methods </vt:lpstr>
      <vt:lpstr>PowerPoint Presentation</vt:lpstr>
      <vt:lpstr>PowerPoint Presentation</vt:lpstr>
      <vt:lpstr>PowerPoint Presentation</vt:lpstr>
      <vt:lpstr>PowerPoint Presentation</vt:lpstr>
      <vt:lpstr>PowerPoint Presentation</vt:lpstr>
      <vt:lpstr>PowerPoint Presentation</vt:lpstr>
      <vt:lpstr>First do yearly analysis</vt:lpstr>
      <vt:lpstr>Do monthly and then plot monthly salinity and monthly WUE</vt:lpstr>
      <vt:lpstr>Effect of salinity on NEE/ET </vt:lpstr>
      <vt:lpstr>Focused sites </vt:lpstr>
      <vt:lpstr>Survey question</vt:lpstr>
      <vt:lpstr>PowerPoint Presentation</vt:lpstr>
      <vt:lpstr>PowerPoint Presentation</vt:lpstr>
      <vt:lpstr>PowerPoint Presentation</vt:lpstr>
      <vt:lpstr>10 ameriflux site </vt:lpstr>
      <vt:lpstr>Data</vt:lpstr>
      <vt:lpstr>PowerPoint Presentation</vt:lpstr>
      <vt:lpstr>PowerPoint Presentation</vt:lpstr>
      <vt:lpstr>PowerPoint Presentation</vt:lpstr>
      <vt:lpstr>PowerPoint Presentation</vt:lpstr>
      <vt:lpstr>WUE: Coastal Sites</vt:lpstr>
      <vt:lpstr>Salt, salinity , coast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ammara talib</dc:creator>
  <cp:lastModifiedBy>Talib, Ammara</cp:lastModifiedBy>
  <cp:revision>555</cp:revision>
  <dcterms:created xsi:type="dcterms:W3CDTF">2024-10-07T13:43:03Z</dcterms:created>
  <dcterms:modified xsi:type="dcterms:W3CDTF">2025-02-03T16:14:31Z</dcterms:modified>
</cp:coreProperties>
</file>